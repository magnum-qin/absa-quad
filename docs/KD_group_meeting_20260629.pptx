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"/>
            <a:ext cx="12191695" cy="292608"/>
          </a:xfrm>
          <a:prstGeom prst="rect">
            <a:avLst/>
          </a:prstGeom>
          <a:solidFill>
            <a:srgbClr val="6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A1A1A"/>
                </a:solidFill>
                <a:latin typeface="Arial"/>
              </a:rPr>
              <a:t>Knowledge Distillation</a:t>
            </a:r>
          </a:p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A1A1A"/>
                </a:solidFill>
                <a:latin typeface="Arial"/>
              </a:rPr>
              <a:t>for ABSA-QUAD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6B7280"/>
                </a:solidFill>
                <a:latin typeface="Arial"/>
              </a:rPr>
              <a:t>Cloud vs Local LLM teachers · SOTA comparison · when KD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6B7280"/>
                </a:solidFill>
                <a:latin typeface="Arial"/>
              </a:rPr>
              <a:t>Name: Qin Hongzhen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6B7280"/>
                </a:solidFill>
                <a:latin typeface="Arial"/>
              </a:rPr>
              <a:t>Student ID: G24TKA12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Why this task is hard: sparse classes, tiny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20440" cy="2651760"/>
          </a:xfrm>
          <a:prstGeom prst="roundRect">
            <a:avLst/>
          </a:prstGeom>
          <a:solidFill>
            <a:srgbClr val="DC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397556"/>
            <a:ext cx="352044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2E75B6"/>
                </a:solidFill>
                <a:latin typeface="Arial"/>
              </a:rPr>
              <a:t>4,076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78708"/>
            <a:ext cx="352044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gold samples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5577"/>
            <a:ext cx="35204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fewest of all subsets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4256" y="1920240"/>
            <a:ext cx="3520440" cy="2651760"/>
          </a:xfrm>
          <a:prstGeom prst="roundRect">
            <a:avLst/>
          </a:prstGeom>
          <a:solidFill>
            <a:srgbClr val="E7D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2397556"/>
            <a:ext cx="352044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6B3FC4"/>
                </a:solidFill>
                <a:latin typeface="Arial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4256" y="3378708"/>
            <a:ext cx="352044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(entity, attribute)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4256" y="3935577"/>
            <a:ext cx="35204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~17 samples per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520440" cy="2651760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2397556"/>
            <a:ext cx="352044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1A1A1A"/>
                </a:solidFill>
                <a:latin typeface="Arial"/>
              </a:rPr>
              <a:t>0.3254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2" y="3378708"/>
            <a:ext cx="352044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best baseline (no KD)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3935577"/>
            <a:ext cx="35204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eng_laptop dev cF1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Small model cannot learn rare classes from gold alone — the bottleneck is class sparsity.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Distill the LLM into the model, drop it at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20440" cy="283464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30475"/>
            <a:ext cx="3520440" cy="1190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C0392B"/>
                </a:solidFill>
                <a:latin typeface="Arial"/>
              </a:rPr>
              <a:t>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9292"/>
            <a:ext cx="3520440" cy="623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LLM at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74566"/>
            <a:ext cx="3520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fusion / correction failed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4256" y="1920240"/>
            <a:ext cx="3520440" cy="2834640"/>
          </a:xfrm>
          <a:prstGeom prst="roundRect">
            <a:avLst/>
          </a:prstGeom>
          <a:solidFill>
            <a:srgbClr val="DC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2430475"/>
            <a:ext cx="3520440" cy="1190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2E75B6"/>
                </a:solidFill>
                <a:latin typeface="Arial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4256" y="3479292"/>
            <a:ext cx="3520440" cy="623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LLM labels silver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4256" y="4074566"/>
            <a:ext cx="3520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small model learns priors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520440" cy="2834640"/>
          </a:xfrm>
          <a:prstGeom prst="round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2430475"/>
            <a:ext cx="3520440" cy="1190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2E8B57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2" y="3479292"/>
            <a:ext cx="3520440" cy="623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No LLM at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4074566"/>
            <a:ext cx="3520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zero extra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KD = LLM silver-labels in-domain text; the 440M model trains on gold + silver. No LLM when predicting.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Top systems all keep an LLM at inference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743200" cy="2468880"/>
          </a:xfrm>
          <a:prstGeom prst="roundRect">
            <a:avLst/>
          </a:prstGeom>
          <a:solidFill>
            <a:srgbClr val="E7D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6B3FC4"/>
                </a:solidFill>
                <a:latin typeface="Arial"/>
              </a:rPr>
              <a:t>LogSigma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uncertainty-weighted
multi-task learning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828800"/>
            <a:ext cx="2743200" cy="2468880"/>
          </a:xfrm>
          <a:prstGeom prst="roundRect">
            <a:avLst/>
          </a:prstGeom>
          <a:solidFill>
            <a:srgbClr val="DC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3864" y="2148840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75B6"/>
                </a:solidFill>
                <a:latin typeface="Arial"/>
              </a:rPr>
              <a:t>nchellwig / SCSG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3864" y="297180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Gemma-27B, 10x
self-consistency vote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1828800"/>
            <a:ext cx="2743200" cy="2468880"/>
          </a:xfrm>
          <a:prstGeom prst="round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148840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8B57"/>
                </a:solidFill>
                <a:latin typeface="Arial"/>
              </a:rPr>
              <a:t>Takoyaki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97180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few-shot demonstration
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54311" y="1828800"/>
            <a:ext cx="2743200" cy="2468880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1" y="2148840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A1A1A"/>
                </a:solidFill>
                <a:latin typeface="Arial"/>
              </a:rPr>
              <a:t>NYCU Speech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1" y="297180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heterogeneous model
ensemble + voting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Our difference: distill into a 440M model — no LLM at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94960"/>
            <a:ext cx="11091672" cy="1005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B7280"/>
                </a:solidFill>
                <a:latin typeface="Arial"/>
              </a:rPr>
              <a:t>References — SemEval-2026 Task 3 (DimABSA), system description papers; scores from the official task overview (arXiv:2601.23022). LogSigma; nchellwig (SCSG); Takoyaki (CyberAgent); NYCU Speech Lab.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KD matches or beats SOTA on 5 sparse 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9167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291840"/>
                <a:gridCol w="2313432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Our KD (dev)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SOTA / prev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tat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Takoyaki 0.4736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rus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0.5753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PAI 0.5599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+1.5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ukr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PAI 0.5437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eng_laptop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0.4141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nchellwig 0.4006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+1.4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zho_rest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Arial"/>
                        </a:rPr>
                        <a:t>0.5351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Arial"/>
                        </a:rPr>
                        <a:t>prev 0.4745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E8B57"/>
                          </a:solidFill>
                          <a:latin typeface="Arial"/>
                        </a:rPr>
                        <a:t>+6.1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+1.2 to +5.9 pp over published SOTA. Note: our scores are dev set; SOTA scores are test 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KD does not help 3 strong / dense datasets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20440" cy="265176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397556"/>
            <a:ext cx="352044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C0392B"/>
                </a:solidFill>
                <a:latin typeface="Arial"/>
              </a:rPr>
              <a:t>−1.8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78708"/>
            <a:ext cx="352044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jpn_hotel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5577"/>
            <a:ext cx="35204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KD 0.4281 &lt; base 0.4466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4256" y="1920240"/>
            <a:ext cx="3520440" cy="265176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2397556"/>
            <a:ext cx="352044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C0392B"/>
                </a:solidFill>
                <a:latin typeface="Arial"/>
              </a:rPr>
              <a:t>−25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4256" y="3378708"/>
            <a:ext cx="352044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eng_restaurant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4256" y="3935577"/>
            <a:ext cx="35204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KD 0.4043 &lt; base 0.6554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520440" cy="265176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2397556"/>
            <a:ext cx="352044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C0392B"/>
                </a:solidFill>
                <a:latin typeface="Arial"/>
              </a:rPr>
              <a:t>−0.3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2" y="3378708"/>
            <a:ext cx="352044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zho_laptop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3935577"/>
            <a:ext cx="352044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KD 0.4454 &lt; base 0.4487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When the baseline is already strong, noisy silver only hurts — we keep the baseline for these 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Local Qwen ≈ cloud DeepSeek as a teacher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97480" cy="2651760"/>
          </a:xfrm>
          <a:prstGeom prst="round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397556"/>
            <a:ext cx="269748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1A1A1A"/>
                </a:solidFill>
                <a:latin typeface="Arial"/>
              </a:rPr>
              <a:t>0.3254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78708"/>
            <a:ext cx="269748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no KD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5577"/>
            <a:ext cx="2697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1920240"/>
            <a:ext cx="2697480" cy="2651760"/>
          </a:xfrm>
          <a:prstGeom prst="roundRect">
            <a:avLst/>
          </a:prstGeom>
          <a:solidFill>
            <a:srgbClr val="E7D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2397556"/>
            <a:ext cx="269748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6B3FC4"/>
                </a:solidFill>
                <a:latin typeface="Arial"/>
              </a:rPr>
              <a:t>0.3764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378708"/>
            <a:ext cx="269748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Gemma-31B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4136" y="3935577"/>
            <a:ext cx="2697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20240"/>
            <a:ext cx="2697480" cy="2651760"/>
          </a:xfrm>
          <a:prstGeom prst="roundRect">
            <a:avLst/>
          </a:prstGeom>
          <a:solidFill>
            <a:srgbClr val="DC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2397556"/>
            <a:ext cx="2697480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2E75B6"/>
                </a:solidFill>
                <a:latin typeface="Arial"/>
              </a:rPr>
              <a:t>0.4094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378708"/>
            <a:ext cx="2697480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Qwen-36B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935577"/>
            <a:ext cx="2697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5128" y="1920240"/>
            <a:ext cx="2615184" cy="2651760"/>
          </a:xfrm>
          <a:prstGeom prst="round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397556"/>
            <a:ext cx="2615184" cy="11137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2E8B57"/>
                </a:solidFill>
                <a:latin typeface="Arial"/>
              </a:rPr>
              <a:t>0.4141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3378708"/>
            <a:ext cx="2615184" cy="5833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DeepSeek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3935577"/>
            <a:ext cx="261518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cloud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Local Qwen recovers 95% of the cloud gain. Across 4 languages avg gap ≈ −2.5 pp; on Tatar Qwen even wins.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KD works only when silver adds missing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440680" cy="3108960"/>
          </a:xfrm>
          <a:prstGeom prst="round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E8B57"/>
                </a:solidFill>
                <a:latin typeface="Arial"/>
              </a:rPr>
              <a:t>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Gold weak or classes very sparse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Silver stays a minority (≈0.8x gold)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adds class priors / seed diversity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920240"/>
            <a:ext cx="5440680" cy="310896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C0392B"/>
                </a:solidFill>
                <a:latin typeface="Arial"/>
              </a:rPr>
              <a:t>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743200"/>
            <a:ext cx="49377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Strong baseline, already saturated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Strong gold drowned by 2x silver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silver adds only noise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Quality beats quantity: more-correct silver helps even when it is less dense.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Two practical lessons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440680" cy="2834640"/>
          </a:xfrm>
          <a:prstGeom prst="roundRect">
            <a:avLst/>
          </a:prstGeom>
          <a:solidFill>
            <a:srgbClr val="DC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30475"/>
            <a:ext cx="5440680" cy="1190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2E75B6"/>
                </a:solidFill>
                <a:latin typeface="Arial"/>
              </a:rPr>
              <a:t>19–29x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9292"/>
            <a:ext cx="5440680" cy="623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cheaper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74566"/>
            <a:ext cx="5440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turn off LLM thinking mode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920240"/>
            <a:ext cx="5440680" cy="2834640"/>
          </a:xfrm>
          <a:prstGeom prst="roundRect">
            <a:avLst/>
          </a:prstGeom>
          <a:solidFill>
            <a:srgbClr val="FB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2430475"/>
            <a:ext cx="5440680" cy="11905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 i="0">
                <a:solidFill>
                  <a:srgbClr val="C0392B"/>
                </a:solidFill>
                <a:latin typeface="Arial"/>
              </a:rPr>
              <a:t>0 = 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3479292"/>
            <a:ext cx="5440680" cy="6236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Arial"/>
              </a:rPr>
              <a:t>silent-failure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4074566"/>
            <a:ext cx="5440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6B7280"/>
                </a:solidFill>
                <a:latin typeface="Arial"/>
              </a:rPr>
              <a:t>abort if no valid silver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A 404 once made silver empty and training silently fell back to gold-only — now the pipeline aborts.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5B6"/>
                </a:solidFill>
                <a:latin typeface="Arial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A1A1A"/>
                </a:solidFill>
                <a:latin typeface="Arial"/>
              </a:rPr>
              <a:t>440M model + LLM distillation ≈ a 27B 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200" b="1" i="0">
                <a:solidFill>
                  <a:srgbClr val="1A1A1A"/>
                </a:solidFill>
                <a:latin typeface="Arial"/>
              </a:rPr>
              <a:t>•  KD beats SOTA on 5 sparse datasets; no LLM at inference</a:t>
            </a:r>
          </a:p>
          <a:p>
            <a:pPr algn="l">
              <a:lnSpc>
                <a:spcPct val="170000"/>
              </a:lnSpc>
            </a:pPr>
            <a:r>
              <a:rPr sz="2200" b="1" i="0">
                <a:solidFill>
                  <a:srgbClr val="1A1A1A"/>
                </a:solidFill>
                <a:latin typeface="Arial"/>
              </a:rPr>
              <a:t>•  Local open Qwen ≈ cloud DeepSeek — KD without a paid API</a:t>
            </a:r>
          </a:p>
          <a:p>
            <a:pPr algn="l">
              <a:lnSpc>
                <a:spcPct val="170000"/>
              </a:lnSpc>
            </a:pPr>
            <a:r>
              <a:rPr sz="2200" b="1" i="0">
                <a:solidFill>
                  <a:srgbClr val="1A1A1A"/>
                </a:solidFill>
                <a:latin typeface="Arial"/>
              </a:rPr>
              <a:t>•  KD helps only when silver supplies what gold lacks</a:t>
            </a:r>
          </a:p>
          <a:p>
            <a:pPr algn="l">
              <a:lnSpc>
                <a:spcPct val="170000"/>
              </a:lnSpc>
            </a:pPr>
            <a:r>
              <a:rPr sz="2200" b="1" i="0">
                <a:solidFill>
                  <a:srgbClr val="1A1A1A"/>
                </a:solidFill>
                <a:latin typeface="Arial"/>
              </a:rPr>
              <a:t>•  60x fewer parameters than brute-force LLM inference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solidFill>
            <a:srgbClr val="FFF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8872" cy="914400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596128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08600"/>
                </a:solidFill>
                <a:latin typeface="Arial"/>
              </a:rPr>
              <a:t>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07024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Arial"/>
              </a:rPr>
              <a:t>A low-cost, LLM-free-at-inference recipe for aspect sentiment on small, sparse datasets.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