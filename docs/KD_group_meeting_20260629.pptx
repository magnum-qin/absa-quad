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914400"/>
            <a:ext cx="12191695" cy="292608"/>
          </a:xfrm>
          <a:prstGeom prst="rect">
            <a:avLst/>
          </a:prstGeom>
          <a:solidFill>
            <a:srgbClr val="6B3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468880"/>
            <a:ext cx="1033272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A1A1A"/>
                </a:solidFill>
                <a:latin typeface="Arial"/>
              </a:rPr>
              <a:t>Knowledge Distillation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5400" b="1" i="0">
                <a:solidFill>
                  <a:srgbClr val="1A1A1A"/>
                </a:solidFill>
                <a:latin typeface="Arial"/>
              </a:rPr>
              <a:t>for ABSA-QUAD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48056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0" i="0">
                <a:solidFill>
                  <a:srgbClr val="6B7280"/>
                </a:solidFill>
                <a:latin typeface="Arial"/>
              </a:rPr>
              <a:t>Cloud vs local LLM teachers · SOTA comparison · when KD works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21208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6B7280"/>
                </a:solidFill>
                <a:latin typeface="Arial"/>
              </a:rPr>
              <a:t>Name: Qin Hongzhen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71500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6B7280"/>
                </a:solidFill>
                <a:latin typeface="Arial"/>
              </a:rPr>
              <a:t>Student ID: G24TKA12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2E75B6"/>
                </a:solidFill>
                <a:latin typeface="Arial"/>
              </a:rPr>
              <a:t>BACKGROUND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1A1A1A"/>
                </a:solidFill>
                <a:latin typeface="Arial"/>
              </a:rPr>
              <a:t>The bottleneck is class sparsity, not capacity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011680"/>
            <a:ext cx="10972800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810"/>
              </a:spcAft>
            </a:pPr>
            <a:r>
              <a:rPr sz="2000" b="1" i="0">
                <a:solidFill>
                  <a:srgbClr val="2E75B6"/>
                </a:solidFill>
                <a:latin typeface="Arial"/>
              </a:rPr>
              <a:t>▪  </a:t>
            </a:r>
            <a:r>
              <a:rPr sz="2000" b="1" i="0">
                <a:solidFill>
                  <a:srgbClr val="1A1A1A"/>
                </a:solidFill>
                <a:latin typeface="Arial"/>
              </a:rPr>
              <a:t>Hardest subset eng_laptop:</a:t>
            </a:r>
            <a:r>
              <a:rPr sz="2000" b="0" i="0">
                <a:solidFill>
                  <a:srgbClr val="1A1A1A"/>
                </a:solidFill>
                <a:latin typeface="Arial"/>
              </a:rPr>
              <a:t>  240 (entity#attribute) classes, only 4,076 gold samples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10"/>
              </a:spcAft>
            </a:pPr>
            <a:r>
              <a:rPr sz="1800" b="0" i="0">
                <a:solidFill>
                  <a:srgbClr val="6B7280"/>
                </a:solidFill>
                <a:latin typeface="Arial"/>
              </a:rPr>
              <a:t>        –  </a:t>
            </a:r>
            <a:r>
              <a:rPr sz="1800" b="0" i="0">
                <a:solidFill>
                  <a:srgbClr val="1A1A1A"/>
                </a:solidFill>
                <a:latin typeface="Arial"/>
              </a:rPr>
              <a:t>≈ 17 examples per class — long-tail classes barely seen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10"/>
              </a:spcAft>
            </a:pPr>
            <a:r>
              <a:rPr sz="2000" b="1" i="0">
                <a:solidFill>
                  <a:srgbClr val="2E75B6"/>
                </a:solidFill>
                <a:latin typeface="Arial"/>
              </a:rPr>
              <a:t>▪  </a:t>
            </a:r>
            <a:r>
              <a:rPr sz="2000" b="1" i="0">
                <a:solidFill>
                  <a:srgbClr val="1A1A1A"/>
                </a:solidFill>
                <a:latin typeface="Arial"/>
              </a:rPr>
              <a:t>Small model underfits rare classes</a:t>
            </a:r>
            <a:r>
              <a:rPr sz="2000" b="0" i="0">
                <a:solidFill>
                  <a:srgbClr val="1A1A1A"/>
                </a:solidFill>
                <a:latin typeface="Arial"/>
              </a:rPr>
              <a:t>  → best no-KD baseline only 0.3254 dev cF1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5440680"/>
            <a:ext cx="11091672" cy="960120"/>
          </a:xfrm>
          <a:prstGeom prst="rect">
            <a:avLst/>
          </a:prstGeom>
          <a:solidFill>
            <a:srgbClr val="FFF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5440680"/>
            <a:ext cx="118872" cy="960120"/>
          </a:xfrm>
          <a:prstGeom prst="rect">
            <a:avLst/>
          </a:prstGeom>
          <a:solidFill>
            <a:srgbClr val="F0A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5559552"/>
            <a:ext cx="10607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E08600"/>
                </a:solidFill>
                <a:latin typeface="Arial"/>
              </a:rPr>
              <a:t>Conclusion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879592"/>
            <a:ext cx="10607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1A1A1A"/>
                </a:solidFill>
                <a:latin typeface="Arial"/>
              </a:rPr>
              <a:t>Sparsity, not model capacity, is the limit — we must inject class priors.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46520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200" b="0" i="0">
                <a:solidFill>
                  <a:srgbClr val="6B7280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2E75B6"/>
                </a:solidFill>
                <a:latin typeface="Arial"/>
              </a:rPr>
              <a:t>APPROACH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1A1A1A"/>
                </a:solidFill>
                <a:latin typeface="Arial"/>
              </a:rPr>
              <a:t>Distill the LLM into the model, drop it at inference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011680"/>
            <a:ext cx="10972800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810"/>
              </a:spcAft>
            </a:pPr>
            <a:r>
              <a:rPr sz="2000" b="1" i="0">
                <a:solidFill>
                  <a:srgbClr val="2E75B6"/>
                </a:solidFill>
                <a:latin typeface="Arial"/>
              </a:rPr>
              <a:t>▪  </a:t>
            </a:r>
            <a:r>
              <a:rPr sz="2000" b="1" i="0">
                <a:solidFill>
                  <a:srgbClr val="1A1A1A"/>
                </a:solidFill>
                <a:latin typeface="Arial"/>
              </a:rPr>
              <a:t>LLM at inference failed:</a:t>
            </a:r>
            <a:r>
              <a:rPr sz="2000" b="0" i="0">
                <a:solidFill>
                  <a:srgbClr val="1A1A1A"/>
                </a:solidFill>
                <a:latin typeface="Arial"/>
              </a:rPr>
              <a:t>  fusion / post-correction both hurt (noisy, slow, costly)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10"/>
              </a:spcAft>
            </a:pPr>
            <a:r>
              <a:rPr sz="2000" b="1" i="0">
                <a:solidFill>
                  <a:srgbClr val="2E75B6"/>
                </a:solidFill>
                <a:latin typeface="Arial"/>
              </a:rPr>
              <a:t>▪  </a:t>
            </a:r>
            <a:r>
              <a:rPr sz="2000" b="1" i="0">
                <a:solidFill>
                  <a:srgbClr val="1A1A1A"/>
                </a:solidFill>
                <a:latin typeface="Arial"/>
              </a:rPr>
              <a:t>KD instead:</a:t>
            </a:r>
            <a:r>
              <a:rPr sz="2000" b="0" i="0">
                <a:solidFill>
                  <a:srgbClr val="1A1A1A"/>
                </a:solidFill>
                <a:latin typeface="Arial"/>
              </a:rPr>
              <a:t>  LLM silver-labels in-domain unlabeled text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10"/>
              </a:spcAft>
            </a:pPr>
            <a:r>
              <a:rPr sz="2000" b="1" i="0">
                <a:solidFill>
                  <a:srgbClr val="2E75B6"/>
                </a:solidFill>
                <a:latin typeface="Arial"/>
              </a:rPr>
              <a:t>▪  </a:t>
            </a:r>
            <a:r>
              <a:rPr sz="2000" b="1" i="0">
                <a:solidFill>
                  <a:srgbClr val="1A1A1A"/>
                </a:solidFill>
                <a:latin typeface="Arial"/>
              </a:rPr>
              <a:t>Small model trains on</a:t>
            </a:r>
            <a:r>
              <a:rPr sz="2000" b="0" i="0">
                <a:solidFill>
                  <a:srgbClr val="1A1A1A"/>
                </a:solidFill>
                <a:latin typeface="Arial"/>
              </a:rPr>
              <a:t>  gold + validated silver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10"/>
              </a:spcAft>
            </a:pPr>
            <a:r>
              <a:rPr sz="2000" b="1" i="0">
                <a:solidFill>
                  <a:srgbClr val="2E75B6"/>
                </a:solidFill>
                <a:latin typeface="Arial"/>
              </a:rPr>
              <a:t>▪  </a:t>
            </a:r>
            <a:r>
              <a:rPr sz="2000" b="1" i="0">
                <a:solidFill>
                  <a:srgbClr val="1A1A1A"/>
                </a:solidFill>
                <a:latin typeface="Arial"/>
              </a:rPr>
              <a:t>At inference: no LLM</a:t>
            </a:r>
            <a:r>
              <a:rPr sz="2000" b="0" i="0">
                <a:solidFill>
                  <a:srgbClr val="1A1A1A"/>
                </a:solidFill>
                <a:latin typeface="Arial"/>
              </a:rPr>
              <a:t>  → zero extra cost / latency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5440680"/>
            <a:ext cx="11091672" cy="960120"/>
          </a:xfrm>
          <a:prstGeom prst="rect">
            <a:avLst/>
          </a:prstGeom>
          <a:solidFill>
            <a:srgbClr val="FFF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5440680"/>
            <a:ext cx="118872" cy="960120"/>
          </a:xfrm>
          <a:prstGeom prst="rect">
            <a:avLst/>
          </a:prstGeom>
          <a:solidFill>
            <a:srgbClr val="F0A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5559552"/>
            <a:ext cx="10607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E08600"/>
                </a:solidFill>
                <a:latin typeface="Arial"/>
              </a:rPr>
              <a:t>Conclusion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879592"/>
            <a:ext cx="10607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1A1A1A"/>
                </a:solidFill>
                <a:latin typeface="Arial"/>
              </a:rPr>
              <a:t>Put the LLM's priors into the weights, not into the inference path.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46520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200" b="0" i="0">
                <a:solidFill>
                  <a:srgbClr val="6B7280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2E75B6"/>
                </a:solidFill>
                <a:latin typeface="Arial"/>
              </a:rPr>
              <a:t>RELATED 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1A1A1A"/>
                </a:solidFill>
                <a:latin typeface="Arial"/>
              </a:rPr>
              <a:t>Top systems all keep an LLM at inference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10972800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513"/>
              </a:spcAft>
            </a:pPr>
            <a:r>
              <a:rPr sz="1900" b="1" i="0">
                <a:solidFill>
                  <a:srgbClr val="2E75B6"/>
                </a:solidFill>
                <a:latin typeface="Arial"/>
              </a:rPr>
              <a:t>▪  </a:t>
            </a:r>
            <a:r>
              <a:rPr sz="1900" b="1" i="0">
                <a:solidFill>
                  <a:srgbClr val="1A1A1A"/>
                </a:solidFill>
                <a:latin typeface="Arial"/>
              </a:rPr>
              <a:t>LogSigma:</a:t>
            </a:r>
            <a:r>
              <a:rPr sz="1900" b="0" i="0">
                <a:solidFill>
                  <a:srgbClr val="1A1A1A"/>
                </a:solidFill>
                <a:latin typeface="Arial"/>
              </a:rPr>
              <a:t>  uncertainty-weighted multi-task learning</a:t>
            </a:r>
            <a:r>
              <a:rPr sz="1500" b="0" i="0">
                <a:solidFill>
                  <a:srgbClr val="2E75B6"/>
                </a:solidFill>
                <a:latin typeface="Arial"/>
              </a:rPr>
              <a:t>  [2]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13"/>
              </a:spcAft>
            </a:pPr>
            <a:r>
              <a:rPr sz="1900" b="1" i="0">
                <a:solidFill>
                  <a:srgbClr val="2E75B6"/>
                </a:solidFill>
                <a:latin typeface="Arial"/>
              </a:rPr>
              <a:t>▪  </a:t>
            </a:r>
            <a:r>
              <a:rPr sz="1900" b="1" i="0">
                <a:solidFill>
                  <a:srgbClr val="1A1A1A"/>
                </a:solidFill>
                <a:latin typeface="Arial"/>
              </a:rPr>
              <a:t>nchellwig (SCSG):</a:t>
            </a:r>
            <a:r>
              <a:rPr sz="1900" b="0" i="0">
                <a:solidFill>
                  <a:srgbClr val="1A1A1A"/>
                </a:solidFill>
                <a:latin typeface="Arial"/>
              </a:rPr>
              <a:t>  Gemma-27B, 10× self-consistency vote</a:t>
            </a:r>
            <a:r>
              <a:rPr sz="1500" b="0" i="0">
                <a:solidFill>
                  <a:srgbClr val="2E75B6"/>
                </a:solidFill>
                <a:latin typeface="Arial"/>
              </a:rPr>
              <a:t>  [3]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13"/>
              </a:spcAft>
            </a:pPr>
            <a:r>
              <a:rPr sz="1900" b="1" i="0">
                <a:solidFill>
                  <a:srgbClr val="2E75B6"/>
                </a:solidFill>
                <a:latin typeface="Arial"/>
              </a:rPr>
              <a:t>▪  </a:t>
            </a:r>
            <a:r>
              <a:rPr sz="1900" b="1" i="0">
                <a:solidFill>
                  <a:srgbClr val="1A1A1A"/>
                </a:solidFill>
                <a:latin typeface="Arial"/>
              </a:rPr>
              <a:t>Takoyaki:</a:t>
            </a:r>
            <a:r>
              <a:rPr sz="1900" b="0" i="0">
                <a:solidFill>
                  <a:srgbClr val="1A1A1A"/>
                </a:solidFill>
                <a:latin typeface="Arial"/>
              </a:rPr>
              <a:t>  few-shot demonstration retrieval</a:t>
            </a:r>
            <a:r>
              <a:rPr sz="1500" b="0" i="0">
                <a:solidFill>
                  <a:srgbClr val="2E75B6"/>
                </a:solidFill>
                <a:latin typeface="Arial"/>
              </a:rPr>
              <a:t>  [4]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13"/>
              </a:spcAft>
            </a:pPr>
            <a:r>
              <a:rPr sz="1900" b="1" i="0">
                <a:solidFill>
                  <a:srgbClr val="2E75B6"/>
                </a:solidFill>
                <a:latin typeface="Arial"/>
              </a:rPr>
              <a:t>▪  </a:t>
            </a:r>
            <a:r>
              <a:rPr sz="1900" b="1" i="0">
                <a:solidFill>
                  <a:srgbClr val="1A1A1A"/>
                </a:solidFill>
                <a:latin typeface="Arial"/>
              </a:rPr>
              <a:t>NYCU Speech Lab:</a:t>
            </a:r>
            <a:r>
              <a:rPr sz="1900" b="0" i="0">
                <a:solidFill>
                  <a:srgbClr val="1A1A1A"/>
                </a:solidFill>
                <a:latin typeface="Arial"/>
              </a:rPr>
              <a:t>  heterogeneous model ensemble + voting</a:t>
            </a:r>
            <a:r>
              <a:rPr sz="1500" b="0" i="0">
                <a:solidFill>
                  <a:srgbClr val="2E75B6"/>
                </a:solidFill>
                <a:latin typeface="Arial"/>
              </a:rPr>
              <a:t>  [5]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13"/>
              </a:spcAft>
            </a:pPr>
            <a:r>
              <a:rPr sz="1900" b="1" i="0">
                <a:solidFill>
                  <a:srgbClr val="2E75B6"/>
                </a:solidFill>
                <a:latin typeface="Arial"/>
              </a:rPr>
              <a:t>▪  </a:t>
            </a:r>
            <a:r>
              <a:rPr sz="1900" b="1" i="0">
                <a:solidFill>
                  <a:srgbClr val="1A1A1A"/>
                </a:solidFill>
                <a:latin typeface="Arial"/>
              </a:rPr>
              <a:t>Ours:</a:t>
            </a:r>
            <a:r>
              <a:rPr sz="1900" b="0" i="0">
                <a:solidFill>
                  <a:srgbClr val="1A1A1A"/>
                </a:solidFill>
                <a:latin typeface="Arial"/>
              </a:rPr>
              <a:t>  distill into a 440M model — no LLM at inference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074920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6B7280"/>
                </a:solidFill>
                <a:latin typeface="Arial"/>
              </a:rPr>
              <a:t>References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349240"/>
            <a:ext cx="1152144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6B7280"/>
                </a:solidFill>
                <a:latin typeface="Arial"/>
              </a:rPr>
              <a:t>[1] DimABSA-2026 Task Organizers. 2026. SemEval-2026 Task 3: Dimensional Aspect-Based Sentiment Analysis — Overview. arXiv:2601.23022.</a:t>
            </a:r>
          </a:p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050" b="0" i="0">
                <a:solidFill>
                  <a:srgbClr val="6B7280"/>
                </a:solidFill>
                <a:latin typeface="Arial"/>
              </a:rPr>
              <a:t>[2] LogSigma. 2026. LogSigma at SemEval-2026 Task 3 (DimABSA). In Proc. SemEval-2026.</a:t>
            </a:r>
          </a:p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050" b="0" i="0">
                <a:solidFill>
                  <a:srgbClr val="6B7280"/>
                </a:solidFill>
                <a:latin typeface="Arial"/>
              </a:rPr>
              <a:t>[3] nchellwig. 2026. SCSG: Self-Consistent Structured Generation at SemEval-2026 Task 3. In Proc. SemEval-2026.</a:t>
            </a:r>
          </a:p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050" b="0" i="0">
                <a:solidFill>
                  <a:srgbClr val="6B7280"/>
                </a:solidFill>
                <a:latin typeface="Arial"/>
              </a:rPr>
              <a:t>[4] Takoyaki (CyberAgent). 2026. Takoyaki at SemEval-2026 Task 3. In Proc. SemEval-2026.</a:t>
            </a:r>
          </a:p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050" b="0" i="0">
                <a:solidFill>
                  <a:srgbClr val="6B7280"/>
                </a:solidFill>
                <a:latin typeface="Arial"/>
              </a:rPr>
              <a:t>[5] NYCU Speech Lab. 2026. NYCU Speech Lab at SemEval-2026 Task 3. In Proc. SemEval-2026.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46520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200" b="0" i="0">
                <a:solidFill>
                  <a:srgbClr val="6B7280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2E75B6"/>
                </a:solidFill>
                <a:latin typeface="Arial"/>
              </a:rPr>
              <a:t>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1A1A1A"/>
                </a:solidFill>
                <a:latin typeface="Arial"/>
              </a:rPr>
              <a:t>KD matches or beats SOTA on 5 sparse datasets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828800"/>
          <a:ext cx="11091672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3291840"/>
                <a:gridCol w="2313432"/>
              </a:tblGrid>
              <a:tr h="518160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</a:rPr>
                        <a:t>Dataset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</a:rPr>
                        <a:t>Our KD (dev)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</a:rPr>
                        <a:t>SOTA / prev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</a:rPr>
                        <a:t>Δ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Arial"/>
                        </a:rPr>
                        <a:t>tat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Arial"/>
                        </a:rPr>
                        <a:t>0.5327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Arial"/>
                        </a:rPr>
                        <a:t>Takoyaki 0.4736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2E8B57"/>
                          </a:solidFill>
                          <a:latin typeface="Arial"/>
                        </a:rPr>
                        <a:t>+5.9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Arial"/>
                        </a:rPr>
                        <a:t>rus</a:t>
                      </a:r>
                    </a:p>
                  </a:txBody>
                  <a:tcPr>
                    <a:solidFill>
                      <a:srgbClr val="F1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Arial"/>
                        </a:rPr>
                        <a:t>0.5753</a:t>
                      </a:r>
                    </a:p>
                  </a:txBody>
                  <a:tcPr>
                    <a:solidFill>
                      <a:srgbClr val="F1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Arial"/>
                        </a:rPr>
                        <a:t>PAI 0.5599</a:t>
                      </a:r>
                    </a:p>
                  </a:txBody>
                  <a:tcPr>
                    <a:solidFill>
                      <a:srgbClr val="F1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2E8B57"/>
                          </a:solidFill>
                          <a:latin typeface="Arial"/>
                        </a:rPr>
                        <a:t>+1.5</a:t>
                      </a:r>
                    </a:p>
                  </a:txBody>
                  <a:tcPr>
                    <a:solidFill>
                      <a:srgbClr val="F1F5FA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Arial"/>
                        </a:rPr>
                        <a:t>ukr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Arial"/>
                        </a:rPr>
                        <a:t>0.5560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Arial"/>
                        </a:rPr>
                        <a:t>PAI 0.5437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2E8B57"/>
                          </a:solidFill>
                          <a:latin typeface="Arial"/>
                        </a:rPr>
                        <a:t>+1.2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Arial"/>
                        </a:rPr>
                        <a:t>eng_laptop</a:t>
                      </a:r>
                    </a:p>
                  </a:txBody>
                  <a:tcPr>
                    <a:solidFill>
                      <a:srgbClr val="F1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Arial"/>
                        </a:rPr>
                        <a:t>0.4141</a:t>
                      </a:r>
                    </a:p>
                  </a:txBody>
                  <a:tcPr>
                    <a:solidFill>
                      <a:srgbClr val="F1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Arial"/>
                        </a:rPr>
                        <a:t>nchellwig 0.4006</a:t>
                      </a:r>
                    </a:p>
                  </a:txBody>
                  <a:tcPr>
                    <a:solidFill>
                      <a:srgbClr val="F1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2E8B57"/>
                          </a:solidFill>
                          <a:latin typeface="Arial"/>
                        </a:rPr>
                        <a:t>+1.4</a:t>
                      </a:r>
                    </a:p>
                  </a:txBody>
                  <a:tcPr>
                    <a:solidFill>
                      <a:srgbClr val="F1F5FA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Arial"/>
                        </a:rPr>
                        <a:t>zho_rest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Arial"/>
                        </a:rPr>
                        <a:t>0.5351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Arial"/>
                        </a:rPr>
                        <a:t>prev 0.4745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2E8B57"/>
                          </a:solidFill>
                          <a:latin typeface="Arial"/>
                        </a:rPr>
                        <a:t>+6.1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548640" y="5440680"/>
            <a:ext cx="11091672" cy="960120"/>
          </a:xfrm>
          <a:prstGeom prst="rect">
            <a:avLst/>
          </a:prstGeom>
          <a:solidFill>
            <a:srgbClr val="FFF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5440680"/>
            <a:ext cx="118872" cy="960120"/>
          </a:xfrm>
          <a:prstGeom prst="rect">
            <a:avLst/>
          </a:prstGeom>
          <a:solidFill>
            <a:srgbClr val="F0A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5559552"/>
            <a:ext cx="10607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E08600"/>
                </a:solidFill>
                <a:latin typeface="Arial"/>
              </a:rPr>
              <a:t>Conclusion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879592"/>
            <a:ext cx="10607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1A1A1A"/>
                </a:solidFill>
                <a:latin typeface="Arial"/>
              </a:rPr>
              <a:t>+1.2 to +5.9 pp over published SOTA.   (Our scores: dev set; SOTA: test set.)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46520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200" b="0" i="0">
                <a:solidFill>
                  <a:srgbClr val="6B7280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2E75B6"/>
                </a:solidFill>
                <a:latin typeface="Arial"/>
              </a:rPr>
              <a:t>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1A1A1A"/>
                </a:solidFill>
                <a:latin typeface="Arial"/>
              </a:rPr>
              <a:t>KD hurts 3 already-strong datasets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011680"/>
            <a:ext cx="10972800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810"/>
              </a:spcAft>
            </a:pPr>
            <a:r>
              <a:rPr sz="2000" b="1" i="0">
                <a:solidFill>
                  <a:srgbClr val="2E75B6"/>
                </a:solidFill>
                <a:latin typeface="Arial"/>
              </a:rPr>
              <a:t>▪  </a:t>
            </a:r>
            <a:r>
              <a:rPr sz="2000" b="1" i="0">
                <a:solidFill>
                  <a:srgbClr val="1A1A1A"/>
                </a:solidFill>
                <a:latin typeface="Arial"/>
              </a:rPr>
              <a:t>jpn_hotel:</a:t>
            </a:r>
            <a:r>
              <a:rPr sz="2000" b="0" i="0">
                <a:solidFill>
                  <a:srgbClr val="1A1A1A"/>
                </a:solidFill>
                <a:latin typeface="Arial"/>
              </a:rPr>
              <a:t>  KD 0.4281  &lt;  baseline 0.4466   (strong native encoder)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10"/>
              </a:spcAft>
            </a:pPr>
            <a:r>
              <a:rPr sz="2000" b="1" i="0">
                <a:solidFill>
                  <a:srgbClr val="2E75B6"/>
                </a:solidFill>
                <a:latin typeface="Arial"/>
              </a:rPr>
              <a:t>▪  </a:t>
            </a:r>
            <a:r>
              <a:rPr sz="2000" b="1" i="0">
                <a:solidFill>
                  <a:srgbClr val="1A1A1A"/>
                </a:solidFill>
                <a:latin typeface="Arial"/>
              </a:rPr>
              <a:t>eng_restaurant:</a:t>
            </a:r>
            <a:r>
              <a:rPr sz="2000" b="0" i="0">
                <a:solidFill>
                  <a:srgbClr val="1A1A1A"/>
                </a:solidFill>
                <a:latin typeface="Arial"/>
              </a:rPr>
              <a:t>  KD 0.4043  &lt;  baseline 0.6554   (gold drowned by 2× silver)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10"/>
              </a:spcAft>
            </a:pPr>
            <a:r>
              <a:rPr sz="2000" b="1" i="0">
                <a:solidFill>
                  <a:srgbClr val="2E75B6"/>
                </a:solidFill>
                <a:latin typeface="Arial"/>
              </a:rPr>
              <a:t>▪  </a:t>
            </a:r>
            <a:r>
              <a:rPr sz="2000" b="1" i="0">
                <a:solidFill>
                  <a:srgbClr val="1A1A1A"/>
                </a:solidFill>
                <a:latin typeface="Arial"/>
              </a:rPr>
              <a:t>zho_laptop:</a:t>
            </a:r>
            <a:r>
              <a:rPr sz="2000" b="0" i="0">
                <a:solidFill>
                  <a:srgbClr val="1A1A1A"/>
                </a:solidFill>
                <a:latin typeface="Arial"/>
              </a:rPr>
              <a:t>  KD 0.4454  &lt;  baseline 0.4487   (base already augmented)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5440680"/>
            <a:ext cx="11091672" cy="960120"/>
          </a:xfrm>
          <a:prstGeom prst="rect">
            <a:avLst/>
          </a:prstGeom>
          <a:solidFill>
            <a:srgbClr val="FFF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5440680"/>
            <a:ext cx="118872" cy="960120"/>
          </a:xfrm>
          <a:prstGeom prst="rect">
            <a:avLst/>
          </a:prstGeom>
          <a:solidFill>
            <a:srgbClr val="F0A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5559552"/>
            <a:ext cx="10607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E08600"/>
                </a:solidFill>
                <a:latin typeface="Arial"/>
              </a:rPr>
              <a:t>Conclusion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879592"/>
            <a:ext cx="10607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1A1A1A"/>
                </a:solidFill>
                <a:latin typeface="Arial"/>
              </a:rPr>
              <a:t>When the baseline is already strong, noisy silver only hurts — we keep the baseline.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46520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200" b="0" i="0">
                <a:solidFill>
                  <a:srgbClr val="6B7280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2E75B6"/>
                </a:solidFill>
                <a:latin typeface="Arial"/>
              </a:rPr>
              <a:t>ABLATION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1A1A1A"/>
                </a:solidFill>
                <a:latin typeface="Arial"/>
              </a:rPr>
              <a:t>Local Qwen ≈ cloud DeepSeek as a teacher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011680"/>
            <a:ext cx="10972800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810"/>
              </a:spcAft>
            </a:pPr>
            <a:r>
              <a:rPr sz="2000" b="1" i="0">
                <a:solidFill>
                  <a:srgbClr val="2E75B6"/>
                </a:solidFill>
                <a:latin typeface="Arial"/>
              </a:rPr>
              <a:t>▪  </a:t>
            </a:r>
            <a:r>
              <a:rPr sz="2000" b="1" i="0">
                <a:solidFill>
                  <a:srgbClr val="1A1A1A"/>
                </a:solidFill>
                <a:latin typeface="Arial"/>
              </a:rPr>
              <a:t>eng_laptop, only the teacher changes: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10"/>
              </a:spcAft>
            </a:pPr>
            <a:r>
              <a:rPr sz="1800" b="0" i="0">
                <a:solidFill>
                  <a:srgbClr val="6B7280"/>
                </a:solidFill>
                <a:latin typeface="Arial"/>
              </a:rPr>
              <a:t>        –  </a:t>
            </a:r>
            <a:r>
              <a:rPr sz="1800" b="0" i="0">
                <a:solidFill>
                  <a:srgbClr val="1A1A1A"/>
                </a:solidFill>
                <a:latin typeface="Arial"/>
              </a:rPr>
              <a:t>no-KD 0.3254  →  Gemma-31B 0.3764  →  Qwen-36B 0.4094  →  DeepSeek 0.4141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10"/>
              </a:spcAft>
            </a:pPr>
            <a:r>
              <a:rPr sz="2000" b="1" i="0">
                <a:solidFill>
                  <a:srgbClr val="2E75B6"/>
                </a:solidFill>
                <a:latin typeface="Arial"/>
              </a:rPr>
              <a:t>▪  </a:t>
            </a:r>
            <a:r>
              <a:rPr sz="2000" b="1" i="0">
                <a:solidFill>
                  <a:srgbClr val="1A1A1A"/>
                </a:solidFill>
                <a:latin typeface="Arial"/>
              </a:rPr>
              <a:t>Local Qwen recovers 95%</a:t>
            </a:r>
            <a:r>
              <a:rPr sz="2000" b="0" i="0">
                <a:solidFill>
                  <a:srgbClr val="1A1A1A"/>
                </a:solidFill>
                <a:latin typeface="Arial"/>
              </a:rPr>
              <a:t>  of the cloud teacher's gain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10"/>
              </a:spcAft>
            </a:pPr>
            <a:r>
              <a:rPr sz="2000" b="1" i="0">
                <a:solidFill>
                  <a:srgbClr val="2E75B6"/>
                </a:solidFill>
                <a:latin typeface="Arial"/>
              </a:rPr>
              <a:t>▪  </a:t>
            </a:r>
            <a:r>
              <a:rPr sz="2000" b="1" i="0">
                <a:solidFill>
                  <a:srgbClr val="1A1A1A"/>
                </a:solidFill>
                <a:latin typeface="Arial"/>
              </a:rPr>
              <a:t>4 languages:</a:t>
            </a:r>
            <a:r>
              <a:rPr sz="2000" b="0" i="0">
                <a:solidFill>
                  <a:srgbClr val="1A1A1A"/>
                </a:solidFill>
                <a:latin typeface="Arial"/>
              </a:rPr>
              <a:t>  average gap ≈ −2.5 pp; on Tatar, Qwen beats DeepSeek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5440680"/>
            <a:ext cx="11091672" cy="960120"/>
          </a:xfrm>
          <a:prstGeom prst="rect">
            <a:avLst/>
          </a:prstGeom>
          <a:solidFill>
            <a:srgbClr val="FFF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5440680"/>
            <a:ext cx="118872" cy="960120"/>
          </a:xfrm>
          <a:prstGeom prst="rect">
            <a:avLst/>
          </a:prstGeom>
          <a:solidFill>
            <a:srgbClr val="F0A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5559552"/>
            <a:ext cx="10607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E08600"/>
                </a:solidFill>
                <a:latin typeface="Arial"/>
              </a:rPr>
              <a:t>Conclusion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879592"/>
            <a:ext cx="10607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1A1A1A"/>
                </a:solidFill>
                <a:latin typeface="Arial"/>
              </a:rPr>
              <a:t>A strong local open model replaces the paid cloud API — no systematic loss.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46520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200" b="0" i="0">
                <a:solidFill>
                  <a:srgbClr val="6B7280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2E75B6"/>
                </a:solidFill>
                <a:latin typeface="Arial"/>
              </a:rPr>
              <a:t>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1A1A1A"/>
                </a:solidFill>
                <a:latin typeface="Arial"/>
              </a:rPr>
              <a:t>KD works only when silver adds missing information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874519"/>
            <a:ext cx="5440680" cy="3200400"/>
          </a:xfrm>
          <a:prstGeom prst="roundRect">
            <a:avLst/>
          </a:prstGeom>
          <a:solidFill>
            <a:srgbClr val="DDF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2103120"/>
            <a:ext cx="4937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 i="0">
                <a:solidFill>
                  <a:srgbClr val="2E8B57"/>
                </a:solidFill>
                <a:latin typeface="Arial"/>
              </a:rPr>
              <a:t>HELPS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743200"/>
            <a:ext cx="489204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700" b="1" i="0">
                <a:solidFill>
                  <a:srgbClr val="2E8B57"/>
                </a:solidFill>
                <a:latin typeface="Arial"/>
              </a:rPr>
              <a:t>▪  </a:t>
            </a:r>
            <a:r>
              <a:rPr sz="1700" b="0" i="0">
                <a:solidFill>
                  <a:srgbClr val="1A1A1A"/>
                </a:solidFill>
                <a:latin typeface="Arial"/>
              </a:rPr>
              <a:t>gold weak / classes very sparse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700" b="1" i="0">
                <a:solidFill>
                  <a:srgbClr val="2E8B57"/>
                </a:solidFill>
                <a:latin typeface="Arial"/>
              </a:rPr>
              <a:t>▪  </a:t>
            </a:r>
            <a:r>
              <a:rPr sz="1700" b="0" i="0">
                <a:solidFill>
                  <a:srgbClr val="1A1A1A"/>
                </a:solidFill>
                <a:latin typeface="Arial"/>
              </a:rPr>
              <a:t>silver stays a minority (≈0.8× gold)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700" b="1" i="0">
                <a:solidFill>
                  <a:srgbClr val="2E8B57"/>
                </a:solidFill>
                <a:latin typeface="Arial"/>
              </a:rPr>
              <a:t>▪  </a:t>
            </a:r>
            <a:r>
              <a:rPr sz="1700" b="0" i="0">
                <a:solidFill>
                  <a:srgbClr val="1A1A1A"/>
                </a:solidFill>
                <a:latin typeface="Arial"/>
              </a:rPr>
              <a:t>adds class priors &amp; seed diversity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99632" y="1874519"/>
            <a:ext cx="5440680" cy="3200400"/>
          </a:xfrm>
          <a:prstGeom prst="roundRect">
            <a:avLst/>
          </a:prstGeom>
          <a:solidFill>
            <a:srgbClr val="FB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19672" y="2103120"/>
            <a:ext cx="4937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 i="0">
                <a:solidFill>
                  <a:srgbClr val="C0392B"/>
                </a:solidFill>
                <a:latin typeface="Arial"/>
              </a:rPr>
              <a:t>FAILS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19672" y="2743200"/>
            <a:ext cx="489204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700" b="1" i="0">
                <a:solidFill>
                  <a:srgbClr val="C0392B"/>
                </a:solidFill>
                <a:latin typeface="Arial"/>
              </a:rPr>
              <a:t>▪  </a:t>
            </a:r>
            <a:r>
              <a:rPr sz="1700" b="0" i="0">
                <a:solidFill>
                  <a:srgbClr val="1A1A1A"/>
                </a:solidFill>
                <a:latin typeface="Arial"/>
              </a:rPr>
              <a:t>baseline already strong / saturated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700" b="1" i="0">
                <a:solidFill>
                  <a:srgbClr val="C0392B"/>
                </a:solidFill>
                <a:latin typeface="Arial"/>
              </a:rPr>
              <a:t>▪  </a:t>
            </a:r>
            <a:r>
              <a:rPr sz="1700" b="0" i="0">
                <a:solidFill>
                  <a:srgbClr val="1A1A1A"/>
                </a:solidFill>
                <a:latin typeface="Arial"/>
              </a:rPr>
              <a:t>strong gold drowned by 2× silver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700" b="1" i="0">
                <a:solidFill>
                  <a:srgbClr val="C0392B"/>
                </a:solidFill>
                <a:latin typeface="Arial"/>
              </a:rPr>
              <a:t>▪  </a:t>
            </a:r>
            <a:r>
              <a:rPr sz="1700" b="0" i="0">
                <a:solidFill>
                  <a:srgbClr val="1A1A1A"/>
                </a:solidFill>
                <a:latin typeface="Arial"/>
              </a:rPr>
              <a:t>silver adds only noise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5257800"/>
            <a:ext cx="11091672" cy="960120"/>
          </a:xfrm>
          <a:prstGeom prst="rect">
            <a:avLst/>
          </a:prstGeom>
          <a:solidFill>
            <a:srgbClr val="FFF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5257800"/>
            <a:ext cx="118872" cy="960120"/>
          </a:xfrm>
          <a:prstGeom prst="rect">
            <a:avLst/>
          </a:prstGeom>
          <a:solidFill>
            <a:srgbClr val="F0A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376672"/>
            <a:ext cx="10607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E08600"/>
                </a:solidFill>
                <a:latin typeface="Arial"/>
              </a:rPr>
              <a:t>Conclusion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5696712"/>
            <a:ext cx="10607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1A1A1A"/>
                </a:solidFill>
                <a:latin typeface="Arial"/>
              </a:rPr>
              <a:t>Quality beats quantity: more-correct silver helps even when it is less dense.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338560" y="6446520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200" b="0" i="0">
                <a:solidFill>
                  <a:srgbClr val="6B7280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2E75B6"/>
                </a:solidFill>
                <a:latin typeface="Arial"/>
              </a:rPr>
              <a:t>LESSONS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1A1A1A"/>
                </a:solidFill>
                <a:latin typeface="Arial"/>
              </a:rPr>
              <a:t>Two engineering lessons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011680"/>
            <a:ext cx="10972800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810"/>
              </a:spcAft>
            </a:pPr>
            <a:r>
              <a:rPr sz="2000" b="1" i="0">
                <a:solidFill>
                  <a:srgbClr val="2E75B6"/>
                </a:solidFill>
                <a:latin typeface="Arial"/>
              </a:rPr>
              <a:t>▪  </a:t>
            </a:r>
            <a:r>
              <a:rPr sz="2000" b="1" i="0">
                <a:solidFill>
                  <a:srgbClr val="1A1A1A"/>
                </a:solidFill>
                <a:latin typeface="Arial"/>
              </a:rPr>
              <a:t>Turn off LLM thinking mode:</a:t>
            </a:r>
            <a:r>
              <a:rPr sz="2000" b="0" i="0">
                <a:solidFill>
                  <a:srgbClr val="1A1A1A"/>
                </a:solidFill>
                <a:latin typeface="Arial"/>
              </a:rPr>
              <a:t>  19–29× fewer output tokens, same quality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10"/>
              </a:spcAft>
            </a:pPr>
            <a:r>
              <a:rPr sz="2000" b="1" i="0">
                <a:solidFill>
                  <a:srgbClr val="2E75B6"/>
                </a:solidFill>
                <a:latin typeface="Arial"/>
              </a:rPr>
              <a:t>▪  </a:t>
            </a:r>
            <a:r>
              <a:rPr sz="2000" b="1" i="0">
                <a:solidFill>
                  <a:srgbClr val="1A1A1A"/>
                </a:solidFill>
                <a:latin typeface="Arial"/>
              </a:rPr>
              <a:t>Silent-failure trap:</a:t>
            </a:r>
            <a:r>
              <a:rPr sz="2000" b="0" i="0">
                <a:solidFill>
                  <a:srgbClr val="1A1A1A"/>
                </a:solidFill>
                <a:latin typeface="Arial"/>
              </a:rPr>
              <a:t>  a 404 made silver empty; training fell back to gold-only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10"/>
              </a:spcAft>
            </a:pPr>
            <a:r>
              <a:rPr sz="1800" b="0" i="0">
                <a:solidFill>
                  <a:srgbClr val="6B7280"/>
                </a:solidFill>
                <a:latin typeface="Arial"/>
              </a:rPr>
              <a:t>        –  </a:t>
            </a:r>
            <a:r>
              <a:rPr sz="1800" b="0" i="0">
                <a:solidFill>
                  <a:srgbClr val="1A1A1A"/>
                </a:solidFill>
                <a:latin typeface="Arial"/>
              </a:rPr>
              <a:t>fix: pipeline aborts if valid silver quads = 0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5440680"/>
            <a:ext cx="11091672" cy="960120"/>
          </a:xfrm>
          <a:prstGeom prst="rect">
            <a:avLst/>
          </a:prstGeom>
          <a:solidFill>
            <a:srgbClr val="FFF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5440680"/>
            <a:ext cx="118872" cy="960120"/>
          </a:xfrm>
          <a:prstGeom prst="rect">
            <a:avLst/>
          </a:prstGeom>
          <a:solidFill>
            <a:srgbClr val="F0A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5559552"/>
            <a:ext cx="10607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E08600"/>
                </a:solidFill>
                <a:latin typeface="Arial"/>
              </a:rPr>
              <a:t>Conclusion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879592"/>
            <a:ext cx="10607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1A1A1A"/>
                </a:solidFill>
                <a:latin typeface="Arial"/>
              </a:rPr>
              <a:t>Cheaper labeling + a fail-loud pipeline that never degrades silently.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46520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200" b="0" i="0">
                <a:solidFill>
                  <a:srgbClr val="6B7280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2E75B6"/>
                </a:solidFill>
                <a:latin typeface="Arial"/>
              </a:rPr>
              <a:t>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1A1A1A"/>
                </a:solidFill>
                <a:latin typeface="Arial"/>
              </a:rPr>
              <a:t>440M model + LLM distillation ≈ a 27B LLM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920240"/>
            <a:ext cx="11091672" cy="1051560"/>
          </a:xfrm>
          <a:prstGeom prst="roundRect">
            <a:avLst/>
          </a:prstGeom>
          <a:solidFill>
            <a:srgbClr val="DCE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920240"/>
            <a:ext cx="11091672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 i="0">
                <a:solidFill>
                  <a:srgbClr val="2E75B6"/>
                </a:solidFill>
                <a:latin typeface="Arial"/>
              </a:rPr>
              <a:t>DeBERTa-v3-base (440M) + KD  ≈  27B LLM brute force, 60× smaller, no LLM at inference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291840"/>
            <a:ext cx="10972800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719"/>
              </a:spcAft>
            </a:pPr>
            <a:r>
              <a:rPr sz="2000" b="1" i="0">
                <a:solidFill>
                  <a:srgbClr val="2E75B6"/>
                </a:solidFill>
                <a:latin typeface="Arial"/>
              </a:rPr>
              <a:t>▪  </a:t>
            </a:r>
            <a:r>
              <a:rPr sz="2000" b="1" i="0">
                <a:solidFill>
                  <a:srgbClr val="1A1A1A"/>
                </a:solidFill>
                <a:latin typeface="Arial"/>
              </a:rPr>
              <a:t>Beats SOTA</a:t>
            </a:r>
            <a:r>
              <a:rPr sz="2000" b="0" i="0">
                <a:solidFill>
                  <a:srgbClr val="1A1A1A"/>
                </a:solidFill>
                <a:latin typeface="Arial"/>
              </a:rPr>
              <a:t>  on 5 sparse datasets (dev)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19"/>
              </a:spcAft>
            </a:pPr>
            <a:r>
              <a:rPr sz="2000" b="1" i="0">
                <a:solidFill>
                  <a:srgbClr val="2E75B6"/>
                </a:solidFill>
                <a:latin typeface="Arial"/>
              </a:rPr>
              <a:t>▪  </a:t>
            </a:r>
            <a:r>
              <a:rPr sz="2000" b="1" i="0">
                <a:solidFill>
                  <a:srgbClr val="1A1A1A"/>
                </a:solidFill>
                <a:latin typeface="Arial"/>
              </a:rPr>
              <a:t>Local ≈ cloud:</a:t>
            </a:r>
            <a:r>
              <a:rPr sz="2000" b="0" i="0">
                <a:solidFill>
                  <a:srgbClr val="1A1A1A"/>
                </a:solidFill>
                <a:latin typeface="Arial"/>
              </a:rPr>
              <a:t>  KD without a paid API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19"/>
              </a:spcAft>
            </a:pPr>
            <a:r>
              <a:rPr sz="2000" b="1" i="0">
                <a:solidFill>
                  <a:srgbClr val="2E75B6"/>
                </a:solidFill>
                <a:latin typeface="Arial"/>
              </a:rPr>
              <a:t>▪  </a:t>
            </a:r>
            <a:r>
              <a:rPr sz="2000" b="1" i="0">
                <a:solidFill>
                  <a:srgbClr val="1A1A1A"/>
                </a:solidFill>
                <a:latin typeface="Arial"/>
              </a:rPr>
              <a:t>Clear rule:</a:t>
            </a:r>
            <a:r>
              <a:rPr sz="2000" b="0" i="0">
                <a:solidFill>
                  <a:srgbClr val="1A1A1A"/>
                </a:solidFill>
                <a:latin typeface="Arial"/>
              </a:rPr>
              <a:t>  KD helps only when silver supplies what gold lacks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5440680"/>
            <a:ext cx="11091672" cy="960120"/>
          </a:xfrm>
          <a:prstGeom prst="rect">
            <a:avLst/>
          </a:prstGeom>
          <a:solidFill>
            <a:srgbClr val="FFF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5440680"/>
            <a:ext cx="118872" cy="960120"/>
          </a:xfrm>
          <a:prstGeom prst="rect">
            <a:avLst/>
          </a:prstGeom>
          <a:solidFill>
            <a:srgbClr val="F0A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5559552"/>
            <a:ext cx="10607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E08600"/>
                </a:solidFill>
                <a:latin typeface="Arial"/>
              </a:rPr>
              <a:t>Conclusion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5879592"/>
            <a:ext cx="10607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1A1A1A"/>
                </a:solidFill>
                <a:latin typeface="Arial"/>
              </a:rPr>
              <a:t>A low-cost, LLM-free-at-inference recipe for aspect sentiment on small, sparse data.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446520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200" b="0" i="0">
                <a:solidFill>
                  <a:srgbClr val="6B7280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