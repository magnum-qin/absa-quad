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292608"/>
          </a:xfrm>
          <a:prstGeom prst="rect">
            <a:avLst/>
          </a:prstGeom>
          <a:solidFill>
            <a:srgbClr val="6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A1A1A"/>
                </a:solidFill>
                <a:latin typeface="Arial"/>
              </a:rPr>
              <a:t>Knowledge Distillation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400" b="1" i="0">
                <a:solidFill>
                  <a:srgbClr val="1A1A1A"/>
                </a:solidFill>
                <a:latin typeface="Arial"/>
              </a:rPr>
              <a:t>for ABSA-QUAD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6B7280"/>
                </a:solidFill>
                <a:latin typeface="Arial"/>
              </a:rPr>
              <a:t>Cloud vs local LLM teachers · SOTA comparison · when KD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7280"/>
                </a:solidFill>
                <a:latin typeface="Arial"/>
              </a:rPr>
              <a:t>Name: Qin Hongzhen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7280"/>
                </a:solidFill>
                <a:latin typeface="Arial"/>
              </a:rPr>
              <a:t>Student ID: G24TKA12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The bottleneck is class sparsity, not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Hardest subset eng_laptop: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240 (entity#attribute) classes, only 4,076 gold samples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1800" b="0" i="0">
                <a:solidFill>
                  <a:srgbClr val="6B7280"/>
                </a:solidFill>
                <a:latin typeface="Arial"/>
              </a:rPr>
              <a:t>        –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≈ 17 examples per class — long-tail classes barely seen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Small model underfits rare classes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→ best no-KD baseline only 0.3254 dev cF1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40680"/>
            <a:ext cx="118872" cy="960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95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8600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79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Arial"/>
              </a:rPr>
              <a:t>Sparsity, not model capacity, is the limit — we must inject class priors.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Distill the LLM into the model, drop it at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LLM at inference failed: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fusion / post-correction both hurt (noisy, slow, costly)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KD instead: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LLM silver-labels in-domain unlabeled 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Small model trains on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gold + validated silver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At inference: no LLM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→ zero extra cost /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40680"/>
            <a:ext cx="118872" cy="960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95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8600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79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Arial"/>
              </a:rPr>
              <a:t>Put the LLM's priors into the weights, not into the inference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Top systems all keep an LLM at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13"/>
              </a:spcAft>
            </a:pPr>
            <a:r>
              <a:rPr sz="19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1900" b="1" i="0">
                <a:solidFill>
                  <a:srgbClr val="1A1A1A"/>
                </a:solidFill>
                <a:latin typeface="Arial"/>
              </a:rPr>
              <a:t>LogSigma:</a:t>
            </a:r>
            <a:r>
              <a:rPr sz="1900" b="0" i="0">
                <a:solidFill>
                  <a:srgbClr val="1A1A1A"/>
                </a:solidFill>
                <a:latin typeface="Arial"/>
              </a:rPr>
              <a:t>  uncertainty-weighted multi-task learning</a:t>
            </a:r>
            <a:r>
              <a:rPr sz="1500" b="0" i="0">
                <a:solidFill>
                  <a:srgbClr val="2E75B6"/>
                </a:solidFill>
                <a:latin typeface="Arial"/>
              </a:rPr>
              <a:t>  [2]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13"/>
              </a:spcAft>
            </a:pPr>
            <a:r>
              <a:rPr sz="19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1900" b="1" i="0">
                <a:solidFill>
                  <a:srgbClr val="1A1A1A"/>
                </a:solidFill>
                <a:latin typeface="Arial"/>
              </a:rPr>
              <a:t>nchellwig (SCSG):</a:t>
            </a:r>
            <a:r>
              <a:rPr sz="1900" b="0" i="0">
                <a:solidFill>
                  <a:srgbClr val="1A1A1A"/>
                </a:solidFill>
                <a:latin typeface="Arial"/>
              </a:rPr>
              <a:t>  Gemma-27B, 10× self-consistency vote</a:t>
            </a:r>
            <a:r>
              <a:rPr sz="1500" b="0" i="0">
                <a:solidFill>
                  <a:srgbClr val="2E75B6"/>
                </a:solidFill>
                <a:latin typeface="Arial"/>
              </a:rPr>
              <a:t>  [3]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13"/>
              </a:spcAft>
            </a:pPr>
            <a:r>
              <a:rPr sz="19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1900" b="1" i="0">
                <a:solidFill>
                  <a:srgbClr val="1A1A1A"/>
                </a:solidFill>
                <a:latin typeface="Arial"/>
              </a:rPr>
              <a:t>Takoyaki:</a:t>
            </a:r>
            <a:r>
              <a:rPr sz="1900" b="0" i="0">
                <a:solidFill>
                  <a:srgbClr val="1A1A1A"/>
                </a:solidFill>
                <a:latin typeface="Arial"/>
              </a:rPr>
              <a:t>  few-shot demonstration retrieval</a:t>
            </a:r>
            <a:r>
              <a:rPr sz="1500" b="0" i="0">
                <a:solidFill>
                  <a:srgbClr val="2E75B6"/>
                </a:solidFill>
                <a:latin typeface="Arial"/>
              </a:rPr>
              <a:t>  [4]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13"/>
              </a:spcAft>
            </a:pPr>
            <a:r>
              <a:rPr sz="19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1900" b="1" i="0">
                <a:solidFill>
                  <a:srgbClr val="1A1A1A"/>
                </a:solidFill>
                <a:latin typeface="Arial"/>
              </a:rPr>
              <a:t>NYCU Speech Lab:</a:t>
            </a:r>
            <a:r>
              <a:rPr sz="1900" b="0" i="0">
                <a:solidFill>
                  <a:srgbClr val="1A1A1A"/>
                </a:solidFill>
                <a:latin typeface="Arial"/>
              </a:rPr>
              <a:t>  heterogeneous model ensemble + voting</a:t>
            </a:r>
            <a:r>
              <a:rPr sz="1500" b="0" i="0">
                <a:solidFill>
                  <a:srgbClr val="2E75B6"/>
                </a:solidFill>
                <a:latin typeface="Arial"/>
              </a:rPr>
              <a:t>  [5]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13"/>
              </a:spcAft>
            </a:pPr>
            <a:r>
              <a:rPr sz="19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1900" b="1" i="0">
                <a:solidFill>
                  <a:srgbClr val="1A1A1A"/>
                </a:solidFill>
                <a:latin typeface="Arial"/>
              </a:rPr>
              <a:t>Ours:</a:t>
            </a:r>
            <a:r>
              <a:rPr sz="1900" b="0" i="0">
                <a:solidFill>
                  <a:srgbClr val="1A1A1A"/>
                </a:solidFill>
                <a:latin typeface="Arial"/>
              </a:rPr>
              <a:t>  distill into a 440M model — no LLM at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280"/>
                </a:solidFill>
                <a:latin typeface="Arial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11521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[1] DimABSA-2026 Task Organizers. 2026. SemEval-2026 Task 3: Dimensional Aspect-Based Sentiment Analysis — Overview. arXiv:2601.23022.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B7280"/>
                </a:solidFill>
                <a:latin typeface="Arial"/>
              </a:rPr>
              <a:t>[2] LogSigma. 2026. LogSigma at SemEval-2026 Task 3 (DimABSA). In Proc. SemEval-2026.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B7280"/>
                </a:solidFill>
                <a:latin typeface="Arial"/>
              </a:rPr>
              <a:t>[3] nchellwig. 2026. SCSG: Self-Consistent Structured Generation at SemEval-2026 Task 3. In Proc. SemEval-2026.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B7280"/>
                </a:solidFill>
                <a:latin typeface="Arial"/>
              </a:rPr>
              <a:t>[4] Takoyaki (CyberAgent). 2026. Takoyaki at SemEval-2026 Task 3. In Proc. SemEval-2026.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B7280"/>
                </a:solidFill>
                <a:latin typeface="Arial"/>
              </a:rPr>
              <a:t>[5] NYCU Speech Lab. 2026. NYCU Speech Lab at SemEval-2026 Task 3. In Proc. SemEval-2026.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KD matches or beats SOTA on 5 sparse datasets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167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3291840"/>
                <a:gridCol w="2313432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Our KD (dev)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SOTA / prev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</a:rPr>
                        <a:t>0.5327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Takoyaki 0.4736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8B57"/>
                          </a:solidFill>
                          <a:latin typeface="Arial"/>
                        </a:rPr>
                        <a:t>+5.9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rus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</a:rPr>
                        <a:t>0.5753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PAI 0.5599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8B57"/>
                          </a:solidFill>
                          <a:latin typeface="Arial"/>
                        </a:rPr>
                        <a:t>+1.5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ukr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</a:rPr>
                        <a:t>0.5560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PAI 0.5437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8B57"/>
                          </a:solidFill>
                          <a:latin typeface="Arial"/>
                        </a:rPr>
                        <a:t>+1.2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eng_laptop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</a:rPr>
                        <a:t>0.4141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nchellwig 0.4006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8B57"/>
                          </a:solidFill>
                          <a:latin typeface="Arial"/>
                        </a:rPr>
                        <a:t>+1.4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zho_rest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</a:rPr>
                        <a:t>0.5351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prev 0.4745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8B57"/>
                          </a:solidFill>
                          <a:latin typeface="Arial"/>
                        </a:rPr>
                        <a:t>+6.1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40680"/>
            <a:ext cx="118872" cy="960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95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8600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79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Arial"/>
              </a:rPr>
              <a:t>+1.2 to +5.9 pp over published SOTA.   (Our scores: dev set; SOTA: test set.)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KD hurts 3 already-strong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jpn_hotel: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KD 0.4281  &lt;  baseline 0.4466   (strong native encoder)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eng_restaurant: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KD 0.4043  &lt;  baseline 0.6554   (gold drowned by 2× silver)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zho_laptop: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KD 0.4454  &lt;  baseline 0.4487   (base already augmented)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40680"/>
            <a:ext cx="118872" cy="960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95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8600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79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Arial"/>
              </a:rPr>
              <a:t>When the baseline is already strong, noisy silver only hurts — we keep the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Local Qwen ≈ cloud DeepSeek as a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eng_laptop, only the teacher changes: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1800" b="0" i="0">
                <a:solidFill>
                  <a:srgbClr val="6B7280"/>
                </a:solidFill>
                <a:latin typeface="Arial"/>
              </a:rPr>
              <a:t>        –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no-KD 0.3254  →  Gemma-31B 0.3764  →  Qwen-36B 0.4094  →  DeepSeek 0.4141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Local Qwen recovers 95%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of the cloud teacher's gain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4 languages: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average gap ≈ −2.5 pp; on Tatar, Qwen beats DeepSeek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40680"/>
            <a:ext cx="118872" cy="960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95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8600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79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Arial"/>
              </a:rPr>
              <a:t>A strong local open model replaces the paid cloud API — no systematic loss.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KD works only when silver adds missing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440680" cy="3200400"/>
          </a:xfrm>
          <a:prstGeom prst="roundRect">
            <a:avLst/>
          </a:prstGeom>
          <a:solidFill>
            <a:srgbClr val="D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8B57"/>
                </a:solidFill>
                <a:latin typeface="Arial"/>
              </a:rPr>
              <a:t>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4892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 i="0">
                <a:solidFill>
                  <a:srgbClr val="2E8B57"/>
                </a:solidFill>
                <a:latin typeface="Arial"/>
              </a:rPr>
              <a:t>▪ 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gold weak / classes very sparse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1" i="0">
                <a:solidFill>
                  <a:srgbClr val="2E8B57"/>
                </a:solidFill>
                <a:latin typeface="Arial"/>
              </a:rPr>
              <a:t>▪ 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silver stays a minority (≈0.8× gold)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1" i="0">
                <a:solidFill>
                  <a:srgbClr val="2E8B57"/>
                </a:solidFill>
                <a:latin typeface="Arial"/>
              </a:rPr>
              <a:t>▪ 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adds class priors &amp; seed diversity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874519"/>
            <a:ext cx="5440680" cy="3200400"/>
          </a:xfrm>
          <a:prstGeom prst="roundRect">
            <a:avLst/>
          </a:prstGeom>
          <a:solidFill>
            <a:srgbClr val="FB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2103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392B"/>
                </a:solidFill>
                <a:latin typeface="Arial"/>
              </a:rPr>
              <a:t>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743200"/>
            <a:ext cx="4892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baseline already strong / saturated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strong gold drowned by 2× silver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silver adds only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257800"/>
            <a:ext cx="11091672" cy="960120"/>
          </a:xfrm>
          <a:prstGeom prst="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257800"/>
            <a:ext cx="118872" cy="960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766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8600"/>
                </a:solidFill>
                <a:latin typeface="Arial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9671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Arial"/>
              </a:rPr>
              <a:t>Quality beats quantity: more-correct silver helps even when it is less dense.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Two 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Turn off LLM thinking mode: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19–29× fewer output tokens, same quality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Silent-failure trap: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a 404 made silver empty; training fell back to gold-only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10"/>
              </a:spcAft>
            </a:pPr>
            <a:r>
              <a:rPr sz="1800" b="0" i="0">
                <a:solidFill>
                  <a:srgbClr val="6B7280"/>
                </a:solidFill>
                <a:latin typeface="Arial"/>
              </a:rPr>
              <a:t>        –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fix: pipeline aborts if valid silver quads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40680"/>
            <a:ext cx="118872" cy="960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95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8600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79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Arial"/>
              </a:rPr>
              <a:t>Cheaper labeling + a fail-loud pipeline that never degrades silently.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5B6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1A"/>
                </a:solidFill>
                <a:latin typeface="Arial"/>
              </a:rPr>
              <a:t>440M model + LLM distillation ≈ a 27B 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1091672" cy="1051560"/>
          </a:xfrm>
          <a:prstGeom prst="roundRect">
            <a:avLst/>
          </a:prstGeom>
          <a:solidFill>
            <a:srgbClr val="DC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167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E75B6"/>
                </a:solidFill>
                <a:latin typeface="Arial"/>
              </a:rPr>
              <a:t>DeBERTa-v3-base (440M) + KD  ≈  27B LLM brute force, 60× smaller, no LLM at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19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Beats SOTA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on 5 sparse datasets (dev)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19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Local ≈ cloud: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KD without a paid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19"/>
              </a:spcAft>
            </a:pPr>
            <a:r>
              <a:rPr sz="2000" b="1" i="0">
                <a:solidFill>
                  <a:srgbClr val="2E75B6"/>
                </a:solidFill>
                <a:latin typeface="Arial"/>
              </a:rPr>
              <a:t>▪  </a:t>
            </a:r>
            <a:r>
              <a:rPr sz="2000" b="1" i="0">
                <a:solidFill>
                  <a:srgbClr val="1A1A1A"/>
                </a:solidFill>
                <a:latin typeface="Arial"/>
              </a:rPr>
              <a:t>Clear rule: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 KD helps only when silver supplies what gold lacks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440680"/>
            <a:ext cx="118872" cy="9601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595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8600"/>
                </a:solidFill>
                <a:latin typeface="Arial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79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Arial"/>
              </a:rPr>
              <a:t>A low-cost, LLM-free-at-inference recipe for aspect sentiment on small, sparse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" y="18288"/>
            <a:ext cx="12045391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