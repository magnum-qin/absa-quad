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502920" y="1188720"/>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SEMEVAL-2026 TASK 3 (TRACK A SUBTASK 3) — ACADEMIC REPORT</a:t>
            </a:r>
          </a:p>
        </p:txBody>
      </p:sp>
      <p:sp>
        <p:nvSpPr>
          <p:cNvPr id="3" name="TextBox 2"/>
          <p:cNvSpPr txBox="1"/>
          <p:nvPr/>
        </p:nvSpPr>
        <p:spPr>
          <a:xfrm>
            <a:off x="502920" y="1645920"/>
            <a:ext cx="11155680" cy="822960"/>
          </a:xfrm>
          <a:prstGeom prst="rect">
            <a:avLst/>
          </a:prstGeom>
          <a:noFill/>
        </p:spPr>
        <p:txBody>
          <a:bodyPr wrap="square" lIns="0" rIns="0" tIns="25400" bIns="25400">
            <a:spAutoFit/>
          </a:bodyPr>
          <a:lstStyle/>
          <a:p>
            <a:pPr algn="l"/>
            <a:r>
              <a:rPr sz="4800" b="1">
                <a:solidFill>
                  <a:srgbClr val="FFFFFF"/>
                </a:solidFill>
                <a:latin typeface="Microsoft YaHei"/>
              </a:rPr>
              <a:t>LEADER-DimASQP</a:t>
            </a:r>
          </a:p>
        </p:txBody>
      </p:sp>
      <p:sp>
        <p:nvSpPr>
          <p:cNvPr id="4" name="TextBox 3"/>
          <p:cNvSpPr txBox="1"/>
          <p:nvPr/>
        </p:nvSpPr>
        <p:spPr>
          <a:xfrm>
            <a:off x="502920" y="2514600"/>
            <a:ext cx="11155680" cy="548640"/>
          </a:xfrm>
          <a:prstGeom prst="rect">
            <a:avLst/>
          </a:prstGeom>
          <a:noFill/>
        </p:spPr>
        <p:txBody>
          <a:bodyPr wrap="square" lIns="0" rIns="0" tIns="25400" bIns="25400">
            <a:spAutoFit/>
          </a:bodyPr>
          <a:lstStyle/>
          <a:p>
            <a:pPr algn="l"/>
            <a:r>
              <a:rPr sz="2600" b="1">
                <a:solidFill>
                  <a:srgbClr val="DEEAFB"/>
                </a:solidFill>
                <a:latin typeface="Microsoft YaHei"/>
              </a:rPr>
              <a:t>面向维度ASQP的语言特定编码器与数据感知集成细化系统</a:t>
            </a:r>
          </a:p>
        </p:txBody>
      </p:sp>
      <p:sp>
        <p:nvSpPr>
          <p:cNvPr id="5" name="TextBox 4"/>
          <p:cNvSpPr txBox="1"/>
          <p:nvPr/>
        </p:nvSpPr>
        <p:spPr>
          <a:xfrm>
            <a:off x="502920" y="3108960"/>
            <a:ext cx="11155680" cy="457200"/>
          </a:xfrm>
          <a:prstGeom prst="rect">
            <a:avLst/>
          </a:prstGeom>
          <a:noFill/>
        </p:spPr>
        <p:txBody>
          <a:bodyPr wrap="square" lIns="0" rIns="0" tIns="25400" bIns="25400">
            <a:spAutoFit/>
          </a:bodyPr>
          <a:lstStyle/>
          <a:p>
            <a:pPr algn="l"/>
            <a:r>
              <a:rPr sz="1650" b="0" i="1">
                <a:solidFill>
                  <a:srgbClr val="A0BBDD"/>
                </a:solidFill>
                <a:latin typeface="Microsoft YaHei"/>
              </a:rPr>
              <a:t>Language-Specific Encoder and Data-Aware Ensemble Refinement for Dimensional ASQP</a:t>
            </a:r>
          </a:p>
        </p:txBody>
      </p:sp>
      <p:sp>
        <p:nvSpPr>
          <p:cNvPr id="6" name="Rectangle 5"/>
          <p:cNvSpPr/>
          <p:nvPr/>
        </p:nvSpPr>
        <p:spPr>
          <a:xfrm>
            <a:off x="502920" y="3794760"/>
            <a:ext cx="2011680" cy="3657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069080"/>
            <a:ext cx="11155680" cy="365760"/>
          </a:xfrm>
          <a:prstGeom prst="rect">
            <a:avLst/>
          </a:prstGeom>
          <a:noFill/>
        </p:spPr>
        <p:txBody>
          <a:bodyPr wrap="square" lIns="0" rIns="0" tIns="25400" bIns="25400">
            <a:spAutoFit/>
          </a:bodyPr>
          <a:lstStyle/>
          <a:p>
            <a:pPr algn="l"/>
            <a:r>
              <a:rPr sz="1600" b="1">
                <a:solidFill>
                  <a:srgbClr val="FFFFFF"/>
                </a:solidFill>
                <a:latin typeface="Microsoft YaHei"/>
              </a:rPr>
              <a:t>汇报人：秦洪振¹,²  ·  铃木美美²  ·  福本文代²  ·  周仁杰¹</a:t>
            </a:r>
          </a:p>
        </p:txBody>
      </p:sp>
      <p:sp>
        <p:nvSpPr>
          <p:cNvPr id="8" name="TextBox 7"/>
          <p:cNvSpPr txBox="1"/>
          <p:nvPr/>
        </p:nvSpPr>
        <p:spPr>
          <a:xfrm>
            <a:off x="502920" y="4526280"/>
            <a:ext cx="11155680" cy="548640"/>
          </a:xfrm>
          <a:prstGeom prst="rect">
            <a:avLst/>
          </a:prstGeom>
          <a:noFill/>
        </p:spPr>
        <p:txBody>
          <a:bodyPr wrap="square" lIns="0" rIns="0" tIns="25400" bIns="25400">
            <a:spAutoFit/>
          </a:bodyPr>
          <a:lstStyle/>
          <a:p>
            <a:pPr algn="l"/>
            <a:r>
              <a:rPr sz="1400" b="0">
                <a:solidFill>
                  <a:srgbClr val="CADCFC"/>
                </a:solidFill>
                <a:latin typeface="Microsoft YaHei"/>
              </a:rPr>
              <a:t>¹ 杭州电子科技大学计算机学院, 中国 杭州 310018
² 日本山梨大学大学院, 日本 甲府 400-8511</a:t>
            </a:r>
          </a:p>
        </p:txBody>
      </p:sp>
      <p:sp>
        <p:nvSpPr>
          <p:cNvPr id="9" name="TextBox 8"/>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任务背景与核心挑战 / BACKGROUND &amp; CHALLENGES</a:t>
            </a:r>
          </a:p>
        </p:txBody>
      </p:sp>
      <p:sp>
        <p:nvSpPr>
          <p:cNvPr id="3" name="TextBox 2"/>
          <p:cNvSpPr txBox="1"/>
          <p:nvPr/>
        </p:nvSpPr>
        <p:spPr>
          <a:xfrm>
            <a:off x="502920" y="676656"/>
            <a:ext cx="11155680" cy="868680"/>
          </a:xfrm>
          <a:prstGeom prst="rect">
            <a:avLst/>
          </a:prstGeom>
          <a:noFill/>
        </p:spPr>
        <p:txBody>
          <a:bodyPr wrap="square" lIns="0" rIns="0" tIns="25400" bIns="25400">
            <a:spAutoFit/>
          </a:bodyPr>
          <a:lstStyle/>
          <a:p>
            <a:pPr algn="l"/>
            <a:r>
              <a:rPr sz="2800" b="1">
                <a:solidFill>
                  <a:srgbClr val="0F172A"/>
                </a:solidFill>
                <a:latin typeface="Microsoft YaHei"/>
              </a:rPr>
              <a:t>维度 Aspect 情绪四元组预测 (Dimensional ASQP) 任务特性</a:t>
            </a:r>
          </a:p>
        </p:txBody>
      </p:sp>
      <p:sp>
        <p:nvSpPr>
          <p:cNvPr id="4" name="Rectangle 3"/>
          <p:cNvSpPr/>
          <p:nvPr/>
        </p:nvSpPr>
        <p:spPr>
          <a:xfrm>
            <a:off x="502920" y="1417320"/>
            <a:ext cx="111556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5303520" cy="45720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37360"/>
            <a:ext cx="4846320" cy="411480"/>
          </a:xfrm>
          <a:prstGeom prst="rect">
            <a:avLst/>
          </a:prstGeom>
          <a:noFill/>
        </p:spPr>
        <p:txBody>
          <a:bodyPr wrap="square" lIns="0" rIns="0" tIns="25400" bIns="25400">
            <a:spAutoFit/>
          </a:bodyPr>
          <a:lstStyle/>
          <a:p>
            <a:pPr algn="l"/>
            <a:r>
              <a:rPr sz="1800" b="1">
                <a:solidFill>
                  <a:srgbClr val="1E293B"/>
                </a:solidFill>
                <a:latin typeface="Microsoft YaHei"/>
              </a:rPr>
              <a:t>什么是维度 ASQP (DimASQP)？</a:t>
            </a:r>
          </a:p>
        </p:txBody>
      </p:sp>
      <p:sp>
        <p:nvSpPr>
          <p:cNvPr id="7" name="TextBox 6"/>
          <p:cNvSpPr txBox="1"/>
          <p:nvPr/>
        </p:nvSpPr>
        <p:spPr>
          <a:xfrm>
            <a:off x="731520" y="2194560"/>
            <a:ext cx="4846320" cy="3200400"/>
          </a:xfrm>
          <a:prstGeom prst="rect">
            <a:avLst/>
          </a:prstGeom>
          <a:noFill/>
        </p:spPr>
        <p:txBody>
          <a:bodyPr wrap="square" lIns="0" rIns="0" tIns="0" bIns="0">
            <a:spAutoFit/>
          </a:bodyPr>
          <a:lstStyle/>
          <a:p>
            <a:pPr>
              <a:lnSpc>
                <a:spcPct val="110000"/>
              </a:lnSpc>
              <a:spcBef>
                <a:spcPts val="0"/>
              </a:spcBef>
              <a:spcAft>
                <a:spcPts val="1400"/>
              </a:spcAft>
            </a:pPr>
            <a:r>
              <a:rPr sz="1450" b="1">
                <a:solidFill>
                  <a:srgbClr val="64748B"/>
                </a:solidFill>
                <a:latin typeface="Microsoft YaHei"/>
              </a:rPr>
              <a:t>•  </a:t>
            </a:r>
            <a:r>
              <a:rPr sz="1450" b="1">
                <a:solidFill>
                  <a:srgbClr val="334155"/>
                </a:solidFill>
                <a:latin typeface="Microsoft YaHei"/>
              </a:rPr>
              <a:t>任务定义</a:t>
            </a:r>
            <a:r>
              <a:rPr sz="1450" b="0">
                <a:solidFill>
                  <a:srgbClr val="334155"/>
                </a:solidFill>
                <a:latin typeface="Microsoft YaHei"/>
              </a:rPr>
              <a:t>：从句子中抽取 Aspect 项、Opinion 项、Entity-Attribute 类别，并预测其</a:t>
            </a:r>
            <a:r>
              <a:rPr sz="1450" b="1">
                <a:solidFill>
                  <a:srgbClr val="334155"/>
                </a:solidFill>
                <a:latin typeface="Microsoft YaHei"/>
              </a:rPr>
              <a:t>连续的 Valence-Arousal (V-A) 情绪值</a:t>
            </a:r>
            <a:r>
              <a:rPr sz="1450" b="0">
                <a:solidFill>
                  <a:srgbClr val="334155"/>
                </a:solidFill>
                <a:latin typeface="Microsoft YaHei"/>
              </a:rPr>
              <a:t>。</a:t>
            </a:r>
          </a:p>
          <a:p>
            <a:pPr>
              <a:lnSpc>
                <a:spcPct val="110000"/>
              </a:lnSpc>
              <a:spcBef>
                <a:spcPts val="0"/>
              </a:spcBef>
              <a:spcAft>
                <a:spcPts val="1400"/>
              </a:spcAft>
            </a:pPr>
            <a:r>
              <a:rPr sz="1450" b="1">
                <a:solidFill>
                  <a:srgbClr val="64748B"/>
                </a:solidFill>
                <a:latin typeface="Microsoft YaHei"/>
              </a:rPr>
              <a:t>•  </a:t>
            </a:r>
            <a:r>
              <a:rPr sz="1450" b="1">
                <a:solidFill>
                  <a:srgbClr val="334155"/>
                </a:solidFill>
                <a:latin typeface="Microsoft YaHei"/>
              </a:rPr>
              <a:t>四元组形式</a:t>
            </a:r>
            <a:r>
              <a:rPr sz="1450" b="0">
                <a:solidFill>
                  <a:srgbClr val="334155"/>
                </a:solidFill>
                <a:latin typeface="Microsoft YaHei"/>
              </a:rPr>
              <a:t>：</a:t>
            </a:r>
            <a:r>
              <a:rPr sz="1450" b="1">
                <a:solidFill>
                  <a:srgbClr val="1D4ED8"/>
                </a:solidFill>
                <a:latin typeface="Consolas"/>
              </a:rPr>
              <a:t>Y = {(a_i, c_i, o_i, V_i, A_i)}</a:t>
            </a:r>
            <a:r>
              <a:rPr sz="1450" b="0">
                <a:solidFill>
                  <a:srgbClr val="334155"/>
                </a:solidFill>
                <a:latin typeface="Microsoft YaHei"/>
              </a:rPr>
              <a:t>，其中 Valence（效价）与 Arousal（唤醒度）属于 </a:t>
            </a:r>
            <a:r>
              <a:rPr sz="1450" b="1">
                <a:solidFill>
                  <a:srgbClr val="1D4ED8"/>
                </a:solidFill>
                <a:latin typeface="Consolas"/>
              </a:rPr>
              <a:t>[1, 9]</a:t>
            </a:r>
            <a:r>
              <a:rPr sz="1450" b="0">
                <a:solidFill>
                  <a:srgbClr val="334155"/>
                </a:solidFill>
                <a:latin typeface="Microsoft YaHei"/>
              </a:rPr>
              <a:t> 的实数区间。</a:t>
            </a:r>
          </a:p>
          <a:p>
            <a:pPr>
              <a:lnSpc>
                <a:spcPct val="110000"/>
              </a:lnSpc>
              <a:spcBef>
                <a:spcPts val="0"/>
              </a:spcBef>
              <a:spcAft>
                <a:spcPts val="1400"/>
              </a:spcAft>
            </a:pPr>
            <a:r>
              <a:rPr sz="1450" b="1">
                <a:solidFill>
                  <a:srgbClr val="64748B"/>
                </a:solidFill>
                <a:latin typeface="Microsoft YaHei"/>
              </a:rPr>
              <a:t>•  </a:t>
            </a:r>
            <a:r>
              <a:rPr sz="1450" b="1">
                <a:solidFill>
                  <a:srgbClr val="334155"/>
                </a:solidFill>
                <a:latin typeface="Microsoft YaHei"/>
              </a:rPr>
              <a:t>严苛的度量指标</a:t>
            </a:r>
            <a:r>
              <a:rPr sz="1450" b="0">
                <a:solidFill>
                  <a:srgbClr val="334155"/>
                </a:solidFill>
                <a:latin typeface="Microsoft YaHei"/>
              </a:rPr>
              <a:t>：官方采用 </a:t>
            </a:r>
            <a:r>
              <a:rPr sz="1450" b="1">
                <a:solidFill>
                  <a:srgbClr val="334155"/>
                </a:solidFill>
                <a:latin typeface="Microsoft YaHei"/>
              </a:rPr>
              <a:t>cF1 (Continuous F1)</a:t>
            </a:r>
            <a:r>
              <a:rPr sz="1450" b="0">
                <a:solidFill>
                  <a:srgbClr val="334155"/>
                </a:solidFill>
                <a:latin typeface="Microsoft YaHei"/>
              </a:rPr>
              <a:t>，仅在 categorical 部分 </a:t>
            </a:r>
            <a:r>
              <a:rPr sz="1450" b="1">
                <a:solidFill>
                  <a:srgbClr val="1D4ED8"/>
                </a:solidFill>
                <a:latin typeface="Consolas"/>
              </a:rPr>
              <a:t>(a, c, o)</a:t>
            </a:r>
            <a:r>
              <a:rPr sz="1450" b="0">
                <a:solidFill>
                  <a:srgbClr val="334155"/>
                </a:solidFill>
                <a:latin typeface="Microsoft YaHei"/>
              </a:rPr>
              <a:t> </a:t>
            </a:r>
            <a:r>
              <a:rPr sz="1450" b="1">
                <a:solidFill>
                  <a:srgbClr val="334155"/>
                </a:solidFill>
                <a:latin typeface="Microsoft YaHei"/>
              </a:rPr>
              <a:t>完全匹配</a:t>
            </a:r>
            <a:r>
              <a:rPr sz="1450" b="0">
                <a:solidFill>
                  <a:srgbClr val="334155"/>
                </a:solidFill>
                <a:latin typeface="Microsoft YaHei"/>
              </a:rPr>
              <a:t>时才授予 true positive 分数，再乘以基于 V-A 欧氏距离的折扣因子。</a:t>
            </a:r>
            <a:r>
              <a:rPr sz="1450" b="1">
                <a:solidFill>
                  <a:srgbClr val="334155"/>
                </a:solidFill>
                <a:latin typeface="Microsoft YaHei"/>
              </a:rPr>
              <a:t>一步错，全盘皆输</a:t>
            </a:r>
            <a:r>
              <a:rPr sz="1450" b="0">
                <a:solidFill>
                  <a:srgbClr val="334155"/>
                </a:solidFill>
                <a:latin typeface="Microsoft YaHei"/>
              </a:rPr>
              <a:t>。</a:t>
            </a:r>
          </a:p>
        </p:txBody>
      </p:sp>
      <p:sp>
        <p:nvSpPr>
          <p:cNvPr id="8" name="Rounded Rectangle 7"/>
          <p:cNvSpPr/>
          <p:nvPr/>
        </p:nvSpPr>
        <p:spPr>
          <a:xfrm>
            <a:off x="6172200" y="1554480"/>
            <a:ext cx="5486400" cy="4572000"/>
          </a:xfrm>
          <a:prstGeom prst="roundRect">
            <a:avLst>
              <a:gd name="adj" fmla="val 5000"/>
            </a:avLst>
          </a:prstGeom>
          <a:solidFill>
            <a:srgbClr val="FD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37360"/>
            <a:ext cx="5029200" cy="411480"/>
          </a:xfrm>
          <a:prstGeom prst="rect">
            <a:avLst/>
          </a:prstGeom>
          <a:noFill/>
        </p:spPr>
        <p:txBody>
          <a:bodyPr wrap="square" lIns="0" rIns="0" tIns="25400" bIns="25400">
            <a:spAutoFit/>
          </a:bodyPr>
          <a:lstStyle/>
          <a:p>
            <a:pPr algn="l"/>
            <a:r>
              <a:rPr sz="1800" b="1">
                <a:solidFill>
                  <a:srgbClr val="DC2626"/>
                </a:solidFill>
                <a:latin typeface="Microsoft YaHei"/>
              </a:rPr>
              <a:t>当前面临的三大系统挑战</a:t>
            </a:r>
          </a:p>
        </p:txBody>
      </p:sp>
      <p:sp>
        <p:nvSpPr>
          <p:cNvPr id="10" name="TextBox 9"/>
          <p:cNvSpPr txBox="1"/>
          <p:nvPr/>
        </p:nvSpPr>
        <p:spPr>
          <a:xfrm>
            <a:off x="6400800" y="2194560"/>
            <a:ext cx="5029200" cy="3200400"/>
          </a:xfrm>
          <a:prstGeom prst="rect">
            <a:avLst/>
          </a:prstGeom>
          <a:noFill/>
        </p:spPr>
        <p:txBody>
          <a:bodyPr wrap="square" lIns="0" rIns="0" tIns="0" bIns="0">
            <a:spAutoFit/>
          </a:bodyPr>
          <a:lstStyle/>
          <a:p>
            <a:pPr>
              <a:lnSpc>
                <a:spcPct val="110000"/>
              </a:lnSpc>
              <a:spcBef>
                <a:spcPts val="0"/>
              </a:spcBef>
              <a:spcAft>
                <a:spcPts val="1400"/>
              </a:spcAft>
            </a:pPr>
            <a:r>
              <a:rPr sz="1450" b="1">
                <a:solidFill>
                  <a:srgbClr val="EF4444"/>
                </a:solidFill>
                <a:latin typeface="Microsoft YaHei"/>
              </a:rPr>
              <a:t>•  </a:t>
            </a:r>
            <a:r>
              <a:rPr sz="1450" b="1">
                <a:solidFill>
                  <a:srgbClr val="334155"/>
                </a:solidFill>
                <a:latin typeface="Microsoft YaHei"/>
              </a:rPr>
              <a:t>结构抽取的耦合性</a:t>
            </a:r>
            <a:r>
              <a:rPr sz="1450" b="0">
                <a:solidFill>
                  <a:srgbClr val="334155"/>
                </a:solidFill>
                <a:latin typeface="Microsoft YaHei"/>
              </a:rPr>
              <a:t>：如何保证 Aspect 和 Opinion 边界抽取的</a:t>
            </a:r>
            <a:r>
              <a:rPr sz="1450" b="1">
                <a:solidFill>
                  <a:srgbClr val="334155"/>
                </a:solidFill>
                <a:latin typeface="Microsoft YaHei"/>
              </a:rPr>
              <a:t>高精确度</a:t>
            </a:r>
            <a:r>
              <a:rPr sz="1450" b="0">
                <a:solidFill>
                  <a:srgbClr val="334155"/>
                </a:solidFill>
                <a:latin typeface="Microsoft YaHei"/>
              </a:rPr>
              <a:t>？抽取的微小偏差就会让该四元组得分为零。</a:t>
            </a:r>
          </a:p>
          <a:p>
            <a:pPr>
              <a:lnSpc>
                <a:spcPct val="110000"/>
              </a:lnSpc>
              <a:spcBef>
                <a:spcPts val="0"/>
              </a:spcBef>
              <a:spcAft>
                <a:spcPts val="1400"/>
              </a:spcAft>
            </a:pPr>
            <a:r>
              <a:rPr sz="1450" b="1">
                <a:solidFill>
                  <a:srgbClr val="EF4444"/>
                </a:solidFill>
                <a:latin typeface="Microsoft YaHei"/>
              </a:rPr>
              <a:t>•  </a:t>
            </a:r>
            <a:r>
              <a:rPr sz="1450" b="1">
                <a:solidFill>
                  <a:srgbClr val="334155"/>
                </a:solidFill>
                <a:latin typeface="Microsoft YaHei"/>
              </a:rPr>
              <a:t>低资源多语言极度不平衡</a:t>
            </a:r>
            <a:r>
              <a:rPr sz="1450" b="0">
                <a:solidFill>
                  <a:srgbClr val="334155"/>
                </a:solidFill>
                <a:latin typeface="Microsoft YaHei"/>
              </a:rPr>
              <a:t>：英语、中文、日文、俄文、鞑靼文 (Tatar)、乌克兰文，各语言规模从 1,240 到 6,050 不等，低资源语言</a:t>
            </a:r>
            <a:r>
              <a:rPr sz="1450" b="1">
                <a:solidFill>
                  <a:srgbClr val="334155"/>
                </a:solidFill>
                <a:latin typeface="Microsoft YaHei"/>
              </a:rPr>
              <a:t>极易过拟合</a:t>
            </a:r>
            <a:r>
              <a:rPr sz="1450" b="0">
                <a:solidFill>
                  <a:srgbClr val="334155"/>
                </a:solidFill>
                <a:latin typeface="Microsoft YaHei"/>
              </a:rPr>
              <a:t>。</a:t>
            </a:r>
          </a:p>
          <a:p>
            <a:pPr>
              <a:lnSpc>
                <a:spcPct val="110000"/>
              </a:lnSpc>
              <a:spcBef>
                <a:spcPts val="0"/>
              </a:spcBef>
              <a:spcAft>
                <a:spcPts val="1400"/>
              </a:spcAft>
            </a:pPr>
            <a:r>
              <a:rPr sz="1450" b="1">
                <a:solidFill>
                  <a:srgbClr val="EF4444"/>
                </a:solidFill>
                <a:latin typeface="Microsoft YaHei"/>
              </a:rPr>
              <a:t>•  </a:t>
            </a:r>
            <a:r>
              <a:rPr sz="1450" b="1">
                <a:solidFill>
                  <a:srgbClr val="334155"/>
                </a:solidFill>
                <a:latin typeface="Microsoft YaHei"/>
              </a:rPr>
              <a:t>连续回归的中心化倾向</a:t>
            </a:r>
            <a:r>
              <a:rPr sz="1450" b="0">
                <a:solidFill>
                  <a:srgbClr val="334155"/>
                </a:solidFill>
                <a:latin typeface="Microsoft YaHei"/>
              </a:rPr>
              <a:t>：模型倾向于将 V-A 分数回归到中性区间 </a:t>
            </a:r>
            <a:r>
              <a:rPr sz="1450" b="1">
                <a:solidFill>
                  <a:srgbClr val="1D4ED8"/>
                </a:solidFill>
                <a:latin typeface="Consolas"/>
              </a:rPr>
              <a:t>[5.0, 5.0]</a:t>
            </a:r>
            <a:r>
              <a:rPr sz="1450" b="0">
                <a:solidFill>
                  <a:srgbClr val="334155"/>
                </a:solidFill>
                <a:latin typeface="Microsoft YaHei"/>
              </a:rPr>
              <a:t> 以规避损失，导致</a:t>
            </a:r>
            <a:r>
              <a:rPr sz="1450" b="1">
                <a:solidFill>
                  <a:srgbClr val="334155"/>
                </a:solidFill>
                <a:latin typeface="Microsoft YaHei"/>
              </a:rPr>
              <a:t>缺乏边界特征的区分度</a:t>
            </a:r>
            <a:r>
              <a:rPr sz="1450" b="0">
                <a:solidFill>
                  <a:srgbClr val="334155"/>
                </a:solidFill>
                <a:latin typeface="Microsoft YaHei"/>
              </a:rPr>
              <a:t>。</a:t>
            </a:r>
          </a:p>
        </p:txBody>
      </p:sp>
      <p:sp>
        <p:nvSpPr>
          <p:cNvPr id="11" name="TextBox 10"/>
          <p:cNvSpPr txBox="1"/>
          <p:nvPr/>
        </p:nvSpPr>
        <p:spPr>
          <a:xfrm>
            <a:off x="502920" y="6400800"/>
            <a:ext cx="11155680" cy="320040"/>
          </a:xfrm>
          <a:prstGeom prst="rect">
            <a:avLst/>
          </a:prstGeom>
          <a:noFill/>
        </p:spPr>
        <p:txBody>
          <a:bodyPr wrap="square" lIns="0" rIns="0" tIns="25400" bIns="25400">
            <a:spAutoFit/>
          </a:bodyPr>
          <a:lstStyle/>
          <a:p>
            <a:pPr algn="l"/>
            <a:r>
              <a:rPr sz="1150" b="0">
                <a:solidFill>
                  <a:srgbClr val="64748B"/>
                </a:solidFill>
                <a:latin typeface="Microsoft YaHei"/>
              </a:rPr>
              <a:t>文献来源: Lee et al. DimABSA: Building multilingual and multidomain datasets... arXiv:2601.23022 (2026)</a:t>
            </a:r>
          </a:p>
        </p:txBody>
      </p:sp>
      <p:sp>
        <p:nvSpPr>
          <p:cNvPr id="12" name="TextBox 11"/>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核心思路与策略 / OUR CORE PHILOSOPHY</a:t>
            </a:r>
          </a:p>
        </p:txBody>
      </p:sp>
      <p:sp>
        <p:nvSpPr>
          <p:cNvPr id="3" name="TextBox 2"/>
          <p:cNvSpPr txBox="1"/>
          <p:nvPr/>
        </p:nvSpPr>
        <p:spPr>
          <a:xfrm>
            <a:off x="502920" y="676656"/>
            <a:ext cx="11155680" cy="868680"/>
          </a:xfrm>
          <a:prstGeom prst="rect">
            <a:avLst/>
          </a:prstGeom>
          <a:noFill/>
        </p:spPr>
        <p:txBody>
          <a:bodyPr wrap="square" lIns="0" rIns="0" tIns="25400" bIns="25400">
            <a:spAutoFit/>
          </a:bodyPr>
          <a:lstStyle/>
          <a:p>
            <a:pPr algn="l"/>
            <a:r>
              <a:rPr sz="2800" b="1">
                <a:solidFill>
                  <a:srgbClr val="0F172A"/>
                </a:solidFill>
                <a:latin typeface="Microsoft YaHei"/>
              </a:rPr>
              <a:t>LEADER-DimASQP: 多语言场景下因地制宜的设计理念</a:t>
            </a:r>
          </a:p>
        </p:txBody>
      </p:sp>
      <p:sp>
        <p:nvSpPr>
          <p:cNvPr id="4" name="Rectangle 3"/>
          <p:cNvSpPr/>
          <p:nvPr/>
        </p:nvSpPr>
        <p:spPr>
          <a:xfrm>
            <a:off x="502920" y="1417320"/>
            <a:ext cx="111556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5303520" cy="2926080"/>
          </a:xfrm>
          <a:prstGeom prst="roundRect">
            <a:avLst>
              <a:gd name="adj" fmla="val 5000"/>
            </a:avLst>
          </a:prstGeom>
          <a:solidFill>
            <a:srgbClr val="DE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37360"/>
            <a:ext cx="4846320" cy="411480"/>
          </a:xfrm>
          <a:prstGeom prst="rect">
            <a:avLst/>
          </a:prstGeom>
          <a:noFill/>
        </p:spPr>
        <p:txBody>
          <a:bodyPr wrap="square" lIns="0" rIns="0" tIns="25400" bIns="25400">
            <a:spAutoFit/>
          </a:bodyPr>
          <a:lstStyle/>
          <a:p>
            <a:pPr algn="l"/>
            <a:r>
              <a:rPr sz="1800" b="1">
                <a:solidFill>
                  <a:srgbClr val="1D4ED8"/>
                </a:solidFill>
                <a:latin typeface="Microsoft YaHei"/>
              </a:rPr>
              <a:t>学术核心发问：是否存在单一通用大模型？</a:t>
            </a:r>
          </a:p>
        </p:txBody>
      </p:sp>
      <p:sp>
        <p:nvSpPr>
          <p:cNvPr id="7" name="TextBox 6"/>
          <p:cNvSpPr txBox="1"/>
          <p:nvPr/>
        </p:nvSpPr>
        <p:spPr>
          <a:xfrm>
            <a:off x="731520" y="2148840"/>
            <a:ext cx="4846320" cy="3200400"/>
          </a:xfrm>
          <a:prstGeom prst="rect">
            <a:avLst/>
          </a:prstGeom>
          <a:noFill/>
        </p:spPr>
        <p:txBody>
          <a:bodyPr wrap="square" lIns="0" rIns="0" tIns="0" bIns="0">
            <a:spAutoFit/>
          </a:bodyPr>
          <a:lstStyle/>
          <a:p>
            <a:pPr>
              <a:lnSpc>
                <a:spcPct val="110000"/>
              </a:lnSpc>
              <a:spcBef>
                <a:spcPts val="0"/>
              </a:spcBef>
              <a:spcAft>
                <a:spcPts val="800"/>
              </a:spcAft>
            </a:pPr>
            <a:r>
              <a:rPr sz="1400" b="1">
                <a:solidFill>
                  <a:srgbClr val="3B82F6"/>
                </a:solidFill>
                <a:latin typeface="Microsoft YaHei"/>
              </a:rPr>
              <a:t>•  </a:t>
            </a:r>
            <a:r>
              <a:rPr sz="1400" b="1">
                <a:solidFill>
                  <a:srgbClr val="334155"/>
                </a:solidFill>
                <a:latin typeface="Microsoft YaHei"/>
              </a:rPr>
              <a:t>统一多语言配方的局限性</a:t>
            </a:r>
            <a:r>
              <a:rPr sz="1400" b="0">
                <a:solidFill>
                  <a:srgbClr val="334155"/>
                </a:solidFill>
                <a:latin typeface="Microsoft YaHei"/>
              </a:rPr>
              <a:t>：不同语言由于其分词特性、形态学结构和领域分布存在本质差异，单一通用模型无法实现多源最优。</a:t>
            </a:r>
          </a:p>
          <a:p>
            <a:pPr>
              <a:lnSpc>
                <a:spcPct val="110000"/>
              </a:lnSpc>
              <a:spcBef>
                <a:spcPts val="0"/>
              </a:spcBef>
              <a:spcAft>
                <a:spcPts val="800"/>
              </a:spcAft>
            </a:pPr>
            <a:r>
              <a:rPr sz="1400" b="1">
                <a:solidFill>
                  <a:srgbClr val="3B82F6"/>
                </a:solidFill>
                <a:latin typeface="Microsoft YaHei"/>
              </a:rPr>
              <a:t>•  </a:t>
            </a:r>
            <a:r>
              <a:rPr sz="1400" b="1">
                <a:solidFill>
                  <a:srgbClr val="334155"/>
                </a:solidFill>
                <a:latin typeface="Microsoft YaHei"/>
              </a:rPr>
              <a:t>分词机制的影响</a:t>
            </a:r>
            <a:r>
              <a:rPr sz="1400" b="0">
                <a:solidFill>
                  <a:srgbClr val="334155"/>
                </a:solidFill>
                <a:latin typeface="Microsoft YaHei"/>
              </a:rPr>
              <a:t>：如日文存在复杂的助词修饰，中文包含紧凑的字词边界。</a:t>
            </a:r>
            <a:r>
              <a:rPr sz="1400" b="1">
                <a:solidFill>
                  <a:srgbClr val="334155"/>
                </a:solidFill>
                <a:latin typeface="Microsoft YaHei"/>
              </a:rPr>
              <a:t>分词器的匹配偏置</a:t>
            </a:r>
            <a:r>
              <a:rPr sz="1400" b="0">
                <a:solidFill>
                  <a:srgbClr val="334155"/>
                </a:solidFill>
                <a:latin typeface="Microsoft YaHei"/>
              </a:rPr>
              <a:t>常常决定了特征抽取的上限。</a:t>
            </a:r>
          </a:p>
        </p:txBody>
      </p:sp>
      <p:sp>
        <p:nvSpPr>
          <p:cNvPr id="8" name="Rounded Rectangle 7"/>
          <p:cNvSpPr/>
          <p:nvPr/>
        </p:nvSpPr>
        <p:spPr>
          <a:xfrm>
            <a:off x="6172200" y="1554480"/>
            <a:ext cx="5486400" cy="2926080"/>
          </a:xfrm>
          <a:prstGeom prst="roundRect">
            <a:avLst>
              <a:gd name="adj" fmla="val 5000"/>
            </a:avLst>
          </a:prstGeom>
          <a:solidFill>
            <a:srgbClr val="D6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37360"/>
            <a:ext cx="5029200" cy="411480"/>
          </a:xfrm>
          <a:prstGeom prst="rect">
            <a:avLst/>
          </a:prstGeom>
          <a:noFill/>
        </p:spPr>
        <p:txBody>
          <a:bodyPr wrap="square" lIns="0" rIns="0" tIns="25400" bIns="25400">
            <a:spAutoFit/>
          </a:bodyPr>
          <a:lstStyle/>
          <a:p>
            <a:pPr algn="l"/>
            <a:r>
              <a:rPr sz="1800" b="1">
                <a:solidFill>
                  <a:srgbClr val="047857"/>
                </a:solidFill>
                <a:latin typeface="Microsoft YaHei"/>
              </a:rPr>
              <a:t>LEADER 系统的解决路线：架构底座 + 精细选型</a:t>
            </a:r>
          </a:p>
        </p:txBody>
      </p:sp>
      <p:sp>
        <p:nvSpPr>
          <p:cNvPr id="10" name="TextBox 9"/>
          <p:cNvSpPr txBox="1"/>
          <p:nvPr/>
        </p:nvSpPr>
        <p:spPr>
          <a:xfrm>
            <a:off x="6400800" y="2148840"/>
            <a:ext cx="5029200" cy="3200400"/>
          </a:xfrm>
          <a:prstGeom prst="rect">
            <a:avLst/>
          </a:prstGeom>
          <a:noFill/>
        </p:spPr>
        <p:txBody>
          <a:bodyPr wrap="square" lIns="0" rIns="0" tIns="0" bIns="0">
            <a:spAutoFit/>
          </a:bodyPr>
          <a:lstStyle/>
          <a:p>
            <a:pPr>
              <a:lnSpc>
                <a:spcPct val="110000"/>
              </a:lnSpc>
              <a:spcBef>
                <a:spcPts val="0"/>
              </a:spcBef>
              <a:spcAft>
                <a:spcPts val="800"/>
              </a:spcAft>
            </a:pPr>
            <a:r>
              <a:rPr sz="1400" b="1">
                <a:solidFill>
                  <a:srgbClr val="10B981"/>
                </a:solidFill>
                <a:latin typeface="Microsoft YaHei"/>
              </a:rPr>
              <a:t>•  </a:t>
            </a:r>
            <a:r>
              <a:rPr sz="1400" b="1">
                <a:solidFill>
                  <a:srgbClr val="334155"/>
                </a:solidFill>
                <a:latin typeface="Microsoft YaHei"/>
              </a:rPr>
              <a:t>架构稳定底座</a:t>
            </a:r>
            <a:r>
              <a:rPr sz="1400" b="0">
                <a:solidFill>
                  <a:srgbClr val="334155"/>
                </a:solidFill>
                <a:latin typeface="Microsoft YaHei"/>
              </a:rPr>
              <a:t>：首创结合 </a:t>
            </a:r>
            <a:r>
              <a:rPr sz="1400" b="1">
                <a:solidFill>
                  <a:srgbClr val="1D4ED8"/>
                </a:solidFill>
                <a:latin typeface="Consolas"/>
              </a:rPr>
              <a:t>Rethink反馈反馈机制</a:t>
            </a:r>
            <a:r>
              <a:rPr sz="1400" b="0">
                <a:solidFill>
                  <a:srgbClr val="334155"/>
                </a:solidFill>
                <a:latin typeface="Microsoft YaHei"/>
              </a:rPr>
              <a:t> 与 </a:t>
            </a:r>
            <a:r>
              <a:rPr sz="1400" b="1">
                <a:solidFill>
                  <a:srgbClr val="1D4ED8"/>
                </a:solidFill>
                <a:latin typeface="Consolas"/>
              </a:rPr>
              <a:t>匈牙利集合匹配</a:t>
            </a:r>
            <a:r>
              <a:rPr sz="1400" b="0">
                <a:solidFill>
                  <a:srgbClr val="334155"/>
                </a:solidFill>
                <a:latin typeface="Microsoft YaHei"/>
              </a:rPr>
              <a:t> 训练，稳定边界预测与连续坐标回归。</a:t>
            </a:r>
          </a:p>
          <a:p>
            <a:pPr>
              <a:lnSpc>
                <a:spcPct val="110000"/>
              </a:lnSpc>
              <a:spcBef>
                <a:spcPts val="0"/>
              </a:spcBef>
              <a:spcAft>
                <a:spcPts val="800"/>
              </a:spcAft>
            </a:pPr>
            <a:r>
              <a:rPr sz="1400" b="1">
                <a:solidFill>
                  <a:srgbClr val="10B981"/>
                </a:solidFill>
                <a:latin typeface="Microsoft YaHei"/>
              </a:rPr>
              <a:t>•  </a:t>
            </a:r>
            <a:r>
              <a:rPr sz="1400" b="1">
                <a:solidFill>
                  <a:srgbClr val="334155"/>
                </a:solidFill>
                <a:latin typeface="Microsoft YaHei"/>
              </a:rPr>
              <a:t>多语因地制宜</a:t>
            </a:r>
            <a:r>
              <a:rPr sz="1400" b="0">
                <a:solidFill>
                  <a:srgbClr val="334155"/>
                </a:solidFill>
                <a:latin typeface="Microsoft YaHei"/>
              </a:rPr>
              <a:t>：针对每个数据集，</a:t>
            </a:r>
            <a:r>
              <a:rPr sz="1400" b="1">
                <a:solidFill>
                  <a:srgbClr val="334155"/>
                </a:solidFill>
                <a:latin typeface="Microsoft YaHei"/>
              </a:rPr>
              <a:t>自主调配与验证最优编码器与后处理策略</a:t>
            </a:r>
            <a:r>
              <a:rPr sz="1400" b="0">
                <a:solidFill>
                  <a:srgbClr val="334155"/>
                </a:solidFill>
                <a:latin typeface="Microsoft YaHei"/>
              </a:rPr>
              <a:t>，而非生搬硬套统一预训练模型。</a:t>
            </a:r>
          </a:p>
        </p:txBody>
      </p:sp>
      <p:sp>
        <p:nvSpPr>
          <p:cNvPr id="11" name="Rounded Rectangle 10"/>
          <p:cNvSpPr/>
          <p:nvPr/>
        </p:nvSpPr>
        <p:spPr>
          <a:xfrm>
            <a:off x="502920" y="4709160"/>
            <a:ext cx="11155680" cy="13716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4709160"/>
            <a:ext cx="91440"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800600"/>
            <a:ext cx="3657600" cy="274320"/>
          </a:xfrm>
          <a:prstGeom prst="rect">
            <a:avLst/>
          </a:prstGeom>
          <a:noFill/>
        </p:spPr>
        <p:txBody>
          <a:bodyPr wrap="square" lIns="0" rIns="0" tIns="25400" bIns="25400">
            <a:spAutoFit/>
          </a:bodyPr>
          <a:lstStyle/>
          <a:p>
            <a:pPr algn="l"/>
            <a:r>
              <a:rPr sz="1300" b="1">
                <a:solidFill>
                  <a:srgbClr val="B45A09"/>
                </a:solidFill>
                <a:latin typeface="Microsoft YaHei"/>
              </a:rPr>
              <a:t>核心系统成果 (System Highlights)</a:t>
            </a:r>
          </a:p>
        </p:txBody>
      </p:sp>
      <p:sp>
        <p:nvSpPr>
          <p:cNvPr id="14" name="TextBox 13"/>
          <p:cNvSpPr txBox="1"/>
          <p:nvPr/>
        </p:nvSpPr>
        <p:spPr>
          <a:xfrm>
            <a:off x="713232" y="5138928"/>
            <a:ext cx="10607040" cy="822960"/>
          </a:xfrm>
          <a:prstGeom prst="rect">
            <a:avLst/>
          </a:prstGeom>
          <a:noFill/>
        </p:spPr>
        <p:txBody>
          <a:bodyPr wrap="square" lIns="0" rIns="0" tIns="25400" bIns="25400">
            <a:spAutoFit/>
          </a:bodyPr>
          <a:lstStyle/>
          <a:p>
            <a:pPr algn="l"/>
            <a:r>
              <a:rPr sz="1550" b="1">
                <a:solidFill>
                  <a:srgbClr val="0F172A"/>
                </a:solidFill>
                <a:latin typeface="Microsoft YaHei"/>
              </a:rPr>
              <a:t>在八大开发集上，LEADER-DimASQP 取得 </a:t>
            </a:r>
            <a:r>
              <a:rPr sz="1550" b="1">
                <a:solidFill>
                  <a:srgbClr val="0F172A"/>
                </a:solidFill>
                <a:latin typeface="Microsoft YaHei"/>
              </a:rPr>
              <a:t>0.5008</a:t>
            </a:r>
            <a:r>
              <a:rPr sz="1550" b="1">
                <a:solidFill>
                  <a:srgbClr val="0F172A"/>
                </a:solidFill>
                <a:latin typeface="Microsoft YaHei"/>
              </a:rPr>
              <a:t> 平均 cF1，相比强大的 </a:t>
            </a:r>
            <a:r>
              <a:rPr sz="1550" b="1">
                <a:solidFill>
                  <a:srgbClr val="0F172A"/>
                </a:solidFill>
                <a:latin typeface="Microsoft YaHei"/>
              </a:rPr>
              <a:t>Llama-3.3 70B 跃升了 +11.46 pp</a:t>
            </a:r>
            <a:r>
              <a:rPr sz="1550" b="1">
                <a:solidFill>
                  <a:srgbClr val="0F172A"/>
                </a:solidFill>
                <a:latin typeface="Microsoft YaHei"/>
              </a:rPr>
              <a:t>，并在日文酒店、鞑靼语餐饮、中文餐饮上刷新了目前已公开学术界最高水平！</a:t>
            </a:r>
          </a:p>
        </p:txBody>
      </p:sp>
      <p:sp>
        <p:nvSpPr>
          <p:cNvPr id="15" name="TextBox 14"/>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系统底座架构 / BASE SYSTEM ARCHITECTURE</a:t>
            </a:r>
          </a:p>
        </p:txBody>
      </p:sp>
      <p:sp>
        <p:nvSpPr>
          <p:cNvPr id="3" name="TextBox 2"/>
          <p:cNvSpPr txBox="1"/>
          <p:nvPr/>
        </p:nvSpPr>
        <p:spPr>
          <a:xfrm>
            <a:off x="502920" y="676656"/>
            <a:ext cx="11155680" cy="868680"/>
          </a:xfrm>
          <a:prstGeom prst="rect">
            <a:avLst/>
          </a:prstGeom>
          <a:noFill/>
        </p:spPr>
        <p:txBody>
          <a:bodyPr wrap="square" lIns="0" rIns="0" tIns="25400" bIns="25400">
            <a:spAutoFit/>
          </a:bodyPr>
          <a:lstStyle/>
          <a:p>
            <a:pPr algn="l"/>
            <a:r>
              <a:rPr sz="2800" b="1">
                <a:solidFill>
                  <a:srgbClr val="0F172A"/>
                </a:solidFill>
                <a:latin typeface="Microsoft YaHei"/>
              </a:rPr>
              <a:t>轻量级重思考反馈机制 (Rethink Feedback) 与匈牙利集合匹配</a:t>
            </a:r>
          </a:p>
        </p:txBody>
      </p:sp>
      <p:sp>
        <p:nvSpPr>
          <p:cNvPr id="4" name="Rectangle 3"/>
          <p:cNvSpPr/>
          <p:nvPr/>
        </p:nvSpPr>
        <p:spPr>
          <a:xfrm>
            <a:off x="502920" y="1417320"/>
            <a:ext cx="111556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3520440" cy="4572000"/>
          </a:xfrm>
          <a:prstGeom prst="roundRect">
            <a:avLst>
              <a:gd name="adj" fmla="val 6000"/>
            </a:avLst>
          </a:prstGeom>
          <a:solidFill>
            <a:srgbClr val="DE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3246120" cy="411480"/>
          </a:xfrm>
          <a:prstGeom prst="rect">
            <a:avLst/>
          </a:prstGeom>
          <a:noFill/>
        </p:spPr>
        <p:txBody>
          <a:bodyPr wrap="square" lIns="0" rIns="0" tIns="25400" bIns="25400">
            <a:spAutoFit/>
          </a:bodyPr>
          <a:lstStyle/>
          <a:p>
            <a:pPr algn="l"/>
            <a:r>
              <a:rPr sz="1650" b="1">
                <a:solidFill>
                  <a:srgbClr val="1D4ED8"/>
                </a:solidFill>
                <a:latin typeface="Microsoft YaHei"/>
              </a:rPr>
              <a:t>1. 轻量重思考反馈 (Rethink)</a:t>
            </a:r>
          </a:p>
        </p:txBody>
      </p:sp>
      <p:sp>
        <p:nvSpPr>
          <p:cNvPr id="7" name="TextBox 6"/>
          <p:cNvSpPr txBox="1"/>
          <p:nvPr/>
        </p:nvSpPr>
        <p:spPr>
          <a:xfrm>
            <a:off x="640080" y="2240280"/>
            <a:ext cx="3246120" cy="3657600"/>
          </a:xfrm>
          <a:prstGeom prst="rect">
            <a:avLst/>
          </a:prstGeom>
          <a:noFill/>
        </p:spPr>
        <p:txBody>
          <a:bodyPr wrap="square" lIns="0" rIns="0" tIns="25400" bIns="25400">
            <a:spAutoFit/>
          </a:bodyPr>
          <a:lstStyle/>
          <a:p>
            <a:pPr algn="l"/>
            <a:r>
              <a:rPr sz="1400" b="0">
                <a:solidFill>
                  <a:srgbClr val="334155"/>
                </a:solidFill>
                <a:latin typeface="Microsoft YaHei"/>
              </a:rPr>
              <a:t>将第一阶段输出的 BIO 边界、分类概率、V-A 连续预测进行特征嵌入，并</a:t>
            </a:r>
            <a:r>
              <a:rPr sz="1400" b="1">
                <a:solidFill>
                  <a:srgbClr val="334155"/>
                </a:solidFill>
                <a:latin typeface="Microsoft YaHei"/>
              </a:rPr>
              <a:t>无损反馈 (fused) 回原始 Token 隐藏状态</a:t>
            </a:r>
            <a:r>
              <a:rPr sz="1400" b="0">
                <a:solidFill>
                  <a:srgbClr val="334155"/>
                </a:solidFill>
                <a:latin typeface="Microsoft YaHei"/>
              </a:rPr>
              <a:t>。
在不调用二次编码器的前提下，让第二阶段预测头获得“软先验信息”，</a:t>
            </a:r>
            <a:r>
              <a:rPr sz="1400" b="1">
                <a:solidFill>
                  <a:srgbClr val="334155"/>
                </a:solidFill>
                <a:latin typeface="Microsoft YaHei"/>
              </a:rPr>
              <a:t>大幅稳定复杂的边界细化</a:t>
            </a:r>
            <a:r>
              <a:rPr sz="1400" b="0">
                <a:solidFill>
                  <a:srgbClr val="334155"/>
                </a:solidFill>
                <a:latin typeface="Microsoft YaHei"/>
              </a:rPr>
              <a:t>。</a:t>
            </a:r>
          </a:p>
        </p:txBody>
      </p:sp>
      <p:sp>
        <p:nvSpPr>
          <p:cNvPr id="8" name="Rounded Rectangle 7"/>
          <p:cNvSpPr/>
          <p:nvPr/>
        </p:nvSpPr>
        <p:spPr>
          <a:xfrm>
            <a:off x="4270248" y="1554480"/>
            <a:ext cx="3520440" cy="4572000"/>
          </a:xfrm>
          <a:prstGeom prst="roundRect">
            <a:avLst>
              <a:gd name="adj" fmla="val 6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7408" y="1737360"/>
            <a:ext cx="3246120" cy="411480"/>
          </a:xfrm>
          <a:prstGeom prst="rect">
            <a:avLst/>
          </a:prstGeom>
          <a:noFill/>
        </p:spPr>
        <p:txBody>
          <a:bodyPr wrap="square" lIns="0" rIns="0" tIns="25400" bIns="25400">
            <a:spAutoFit/>
          </a:bodyPr>
          <a:lstStyle/>
          <a:p>
            <a:pPr algn="l"/>
            <a:r>
              <a:rPr sz="1650" b="1">
                <a:solidFill>
                  <a:srgbClr val="6D28D9"/>
                </a:solidFill>
                <a:latin typeface="Microsoft YaHei"/>
              </a:rPr>
              <a:t>2. 匈牙利集合匹配 (Hungarian)</a:t>
            </a:r>
          </a:p>
        </p:txBody>
      </p:sp>
      <p:sp>
        <p:nvSpPr>
          <p:cNvPr id="10" name="TextBox 9"/>
          <p:cNvSpPr txBox="1"/>
          <p:nvPr/>
        </p:nvSpPr>
        <p:spPr>
          <a:xfrm>
            <a:off x="4407408" y="2240280"/>
            <a:ext cx="3246120" cy="3657600"/>
          </a:xfrm>
          <a:prstGeom prst="rect">
            <a:avLst/>
          </a:prstGeom>
          <a:noFill/>
        </p:spPr>
        <p:txBody>
          <a:bodyPr wrap="square" lIns="0" rIns="0" tIns="25400" bIns="25400">
            <a:spAutoFit/>
          </a:bodyPr>
          <a:lstStyle/>
          <a:p>
            <a:pPr algn="l"/>
            <a:r>
              <a:rPr sz="1400" b="0">
                <a:solidFill>
                  <a:srgbClr val="334155"/>
                </a:solidFill>
                <a:latin typeface="Microsoft YaHei"/>
              </a:rPr>
              <a:t>候选 Aspect-Opinion 匹配极易因笛卡尔积组合爆炸而崩溃。
我们将分类损失、边界重合度、V-A 连续 Huber 距离融合，构建一个代价矩阵。</a:t>
            </a:r>
            <a:r>
              <a:rPr sz="1400" b="1">
                <a:solidFill>
                  <a:srgbClr val="334155"/>
                </a:solidFill>
                <a:latin typeface="Microsoft YaHei"/>
              </a:rPr>
              <a:t>通过 Hungarian 算法解最优指派</a:t>
            </a:r>
            <a:r>
              <a:rPr sz="1400" b="0">
                <a:solidFill>
                  <a:srgbClr val="334155"/>
                </a:solidFill>
                <a:latin typeface="Microsoft YaHei"/>
              </a:rPr>
              <a:t>，将传统排序预测转化为</a:t>
            </a:r>
            <a:r>
              <a:rPr sz="1400" b="1">
                <a:solidFill>
                  <a:srgbClr val="334155"/>
                </a:solidFill>
                <a:latin typeface="Microsoft YaHei"/>
              </a:rPr>
              <a:t>稳定的集合匹配学习</a:t>
            </a:r>
            <a:r>
              <a:rPr sz="1400" b="0">
                <a:solidFill>
                  <a:srgbClr val="334155"/>
                </a:solidFill>
                <a:latin typeface="Microsoft YaHei"/>
              </a:rPr>
              <a:t>。</a:t>
            </a:r>
          </a:p>
        </p:txBody>
      </p:sp>
      <p:sp>
        <p:nvSpPr>
          <p:cNvPr id="11" name="Rounded Rectangle 10"/>
          <p:cNvSpPr/>
          <p:nvPr/>
        </p:nvSpPr>
        <p:spPr>
          <a:xfrm>
            <a:off x="8037576" y="1554480"/>
            <a:ext cx="3520440" cy="4572000"/>
          </a:xfrm>
          <a:prstGeom prst="roundRect">
            <a:avLst>
              <a:gd name="adj" fmla="val 6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737360"/>
            <a:ext cx="3246120" cy="411480"/>
          </a:xfrm>
          <a:prstGeom prst="rect">
            <a:avLst/>
          </a:prstGeom>
          <a:noFill/>
        </p:spPr>
        <p:txBody>
          <a:bodyPr wrap="square" lIns="0" rIns="0" tIns="25400" bIns="25400">
            <a:spAutoFit/>
          </a:bodyPr>
          <a:lstStyle/>
          <a:p>
            <a:pPr algn="l"/>
            <a:r>
              <a:rPr sz="1650" b="1">
                <a:solidFill>
                  <a:srgbClr val="1E293B"/>
                </a:solidFill>
                <a:latin typeface="Microsoft YaHei"/>
              </a:rPr>
              <a:t>3. 训练三神器 (Stabilizers)</a:t>
            </a:r>
          </a:p>
        </p:txBody>
      </p:sp>
      <p:sp>
        <p:nvSpPr>
          <p:cNvPr id="13" name="TextBox 12"/>
          <p:cNvSpPr txBox="1"/>
          <p:nvPr/>
        </p:nvSpPr>
        <p:spPr>
          <a:xfrm>
            <a:off x="8174736" y="2240280"/>
            <a:ext cx="3246120" cy="3657600"/>
          </a:xfrm>
          <a:prstGeom prst="rect">
            <a:avLst/>
          </a:prstGeom>
          <a:noFill/>
        </p:spPr>
        <p:txBody>
          <a:bodyPr wrap="square" lIns="0" rIns="0" tIns="25400" bIns="25400">
            <a:spAutoFit/>
          </a:bodyPr>
          <a:lstStyle/>
          <a:p>
            <a:pPr algn="l"/>
            <a:r>
              <a:rPr sz="1400" b="0">
                <a:solidFill>
                  <a:srgbClr val="334155"/>
                </a:solidFill>
                <a:latin typeface="Microsoft YaHei"/>
              </a:rPr>
              <a:t>• </a:t>
            </a:r>
            <a:r>
              <a:rPr sz="1400" b="1">
                <a:solidFill>
                  <a:srgbClr val="334155"/>
                </a:solidFill>
                <a:latin typeface="Microsoft YaHei"/>
              </a:rPr>
              <a:t>对抗防御 (FGM)</a:t>
            </a:r>
            <a:r>
              <a:rPr sz="1400" b="0">
                <a:solidFill>
                  <a:srgbClr val="334155"/>
                </a:solidFill>
                <a:latin typeface="Microsoft YaHei"/>
              </a:rPr>
              <a:t>：对隐藏表征施加轻微扰动（</a:t>
            </a:r>
            <a:r>
              <a:rPr sz="1400" b="1">
                <a:solidFill>
                  <a:srgbClr val="1D4ED8"/>
                </a:solidFill>
                <a:latin typeface="Consolas"/>
              </a:rPr>
              <a:t>epsilon=0.1</a:t>
            </a:r>
            <a:r>
              <a:rPr sz="1400" b="0">
                <a:solidFill>
                  <a:srgbClr val="334155"/>
                </a:solidFill>
                <a:latin typeface="Microsoft YaHei"/>
              </a:rPr>
              <a:t>），缓解过拟合。
• </a:t>
            </a:r>
            <a:r>
              <a:rPr sz="1400" b="1">
                <a:solidFill>
                  <a:srgbClr val="334155"/>
                </a:solidFill>
                <a:latin typeface="Microsoft YaHei"/>
              </a:rPr>
              <a:t>滑动均值 (EMA)</a:t>
            </a:r>
            <a:r>
              <a:rPr sz="1400" b="0">
                <a:solidFill>
                  <a:srgbClr val="334155"/>
                </a:solidFill>
                <a:latin typeface="Microsoft YaHei"/>
              </a:rPr>
              <a:t>：在权重更新中应用 </a:t>
            </a:r>
            <a:r>
              <a:rPr sz="1400" b="1">
                <a:solidFill>
                  <a:srgbClr val="1D4ED8"/>
                </a:solidFill>
                <a:latin typeface="Consolas"/>
              </a:rPr>
              <a:t>0.999</a:t>
            </a:r>
            <a:r>
              <a:rPr sz="1400" b="0">
                <a:solidFill>
                  <a:srgbClr val="334155"/>
                </a:solidFill>
                <a:latin typeface="Microsoft YaHei"/>
              </a:rPr>
              <a:t> 衰减，平滑噪音。
• </a:t>
            </a:r>
            <a:r>
              <a:rPr sz="1400" b="1">
                <a:solidFill>
                  <a:srgbClr val="334155"/>
                </a:solidFill>
                <a:latin typeface="Microsoft YaHei"/>
              </a:rPr>
              <a:t>检查点优选</a:t>
            </a:r>
            <a:r>
              <a:rPr sz="1400" b="0">
                <a:solidFill>
                  <a:srgbClr val="334155"/>
                </a:solidFill>
                <a:latin typeface="Microsoft YaHei"/>
              </a:rPr>
              <a:t>：保留 dev cF1 前 3 佳的最佳模型进行无偏评估。</a:t>
            </a:r>
          </a:p>
        </p:txBody>
      </p:sp>
      <p:sp>
        <p:nvSpPr>
          <p:cNvPr id="14" name="TextBox 13"/>
          <p:cNvSpPr txBox="1"/>
          <p:nvPr/>
        </p:nvSpPr>
        <p:spPr>
          <a:xfrm>
            <a:off x="502920" y="6400800"/>
            <a:ext cx="11155680" cy="320040"/>
          </a:xfrm>
          <a:prstGeom prst="rect">
            <a:avLst/>
          </a:prstGeom>
          <a:noFill/>
        </p:spPr>
        <p:txBody>
          <a:bodyPr wrap="square" lIns="0" rIns="0" tIns="25400" bIns="25400">
            <a:spAutoFit/>
          </a:bodyPr>
          <a:lstStyle/>
          <a:p>
            <a:pPr algn="l"/>
            <a:r>
              <a:rPr sz="1150" b="0">
                <a:solidFill>
                  <a:srgbClr val="64748B"/>
                </a:solidFill>
                <a:latin typeface="Microsoft YaHei"/>
              </a:rPr>
              <a:t>相关文献: Kuhn (1955) The Hungarian method; Carion et al. (DETR, ECCV 2020); Miyato et al. (Adversarial, ICLR 2017)</a:t>
            </a:r>
          </a:p>
        </p:txBody>
      </p:sp>
      <p:sp>
        <p:nvSpPr>
          <p:cNvPr id="15" name="TextBox 14"/>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数据层自定义 / DATA-AWARE AUGMENTATION &amp; TRANSFER</a:t>
            </a:r>
          </a:p>
        </p:txBody>
      </p:sp>
      <p:sp>
        <p:nvSpPr>
          <p:cNvPr id="3" name="TextBox 2"/>
          <p:cNvSpPr txBox="1"/>
          <p:nvPr/>
        </p:nvSpPr>
        <p:spPr>
          <a:xfrm>
            <a:off x="502920" y="676656"/>
            <a:ext cx="11155680" cy="868680"/>
          </a:xfrm>
          <a:prstGeom prst="rect">
            <a:avLst/>
          </a:prstGeom>
          <a:noFill/>
        </p:spPr>
        <p:txBody>
          <a:bodyPr wrap="square" lIns="0" rIns="0" tIns="25400" bIns="25400">
            <a:spAutoFit/>
          </a:bodyPr>
          <a:lstStyle/>
          <a:p>
            <a:pPr algn="l"/>
            <a:r>
              <a:rPr sz="2800" b="1">
                <a:solidFill>
                  <a:srgbClr val="0F172A"/>
                </a:solidFill>
                <a:latin typeface="Microsoft YaHei"/>
              </a:rPr>
              <a:t>基于回译验证、COMET 过滤与源语跨域迁移策略</a:t>
            </a:r>
          </a:p>
        </p:txBody>
      </p:sp>
      <p:sp>
        <p:nvSpPr>
          <p:cNvPr id="4" name="Rectangle 3"/>
          <p:cNvSpPr/>
          <p:nvPr/>
        </p:nvSpPr>
        <p:spPr>
          <a:xfrm>
            <a:off x="502920" y="1417320"/>
            <a:ext cx="111556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5303520" cy="4572000"/>
          </a:xfrm>
          <a:prstGeom prst="roundRect">
            <a:avLst>
              <a:gd name="adj" fmla="val 5000"/>
            </a:avLst>
          </a:prstGeom>
          <a:solidFill>
            <a:srgbClr val="D6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37360"/>
            <a:ext cx="4846320" cy="411480"/>
          </a:xfrm>
          <a:prstGeom prst="rect">
            <a:avLst/>
          </a:prstGeom>
          <a:noFill/>
        </p:spPr>
        <p:txBody>
          <a:bodyPr wrap="square" lIns="0" rIns="0" tIns="25400" bIns="25400">
            <a:spAutoFit/>
          </a:bodyPr>
          <a:lstStyle/>
          <a:p>
            <a:pPr algn="l"/>
            <a:r>
              <a:rPr sz="1800" b="1">
                <a:solidFill>
                  <a:srgbClr val="047857"/>
                </a:solidFill>
                <a:latin typeface="Microsoft YaHei"/>
              </a:rPr>
              <a:t>高质量文本增强：回译验证与 COMET 过滤</a:t>
            </a:r>
          </a:p>
        </p:txBody>
      </p:sp>
      <p:sp>
        <p:nvSpPr>
          <p:cNvPr id="7" name="TextBox 6"/>
          <p:cNvSpPr txBox="1"/>
          <p:nvPr/>
        </p:nvSpPr>
        <p:spPr>
          <a:xfrm>
            <a:off x="731520" y="2194560"/>
            <a:ext cx="4846320" cy="3200400"/>
          </a:xfrm>
          <a:prstGeom prst="rect">
            <a:avLst/>
          </a:prstGeom>
          <a:noFill/>
        </p:spPr>
        <p:txBody>
          <a:bodyPr wrap="square" lIns="0" rIns="0" tIns="0" bIns="0">
            <a:spAutoFit/>
          </a:bodyPr>
          <a:lstStyle/>
          <a:p>
            <a:pPr>
              <a:lnSpc>
                <a:spcPct val="110000"/>
              </a:lnSpc>
              <a:spcBef>
                <a:spcPts val="0"/>
              </a:spcBef>
              <a:spcAft>
                <a:spcPts val="1500"/>
              </a:spcAft>
            </a:pPr>
            <a:r>
              <a:rPr sz="1450" b="1">
                <a:solidFill>
                  <a:srgbClr val="10B981"/>
                </a:solidFill>
                <a:latin typeface="Microsoft YaHei"/>
              </a:rPr>
              <a:t>•  </a:t>
            </a:r>
            <a:r>
              <a:rPr sz="1450" b="1">
                <a:solidFill>
                  <a:srgbClr val="334155"/>
                </a:solidFill>
                <a:latin typeface="Microsoft YaHei"/>
              </a:rPr>
              <a:t>多枢轴回译 (BT)</a:t>
            </a:r>
            <a:r>
              <a:rPr sz="1450" b="0">
                <a:solidFill>
                  <a:srgbClr val="334155"/>
                </a:solidFill>
                <a:latin typeface="Microsoft YaHei"/>
              </a:rPr>
              <a:t>：利用德、法、中、俄等多路径语言做中间枢轴。最关键的是</a:t>
            </a:r>
            <a:r>
              <a:rPr sz="1450" b="1">
                <a:solidFill>
                  <a:srgbClr val="334155"/>
                </a:solidFill>
                <a:latin typeface="Microsoft YaHei"/>
              </a:rPr>
              <a:t>子串验证机制</a:t>
            </a:r>
            <a:r>
              <a:rPr sz="1450" b="0">
                <a:solidFill>
                  <a:srgbClr val="334155"/>
                </a:solidFill>
                <a:latin typeface="Microsoft YaHei"/>
              </a:rPr>
              <a:t>——只有当原始标签中的 Aspect/Opinion 子串在回译句子中被完整定位时才保留标签，拒绝漂移数据。</a:t>
            </a:r>
          </a:p>
          <a:p>
            <a:pPr>
              <a:lnSpc>
                <a:spcPct val="110000"/>
              </a:lnSpc>
              <a:spcBef>
                <a:spcPts val="0"/>
              </a:spcBef>
              <a:spcAft>
                <a:spcPts val="1500"/>
              </a:spcAft>
            </a:pPr>
            <a:r>
              <a:rPr sz="1450" b="1">
                <a:solidFill>
                  <a:srgbClr val="10B981"/>
                </a:solidFill>
                <a:latin typeface="Microsoft YaHei"/>
              </a:rPr>
              <a:t>•  </a:t>
            </a:r>
            <a:r>
              <a:rPr sz="1450" b="1">
                <a:solidFill>
                  <a:srgbClr val="334155"/>
                </a:solidFill>
                <a:latin typeface="Microsoft YaHei"/>
              </a:rPr>
              <a:t>大模型润色与 COMET 质量控制</a:t>
            </a:r>
            <a:r>
              <a:rPr sz="1450" b="0">
                <a:solidFill>
                  <a:srgbClr val="334155"/>
                </a:solidFill>
                <a:latin typeface="Microsoft YaHei"/>
              </a:rPr>
              <a:t>：使用 DeepSeek 润色句子，并采用 </a:t>
            </a:r>
            <a:r>
              <a:rPr sz="1450" b="1">
                <a:solidFill>
                  <a:srgbClr val="1D4ED8"/>
                </a:solidFill>
                <a:latin typeface="Consolas"/>
              </a:rPr>
              <a:t>COMET-Kiwi</a:t>
            </a:r>
            <a:r>
              <a:rPr sz="1450" b="0">
                <a:solidFill>
                  <a:srgbClr val="334155"/>
                </a:solidFill>
                <a:latin typeface="Microsoft YaHei"/>
              </a:rPr>
              <a:t> 进行质量评估。发现 </a:t>
            </a:r>
            <a:r>
              <a:rPr sz="1450" b="1">
                <a:solidFill>
                  <a:srgbClr val="334155"/>
                </a:solidFill>
                <a:latin typeface="Microsoft YaHei"/>
              </a:rPr>
              <a:t>COMET 过滤门槛存在“甜点区” (0.96)</a:t>
            </a:r>
            <a:r>
              <a:rPr sz="1450" b="0">
                <a:solidFill>
                  <a:srgbClr val="334155"/>
                </a:solidFill>
                <a:latin typeface="Microsoft YaHei"/>
              </a:rPr>
              <a:t>，门槛过低引入噪声，过高（如0.965）则导致训练量骤减出现欠拟合。</a:t>
            </a:r>
          </a:p>
        </p:txBody>
      </p:sp>
      <p:sp>
        <p:nvSpPr>
          <p:cNvPr id="8" name="Rounded Rectangle 7"/>
          <p:cNvSpPr/>
          <p:nvPr/>
        </p:nvSpPr>
        <p:spPr>
          <a:xfrm>
            <a:off x="6172200" y="1554480"/>
            <a:ext cx="5486400" cy="4572000"/>
          </a:xfrm>
          <a:prstGeom prst="roundRect">
            <a:avLst>
              <a:gd name="adj" fmla="val 5000"/>
            </a:avLst>
          </a:prstGeom>
          <a:solidFill>
            <a:srgbClr val="DE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37360"/>
            <a:ext cx="5029200" cy="411480"/>
          </a:xfrm>
          <a:prstGeom prst="rect">
            <a:avLst/>
          </a:prstGeom>
          <a:noFill/>
        </p:spPr>
        <p:txBody>
          <a:bodyPr wrap="square" lIns="0" rIns="0" tIns="25400" bIns="25400">
            <a:spAutoFit/>
          </a:bodyPr>
          <a:lstStyle/>
          <a:p>
            <a:pPr algn="l"/>
            <a:r>
              <a:rPr sz="1800" b="1">
                <a:solidFill>
                  <a:srgbClr val="1D4ED8"/>
                </a:solidFill>
                <a:latin typeface="Microsoft YaHei"/>
              </a:rPr>
              <a:t>跨语言热启动迁移 (Cross-lingual Transfer)</a:t>
            </a:r>
          </a:p>
        </p:txBody>
      </p:sp>
      <p:sp>
        <p:nvSpPr>
          <p:cNvPr id="10" name="TextBox 9"/>
          <p:cNvSpPr txBox="1"/>
          <p:nvPr/>
        </p:nvSpPr>
        <p:spPr>
          <a:xfrm>
            <a:off x="6400800" y="2194560"/>
            <a:ext cx="5029200" cy="3200400"/>
          </a:xfrm>
          <a:prstGeom prst="rect">
            <a:avLst/>
          </a:prstGeom>
          <a:noFill/>
        </p:spPr>
        <p:txBody>
          <a:bodyPr wrap="square" lIns="0" rIns="0" tIns="0" bIns="0">
            <a:spAutoFit/>
          </a:bodyPr>
          <a:lstStyle/>
          <a:p>
            <a:pPr>
              <a:lnSpc>
                <a:spcPct val="110000"/>
              </a:lnSpc>
              <a:spcBef>
                <a:spcPts val="0"/>
              </a:spcBef>
              <a:spcAft>
                <a:spcPts val="1500"/>
              </a:spcAft>
            </a:pPr>
            <a:r>
              <a:rPr sz="1450" b="1">
                <a:solidFill>
                  <a:srgbClr val="3B82F6"/>
                </a:solidFill>
                <a:latin typeface="Microsoft YaHei"/>
              </a:rPr>
              <a:t>•  </a:t>
            </a:r>
            <a:r>
              <a:rPr sz="1450" b="1">
                <a:solidFill>
                  <a:srgbClr val="334155"/>
                </a:solidFill>
                <a:latin typeface="Microsoft YaHei"/>
              </a:rPr>
              <a:t>寻找最佳中转源</a:t>
            </a:r>
            <a:r>
              <a:rPr sz="1450" b="0">
                <a:solidFill>
                  <a:srgbClr val="334155"/>
                </a:solidFill>
                <a:latin typeface="Microsoft YaHei"/>
              </a:rPr>
              <a:t>：分析 8 大数据集，中文餐饮 (</a:t>
            </a:r>
            <a:r>
              <a:rPr sz="1450" b="1">
                <a:solidFill>
                  <a:srgbClr val="1D4ED8"/>
                </a:solidFill>
                <a:latin typeface="Consolas"/>
              </a:rPr>
              <a:t>zho_restaurant</a:t>
            </a:r>
            <a:r>
              <a:rPr sz="1450" b="0">
                <a:solidFill>
                  <a:srgbClr val="334155"/>
                </a:solidFill>
                <a:latin typeface="Microsoft YaHei"/>
              </a:rPr>
              <a:t>) 包含最多的训练句子 (</a:t>
            </a:r>
            <a:r>
              <a:rPr sz="1450" b="1">
                <a:solidFill>
                  <a:srgbClr val="334155"/>
                </a:solidFill>
                <a:latin typeface="Microsoft YaHei"/>
              </a:rPr>
              <a:t>6,050 条</a:t>
            </a:r>
            <a:r>
              <a:rPr sz="1450" b="0">
                <a:solidFill>
                  <a:srgbClr val="334155"/>
                </a:solidFill>
                <a:latin typeface="Microsoft YaHei"/>
              </a:rPr>
              <a:t>)，是语义与关联知识最充沛的微调源头。</a:t>
            </a:r>
          </a:p>
          <a:p>
            <a:pPr>
              <a:lnSpc>
                <a:spcPct val="110000"/>
              </a:lnSpc>
              <a:spcBef>
                <a:spcPts val="0"/>
              </a:spcBef>
              <a:spcAft>
                <a:spcPts val="1500"/>
              </a:spcAft>
            </a:pPr>
            <a:r>
              <a:rPr sz="1450" b="1">
                <a:solidFill>
                  <a:srgbClr val="3B82F6"/>
                </a:solidFill>
                <a:latin typeface="Microsoft YaHei"/>
              </a:rPr>
              <a:t>•  </a:t>
            </a:r>
            <a:r>
              <a:rPr sz="1450" b="1">
                <a:solidFill>
                  <a:srgbClr val="334155"/>
                </a:solidFill>
                <a:latin typeface="Microsoft YaHei"/>
              </a:rPr>
              <a:t>跨语言源模型引导</a:t>
            </a:r>
            <a:r>
              <a:rPr sz="1450" b="0">
                <a:solidFill>
                  <a:srgbClr val="334155"/>
                </a:solidFill>
                <a:latin typeface="Microsoft YaHei"/>
              </a:rPr>
              <a:t>：使用在中文餐饮上微调的最优检查点，作为非结构化低资源语言 (Russian, Tatar, Ukrainian) 的</a:t>
            </a:r>
            <a:r>
              <a:rPr sz="1450" b="1">
                <a:solidFill>
                  <a:srgbClr val="334155"/>
                </a:solidFill>
                <a:latin typeface="Microsoft YaHei"/>
              </a:rPr>
              <a:t>热启动参数</a:t>
            </a:r>
            <a:r>
              <a:rPr sz="1450" b="0">
                <a:solidFill>
                  <a:srgbClr val="334155"/>
                </a:solidFill>
                <a:latin typeface="Microsoft YaHei"/>
              </a:rPr>
              <a:t>。结果证实，这种源迁移对不均衡小样本的提升极为巨大。</a:t>
            </a:r>
          </a:p>
        </p:txBody>
      </p:sp>
      <p:sp>
        <p:nvSpPr>
          <p:cNvPr id="11" name="TextBox 10"/>
          <p:cNvSpPr txBox="1"/>
          <p:nvPr/>
        </p:nvSpPr>
        <p:spPr>
          <a:xfrm>
            <a:off x="502920" y="6400800"/>
            <a:ext cx="11155680" cy="320040"/>
          </a:xfrm>
          <a:prstGeom prst="rect">
            <a:avLst/>
          </a:prstGeom>
          <a:noFill/>
        </p:spPr>
        <p:txBody>
          <a:bodyPr wrap="square" lIns="0" rIns="0" tIns="25400" bIns="25400">
            <a:spAutoFit/>
          </a:bodyPr>
          <a:lstStyle/>
          <a:p>
            <a:pPr algn="l"/>
            <a:r>
              <a:rPr sz="1150" b="0">
                <a:solidFill>
                  <a:srgbClr val="64748B"/>
                </a:solidFill>
                <a:latin typeface="Microsoft YaHei"/>
              </a:rPr>
              <a:t>文献来源: Sennrich et al. (Improving NMT with Monolingual Data, ACL 2016); Rei et al. (CometKiwi, WMT 2022)</a:t>
            </a:r>
          </a:p>
        </p:txBody>
      </p:sp>
      <p:sp>
        <p:nvSpPr>
          <p:cNvPr id="12" name="TextBox 11"/>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因地制宜配置 / PER-DATASET CONFIGURATION</a:t>
            </a:r>
          </a:p>
        </p:txBody>
      </p:sp>
      <p:sp>
        <p:nvSpPr>
          <p:cNvPr id="3" name="TextBox 2"/>
          <p:cNvSpPr txBox="1"/>
          <p:nvPr/>
        </p:nvSpPr>
        <p:spPr>
          <a:xfrm>
            <a:off x="502920" y="676656"/>
            <a:ext cx="11155680" cy="868680"/>
          </a:xfrm>
          <a:prstGeom prst="rect">
            <a:avLst/>
          </a:prstGeom>
          <a:noFill/>
        </p:spPr>
        <p:txBody>
          <a:bodyPr wrap="square" lIns="0" rIns="0" tIns="25400" bIns="25400">
            <a:spAutoFit/>
          </a:bodyPr>
          <a:lstStyle/>
          <a:p>
            <a:pPr algn="l"/>
            <a:r>
              <a:rPr sz="2800" b="1">
                <a:solidFill>
                  <a:srgbClr val="0F172A"/>
                </a:solidFill>
                <a:latin typeface="Microsoft YaHei"/>
              </a:rPr>
              <a:t>语言特定的编码器与定制化推理配置</a:t>
            </a:r>
          </a:p>
        </p:txBody>
      </p:sp>
      <p:sp>
        <p:nvSpPr>
          <p:cNvPr id="4" name="Rectangle 3"/>
          <p:cNvSpPr/>
          <p:nvPr/>
        </p:nvSpPr>
        <p:spPr>
          <a:xfrm>
            <a:off x="502920" y="1417320"/>
            <a:ext cx="111556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11155680" cy="1078992"/>
          </a:xfrm>
          <a:prstGeom prst="roundRect">
            <a:avLst>
              <a:gd name="adj" fmla="val 4000"/>
            </a:avLst>
          </a:prstGeom>
          <a:solidFill>
            <a:srgbClr val="DE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54480"/>
            <a:ext cx="73152" cy="107899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64207"/>
            <a:ext cx="2926080" cy="320040"/>
          </a:xfrm>
          <a:prstGeom prst="rect">
            <a:avLst/>
          </a:prstGeom>
          <a:noFill/>
        </p:spPr>
        <p:txBody>
          <a:bodyPr wrap="square" lIns="0" rIns="0" tIns="25400" bIns="25400">
            <a:spAutoFit/>
          </a:bodyPr>
          <a:lstStyle/>
          <a:p>
            <a:pPr algn="l"/>
            <a:r>
              <a:rPr sz="1600" b="1">
                <a:solidFill>
                  <a:srgbClr val="0F172A"/>
                </a:solidFill>
                <a:latin typeface="Microsoft YaHei"/>
              </a:rPr>
              <a:t>日文酒店 (jpn_hotel)</a:t>
            </a:r>
          </a:p>
        </p:txBody>
      </p:sp>
      <p:sp>
        <p:nvSpPr>
          <p:cNvPr id="8" name="Rounded Rectangle 7"/>
          <p:cNvSpPr/>
          <p:nvPr/>
        </p:nvSpPr>
        <p:spPr>
          <a:xfrm>
            <a:off x="685800" y="2029967"/>
            <a:ext cx="2560320" cy="256032"/>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spc="60">
                <a:solidFill>
                  <a:srgbClr val="FFFFFF"/>
                </a:solidFill>
                <a:latin typeface="Microsoft YaHei"/>
              </a:rPr>
              <a:t>Language-Specific Encoder</a:t>
            </a:r>
          </a:p>
        </p:txBody>
      </p:sp>
      <p:sp>
        <p:nvSpPr>
          <p:cNvPr id="9" name="TextBox 8"/>
          <p:cNvSpPr txBox="1"/>
          <p:nvPr/>
        </p:nvSpPr>
        <p:spPr>
          <a:xfrm>
            <a:off x="3474720" y="1664207"/>
            <a:ext cx="7498079" cy="320040"/>
          </a:xfrm>
          <a:prstGeom prst="rect">
            <a:avLst/>
          </a:prstGeom>
          <a:noFill/>
        </p:spPr>
        <p:txBody>
          <a:bodyPr wrap="square" lIns="0" rIns="0" tIns="25400" bIns="25400">
            <a:spAutoFit/>
          </a:bodyPr>
          <a:lstStyle/>
          <a:p>
            <a:pPr algn="l"/>
            <a:r>
              <a:rPr sz="1350" b="1">
                <a:solidFill>
                  <a:srgbClr val="1D4ED8"/>
                </a:solidFill>
                <a:latin typeface="Microsoft YaHei"/>
              </a:rPr>
              <a:t>推荐模型：</a:t>
            </a:r>
            <a:r>
              <a:rPr sz="1350" b="1">
                <a:solidFill>
                  <a:srgbClr val="1D4ED8"/>
                </a:solidFill>
                <a:latin typeface="Consolas"/>
              </a:rPr>
              <a:t>ku-nlp/deberta-v2-large-japanese</a:t>
            </a:r>
          </a:p>
        </p:txBody>
      </p:sp>
      <p:sp>
        <p:nvSpPr>
          <p:cNvPr id="10" name="TextBox 9"/>
          <p:cNvSpPr txBox="1"/>
          <p:nvPr/>
        </p:nvSpPr>
        <p:spPr>
          <a:xfrm>
            <a:off x="3474720" y="1965960"/>
            <a:ext cx="7772400" cy="594360"/>
          </a:xfrm>
          <a:prstGeom prst="rect">
            <a:avLst/>
          </a:prstGeom>
          <a:noFill/>
        </p:spPr>
        <p:txBody>
          <a:bodyPr wrap="square" lIns="0" rIns="0" tIns="25400" bIns="25400">
            <a:spAutoFit/>
          </a:bodyPr>
          <a:lstStyle/>
          <a:p>
            <a:pPr algn="l"/>
            <a:r>
              <a:rPr sz="1250" b="0">
                <a:solidFill>
                  <a:srgbClr val="334155"/>
                </a:solidFill>
                <a:latin typeface="Microsoft YaHei"/>
              </a:rPr>
              <a:t>针对日文形态学特点引入。结合 </a:t>
            </a:r>
            <a:r>
              <a:rPr sz="1250" b="1">
                <a:solidFill>
                  <a:srgbClr val="334155"/>
                </a:solidFill>
                <a:latin typeface="Microsoft YaHei"/>
              </a:rPr>
              <a:t>MeCab 分词器辅助进行后处理</a:t>
            </a:r>
            <a:r>
              <a:rPr sz="1250" b="0">
                <a:solidFill>
                  <a:srgbClr val="334155"/>
                </a:solidFill>
                <a:latin typeface="Microsoft YaHei"/>
              </a:rPr>
              <a:t>，裁剪掉预测 Span 末尾多余的助词和助动词，实现边界精准对齐。</a:t>
            </a:r>
          </a:p>
        </p:txBody>
      </p:sp>
      <p:sp>
        <p:nvSpPr>
          <p:cNvPr id="11" name="Rounded Rectangle 10"/>
          <p:cNvSpPr/>
          <p:nvPr/>
        </p:nvSpPr>
        <p:spPr>
          <a:xfrm>
            <a:off x="502920" y="2743200"/>
            <a:ext cx="11155680" cy="1078992"/>
          </a:xfrm>
          <a:prstGeom prst="roundRect">
            <a:avLst>
              <a:gd name="adj" fmla="val 4000"/>
            </a:avLst>
          </a:prstGeom>
          <a:solidFill>
            <a:srgbClr val="D6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743200"/>
            <a:ext cx="73152" cy="10789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852928"/>
            <a:ext cx="2926080" cy="320040"/>
          </a:xfrm>
          <a:prstGeom prst="rect">
            <a:avLst/>
          </a:prstGeom>
          <a:noFill/>
        </p:spPr>
        <p:txBody>
          <a:bodyPr wrap="square" lIns="0" rIns="0" tIns="25400" bIns="25400">
            <a:spAutoFit/>
          </a:bodyPr>
          <a:lstStyle/>
          <a:p>
            <a:pPr algn="l"/>
            <a:r>
              <a:rPr sz="1600" b="1">
                <a:solidFill>
                  <a:srgbClr val="0F172A"/>
                </a:solidFill>
                <a:latin typeface="Microsoft YaHei"/>
              </a:rPr>
              <a:t>中文电脑 (zho_laptop)</a:t>
            </a:r>
          </a:p>
        </p:txBody>
      </p:sp>
      <p:sp>
        <p:nvSpPr>
          <p:cNvPr id="14" name="Rounded Rectangle 13"/>
          <p:cNvSpPr/>
          <p:nvPr/>
        </p:nvSpPr>
        <p:spPr>
          <a:xfrm>
            <a:off x="685800" y="3218688"/>
            <a:ext cx="2560320" cy="256032"/>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spc="60">
                <a:solidFill>
                  <a:srgbClr val="FFFFFF"/>
                </a:solidFill>
                <a:latin typeface="Microsoft YaHei"/>
              </a:rPr>
              <a:t>Domain &amp; Pretraining Match</a:t>
            </a:r>
          </a:p>
        </p:txBody>
      </p:sp>
      <p:sp>
        <p:nvSpPr>
          <p:cNvPr id="15" name="TextBox 14"/>
          <p:cNvSpPr txBox="1"/>
          <p:nvPr/>
        </p:nvSpPr>
        <p:spPr>
          <a:xfrm>
            <a:off x="3474720" y="2852928"/>
            <a:ext cx="7498079" cy="320040"/>
          </a:xfrm>
          <a:prstGeom prst="rect">
            <a:avLst/>
          </a:prstGeom>
          <a:noFill/>
        </p:spPr>
        <p:txBody>
          <a:bodyPr wrap="square" lIns="0" rIns="0" tIns="25400" bIns="25400">
            <a:spAutoFit/>
          </a:bodyPr>
          <a:lstStyle/>
          <a:p>
            <a:pPr algn="l"/>
            <a:r>
              <a:rPr sz="1350" b="1">
                <a:solidFill>
                  <a:srgbClr val="1D4ED8"/>
                </a:solidFill>
                <a:latin typeface="Microsoft YaHei"/>
              </a:rPr>
              <a:t>推荐模型：</a:t>
            </a:r>
            <a:r>
              <a:rPr sz="1350" b="1">
                <a:solidFill>
                  <a:srgbClr val="1D4ED8"/>
                </a:solidFill>
                <a:latin typeface="Consolas"/>
              </a:rPr>
              <a:t>hfl/chinese-roberta-wwm-ext-large</a:t>
            </a:r>
          </a:p>
        </p:txBody>
      </p:sp>
      <p:sp>
        <p:nvSpPr>
          <p:cNvPr id="16" name="TextBox 15"/>
          <p:cNvSpPr txBox="1"/>
          <p:nvPr/>
        </p:nvSpPr>
        <p:spPr>
          <a:xfrm>
            <a:off x="3474720" y="3154680"/>
            <a:ext cx="7772400" cy="594360"/>
          </a:xfrm>
          <a:prstGeom prst="rect">
            <a:avLst/>
          </a:prstGeom>
          <a:noFill/>
        </p:spPr>
        <p:txBody>
          <a:bodyPr wrap="square" lIns="0" rIns="0" tIns="25400" bIns="25400">
            <a:spAutoFit/>
          </a:bodyPr>
          <a:lstStyle/>
          <a:p>
            <a:pPr algn="l"/>
            <a:r>
              <a:rPr sz="1250" b="0">
                <a:solidFill>
                  <a:srgbClr val="334155"/>
                </a:solidFill>
                <a:latin typeface="Microsoft YaHei"/>
              </a:rPr>
              <a:t>中文特定 Large 预训练，捕获细腻的硬件专有名词。使用 </a:t>
            </a:r>
            <a:r>
              <a:rPr sz="1250" b="1">
                <a:solidFill>
                  <a:srgbClr val="334155"/>
                </a:solidFill>
                <a:latin typeface="Microsoft YaHei"/>
              </a:rPr>
              <a:t>top-k=0.10</a:t>
            </a:r>
            <a:r>
              <a:rPr sz="1250" b="0">
                <a:solidFill>
                  <a:srgbClr val="334155"/>
                </a:solidFill>
                <a:latin typeface="Microsoft YaHei"/>
              </a:rPr>
              <a:t> 解码控制，大幅缓解由于电脑领域词汇多样性带来的 False Negatives。</a:t>
            </a:r>
          </a:p>
        </p:txBody>
      </p:sp>
      <p:sp>
        <p:nvSpPr>
          <p:cNvPr id="17" name="Rounded Rectangle 16"/>
          <p:cNvSpPr/>
          <p:nvPr/>
        </p:nvSpPr>
        <p:spPr>
          <a:xfrm>
            <a:off x="502920" y="3931920"/>
            <a:ext cx="11155680" cy="1078992"/>
          </a:xfrm>
          <a:prstGeom prst="roundRect">
            <a:avLst>
              <a:gd name="adj" fmla="val 4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931920"/>
            <a:ext cx="73152" cy="107899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041648"/>
            <a:ext cx="2926080" cy="320040"/>
          </a:xfrm>
          <a:prstGeom prst="rect">
            <a:avLst/>
          </a:prstGeom>
          <a:noFill/>
        </p:spPr>
        <p:txBody>
          <a:bodyPr wrap="square" lIns="0" rIns="0" tIns="25400" bIns="25400">
            <a:spAutoFit/>
          </a:bodyPr>
          <a:lstStyle/>
          <a:p>
            <a:pPr algn="l"/>
            <a:r>
              <a:rPr sz="1600" b="1">
                <a:solidFill>
                  <a:srgbClr val="0F172A"/>
                </a:solidFill>
                <a:latin typeface="Microsoft YaHei"/>
              </a:rPr>
              <a:t>俄文餐饮 (rus_restaurant)</a:t>
            </a:r>
          </a:p>
        </p:txBody>
      </p:sp>
      <p:sp>
        <p:nvSpPr>
          <p:cNvPr id="20" name="Rounded Rectangle 19"/>
          <p:cNvSpPr/>
          <p:nvPr/>
        </p:nvSpPr>
        <p:spPr>
          <a:xfrm>
            <a:off x="685800" y="4407408"/>
            <a:ext cx="2560320" cy="256032"/>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spc="60">
                <a:solidFill>
                  <a:srgbClr val="FFFFFF"/>
                </a:solidFill>
                <a:latin typeface="Microsoft YaHei"/>
              </a:rPr>
              <a:t>Encoder Scaling</a:t>
            </a:r>
          </a:p>
        </p:txBody>
      </p:sp>
      <p:sp>
        <p:nvSpPr>
          <p:cNvPr id="21" name="TextBox 20"/>
          <p:cNvSpPr txBox="1"/>
          <p:nvPr/>
        </p:nvSpPr>
        <p:spPr>
          <a:xfrm>
            <a:off x="3474720" y="4041648"/>
            <a:ext cx="7498079" cy="320040"/>
          </a:xfrm>
          <a:prstGeom prst="rect">
            <a:avLst/>
          </a:prstGeom>
          <a:noFill/>
        </p:spPr>
        <p:txBody>
          <a:bodyPr wrap="square" lIns="0" rIns="0" tIns="25400" bIns="25400">
            <a:spAutoFit/>
          </a:bodyPr>
          <a:lstStyle/>
          <a:p>
            <a:pPr algn="l"/>
            <a:r>
              <a:rPr sz="1350" b="1">
                <a:solidFill>
                  <a:srgbClr val="1D4ED8"/>
                </a:solidFill>
                <a:latin typeface="Microsoft YaHei"/>
              </a:rPr>
              <a:t>推荐模型：</a:t>
            </a:r>
            <a:r>
              <a:rPr sz="1350" b="1">
                <a:solidFill>
                  <a:srgbClr val="1D4ED8"/>
                </a:solidFill>
                <a:latin typeface="Consolas"/>
              </a:rPr>
              <a:t>xlm-roberta-large</a:t>
            </a:r>
          </a:p>
        </p:txBody>
      </p:sp>
      <p:sp>
        <p:nvSpPr>
          <p:cNvPr id="22" name="TextBox 21"/>
          <p:cNvSpPr txBox="1"/>
          <p:nvPr/>
        </p:nvSpPr>
        <p:spPr>
          <a:xfrm>
            <a:off x="3474720" y="4343400"/>
            <a:ext cx="7772400" cy="594360"/>
          </a:xfrm>
          <a:prstGeom prst="rect">
            <a:avLst/>
          </a:prstGeom>
          <a:noFill/>
        </p:spPr>
        <p:txBody>
          <a:bodyPr wrap="square" lIns="0" rIns="0" tIns="25400" bIns="25400">
            <a:spAutoFit/>
          </a:bodyPr>
          <a:lstStyle/>
          <a:p>
            <a:pPr algn="l"/>
            <a:r>
              <a:rPr sz="1250" b="0">
                <a:solidFill>
                  <a:srgbClr val="334155"/>
                </a:solidFill>
                <a:latin typeface="Microsoft YaHei"/>
              </a:rPr>
              <a:t>出人意料的是，俄文专用 ruRoberta 效果不如多语言 </a:t>
            </a:r>
            <a:r>
              <a:rPr sz="1250" b="1">
                <a:solidFill>
                  <a:srgbClr val="1D4ED8"/>
                </a:solidFill>
                <a:latin typeface="Consolas"/>
              </a:rPr>
              <a:t>XLM-R-large</a:t>
            </a:r>
            <a:r>
              <a:rPr sz="1250" b="0">
                <a:solidFill>
                  <a:srgbClr val="334155"/>
                </a:solidFill>
                <a:latin typeface="Microsoft YaHei"/>
              </a:rPr>
              <a:t>。说明多语言模型的</a:t>
            </a:r>
            <a:r>
              <a:rPr sz="1250" b="1">
                <a:solidFill>
                  <a:srgbClr val="334155"/>
                </a:solidFill>
                <a:latin typeface="Microsoft YaHei"/>
              </a:rPr>
              <a:t>跨语迁移泛化能力</a:t>
            </a:r>
            <a:r>
              <a:rPr sz="1250" b="0">
                <a:solidFill>
                  <a:srgbClr val="334155"/>
                </a:solidFill>
                <a:latin typeface="Microsoft YaHei"/>
              </a:rPr>
              <a:t>在少样本回归上优势更甚。</a:t>
            </a:r>
          </a:p>
        </p:txBody>
      </p:sp>
      <p:sp>
        <p:nvSpPr>
          <p:cNvPr id="23" name="Rounded Rectangle 22"/>
          <p:cNvSpPr/>
          <p:nvPr/>
        </p:nvSpPr>
        <p:spPr>
          <a:xfrm>
            <a:off x="502920" y="5120640"/>
            <a:ext cx="11155680" cy="1078992"/>
          </a:xfrm>
          <a:prstGeom prst="roundRect">
            <a:avLst>
              <a:gd name="adj" fmla="val 4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5120640"/>
            <a:ext cx="73152" cy="1078992"/>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230368"/>
            <a:ext cx="2926080" cy="320040"/>
          </a:xfrm>
          <a:prstGeom prst="rect">
            <a:avLst/>
          </a:prstGeom>
          <a:noFill/>
        </p:spPr>
        <p:txBody>
          <a:bodyPr wrap="square" lIns="0" rIns="0" tIns="25400" bIns="25400">
            <a:spAutoFit/>
          </a:bodyPr>
          <a:lstStyle/>
          <a:p>
            <a:pPr algn="l"/>
            <a:r>
              <a:rPr sz="1600" b="1">
                <a:solidFill>
                  <a:srgbClr val="0F172A"/>
                </a:solidFill>
                <a:latin typeface="Microsoft YaHei"/>
              </a:rPr>
              <a:t>乌克兰餐饮 (ukr_restaurant)</a:t>
            </a:r>
          </a:p>
        </p:txBody>
      </p:sp>
      <p:sp>
        <p:nvSpPr>
          <p:cNvPr id="26" name="Rounded Rectangle 25"/>
          <p:cNvSpPr/>
          <p:nvPr/>
        </p:nvSpPr>
        <p:spPr>
          <a:xfrm>
            <a:off x="685800" y="5596128"/>
            <a:ext cx="2560320" cy="256032"/>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spc="60">
                <a:solidFill>
                  <a:srgbClr val="FFFFFF"/>
                </a:solidFill>
                <a:latin typeface="Microsoft YaHei"/>
              </a:rPr>
              <a:t>Base Model + BT + Paraphrase</a:t>
            </a:r>
          </a:p>
        </p:txBody>
      </p:sp>
      <p:sp>
        <p:nvSpPr>
          <p:cNvPr id="27" name="TextBox 26"/>
          <p:cNvSpPr txBox="1"/>
          <p:nvPr/>
        </p:nvSpPr>
        <p:spPr>
          <a:xfrm>
            <a:off x="3474720" y="5230368"/>
            <a:ext cx="7498079" cy="320040"/>
          </a:xfrm>
          <a:prstGeom prst="rect">
            <a:avLst/>
          </a:prstGeom>
          <a:noFill/>
        </p:spPr>
        <p:txBody>
          <a:bodyPr wrap="square" lIns="0" rIns="0" tIns="25400" bIns="25400">
            <a:spAutoFit/>
          </a:bodyPr>
          <a:lstStyle/>
          <a:p>
            <a:pPr algn="l"/>
            <a:r>
              <a:rPr sz="1350" b="1">
                <a:solidFill>
                  <a:srgbClr val="1D4ED8"/>
                </a:solidFill>
                <a:latin typeface="Microsoft YaHei"/>
              </a:rPr>
              <a:t>推荐模型：</a:t>
            </a:r>
            <a:r>
              <a:rPr sz="1350" b="1">
                <a:solidFill>
                  <a:srgbClr val="1D4ED8"/>
                </a:solidFill>
                <a:latin typeface="Consolas"/>
              </a:rPr>
              <a:t>mdeberta-v3-base</a:t>
            </a:r>
          </a:p>
        </p:txBody>
      </p:sp>
      <p:sp>
        <p:nvSpPr>
          <p:cNvPr id="28" name="TextBox 27"/>
          <p:cNvSpPr txBox="1"/>
          <p:nvPr/>
        </p:nvSpPr>
        <p:spPr>
          <a:xfrm>
            <a:off x="3474720" y="5532120"/>
            <a:ext cx="7772400" cy="594360"/>
          </a:xfrm>
          <a:prstGeom prst="rect">
            <a:avLst/>
          </a:prstGeom>
          <a:noFill/>
        </p:spPr>
        <p:txBody>
          <a:bodyPr wrap="square" lIns="0" rIns="0" tIns="25400" bIns="25400">
            <a:spAutoFit/>
          </a:bodyPr>
          <a:lstStyle/>
          <a:p>
            <a:pPr algn="l"/>
            <a:r>
              <a:rPr sz="1250" b="0">
                <a:solidFill>
                  <a:srgbClr val="334155"/>
                </a:solidFill>
                <a:latin typeface="Microsoft YaHei"/>
              </a:rPr>
              <a:t>小语种在 Base 模型下表现同样顽强。在 </a:t>
            </a:r>
            <a:r>
              <a:rPr sz="1250" b="1">
                <a:solidFill>
                  <a:srgbClr val="334155"/>
                </a:solidFill>
                <a:latin typeface="Microsoft YaHei"/>
              </a:rPr>
              <a:t>mDeBERTa-base</a:t>
            </a:r>
            <a:r>
              <a:rPr sz="1250" b="0">
                <a:solidFill>
                  <a:srgbClr val="334155"/>
                </a:solidFill>
                <a:latin typeface="Microsoft YaHei"/>
              </a:rPr>
              <a:t> 基础上融入混合回译数据与 DeepSeek 润色，实现了泛化性能的最大化突破。</a:t>
            </a:r>
          </a:p>
        </p:txBody>
      </p:sp>
      <p:sp>
        <p:nvSpPr>
          <p:cNvPr id="29" name="TextBox 28"/>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开发集效果评测 / EXPERIMENTAL RESULTS</a:t>
            </a:r>
          </a:p>
        </p:txBody>
      </p:sp>
      <p:sp>
        <p:nvSpPr>
          <p:cNvPr id="3" name="TextBox 2"/>
          <p:cNvSpPr txBox="1"/>
          <p:nvPr/>
        </p:nvSpPr>
        <p:spPr>
          <a:xfrm>
            <a:off x="502920" y="676656"/>
            <a:ext cx="11155680" cy="868680"/>
          </a:xfrm>
          <a:prstGeom prst="rect">
            <a:avLst/>
          </a:prstGeom>
          <a:noFill/>
        </p:spPr>
        <p:txBody>
          <a:bodyPr wrap="square" lIns="0" rIns="0" tIns="25400" bIns="25400">
            <a:spAutoFit/>
          </a:bodyPr>
          <a:lstStyle/>
          <a:p>
            <a:pPr algn="l"/>
            <a:r>
              <a:rPr sz="2800" b="1">
                <a:solidFill>
                  <a:srgbClr val="0F172A"/>
                </a:solidFill>
                <a:latin typeface="Microsoft YaHei"/>
              </a:rPr>
              <a:t>在八大开发集上与官方多语言基线的对比</a:t>
            </a:r>
          </a:p>
        </p:txBody>
      </p:sp>
      <p:sp>
        <p:nvSpPr>
          <p:cNvPr id="4" name="Rectangle 3"/>
          <p:cNvSpPr/>
          <p:nvPr/>
        </p:nvSpPr>
        <p:spPr>
          <a:xfrm>
            <a:off x="502920" y="1417320"/>
            <a:ext cx="111556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11274552" cy="347472"/>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81912"/>
            <a:ext cx="2039112" cy="274320"/>
          </a:xfrm>
          <a:prstGeom prst="rect">
            <a:avLst/>
          </a:prstGeom>
          <a:noFill/>
        </p:spPr>
        <p:txBody>
          <a:bodyPr wrap="square" lIns="0" rIns="0" tIns="25400" bIns="25400">
            <a:spAutoFit/>
          </a:bodyPr>
          <a:lstStyle/>
          <a:p>
            <a:pPr algn="ctr"/>
            <a:r>
              <a:rPr sz="1100" b="1">
                <a:solidFill>
                  <a:srgbClr val="64748B"/>
                </a:solidFill>
                <a:latin typeface="Microsoft YaHei"/>
              </a:rPr>
              <a:t>测试系统 (System)</a:t>
            </a:r>
          </a:p>
        </p:txBody>
      </p:sp>
      <p:sp>
        <p:nvSpPr>
          <p:cNvPr id="7" name="TextBox 6"/>
          <p:cNvSpPr txBox="1"/>
          <p:nvPr/>
        </p:nvSpPr>
        <p:spPr>
          <a:xfrm>
            <a:off x="2679191" y="1581912"/>
            <a:ext cx="914400" cy="274320"/>
          </a:xfrm>
          <a:prstGeom prst="rect">
            <a:avLst/>
          </a:prstGeom>
          <a:noFill/>
        </p:spPr>
        <p:txBody>
          <a:bodyPr wrap="square" lIns="0" rIns="0" tIns="25400" bIns="25400">
            <a:spAutoFit/>
          </a:bodyPr>
          <a:lstStyle/>
          <a:p>
            <a:pPr algn="ctr"/>
            <a:r>
              <a:rPr sz="1100" b="1">
                <a:solidFill>
                  <a:srgbClr val="64748B"/>
                </a:solidFill>
                <a:latin typeface="Microsoft YaHei"/>
              </a:rPr>
              <a:t>Eng-R</a:t>
            </a:r>
          </a:p>
        </p:txBody>
      </p:sp>
      <p:sp>
        <p:nvSpPr>
          <p:cNvPr id="8" name="TextBox 7"/>
          <p:cNvSpPr txBox="1"/>
          <p:nvPr/>
        </p:nvSpPr>
        <p:spPr>
          <a:xfrm>
            <a:off x="3685032" y="1581912"/>
            <a:ext cx="914400" cy="274320"/>
          </a:xfrm>
          <a:prstGeom prst="rect">
            <a:avLst/>
          </a:prstGeom>
          <a:noFill/>
        </p:spPr>
        <p:txBody>
          <a:bodyPr wrap="square" lIns="0" rIns="0" tIns="25400" bIns="25400">
            <a:spAutoFit/>
          </a:bodyPr>
          <a:lstStyle/>
          <a:p>
            <a:pPr algn="ctr"/>
            <a:r>
              <a:rPr sz="1100" b="1">
                <a:solidFill>
                  <a:srgbClr val="64748B"/>
                </a:solidFill>
                <a:latin typeface="Microsoft YaHei"/>
              </a:rPr>
              <a:t>Eng-L</a:t>
            </a:r>
          </a:p>
        </p:txBody>
      </p:sp>
      <p:sp>
        <p:nvSpPr>
          <p:cNvPr id="9" name="TextBox 8"/>
          <p:cNvSpPr txBox="1"/>
          <p:nvPr/>
        </p:nvSpPr>
        <p:spPr>
          <a:xfrm>
            <a:off x="4690872" y="1581912"/>
            <a:ext cx="914400" cy="274320"/>
          </a:xfrm>
          <a:prstGeom prst="rect">
            <a:avLst/>
          </a:prstGeom>
          <a:noFill/>
        </p:spPr>
        <p:txBody>
          <a:bodyPr wrap="square" lIns="0" rIns="0" tIns="25400" bIns="25400">
            <a:spAutoFit/>
          </a:bodyPr>
          <a:lstStyle/>
          <a:p>
            <a:pPr algn="ctr"/>
            <a:r>
              <a:rPr sz="1100" b="1">
                <a:solidFill>
                  <a:srgbClr val="64748B"/>
                </a:solidFill>
                <a:latin typeface="Microsoft YaHei"/>
              </a:rPr>
              <a:t>Jpn-H</a:t>
            </a:r>
          </a:p>
        </p:txBody>
      </p:sp>
      <p:sp>
        <p:nvSpPr>
          <p:cNvPr id="10" name="TextBox 9"/>
          <p:cNvSpPr txBox="1"/>
          <p:nvPr/>
        </p:nvSpPr>
        <p:spPr>
          <a:xfrm>
            <a:off x="5696712" y="1581912"/>
            <a:ext cx="914400" cy="274320"/>
          </a:xfrm>
          <a:prstGeom prst="rect">
            <a:avLst/>
          </a:prstGeom>
          <a:noFill/>
        </p:spPr>
        <p:txBody>
          <a:bodyPr wrap="square" lIns="0" rIns="0" tIns="25400" bIns="25400">
            <a:spAutoFit/>
          </a:bodyPr>
          <a:lstStyle/>
          <a:p>
            <a:pPr algn="ctr"/>
            <a:r>
              <a:rPr sz="1100" b="1">
                <a:solidFill>
                  <a:srgbClr val="64748B"/>
                </a:solidFill>
                <a:latin typeface="Microsoft YaHei"/>
              </a:rPr>
              <a:t>Rus-R</a:t>
            </a:r>
          </a:p>
        </p:txBody>
      </p:sp>
      <p:sp>
        <p:nvSpPr>
          <p:cNvPr id="11" name="TextBox 10"/>
          <p:cNvSpPr txBox="1"/>
          <p:nvPr/>
        </p:nvSpPr>
        <p:spPr>
          <a:xfrm>
            <a:off x="6702551" y="1581912"/>
            <a:ext cx="914400" cy="274320"/>
          </a:xfrm>
          <a:prstGeom prst="rect">
            <a:avLst/>
          </a:prstGeom>
          <a:noFill/>
        </p:spPr>
        <p:txBody>
          <a:bodyPr wrap="square" lIns="0" rIns="0" tIns="25400" bIns="25400">
            <a:spAutoFit/>
          </a:bodyPr>
          <a:lstStyle/>
          <a:p>
            <a:pPr algn="ctr"/>
            <a:r>
              <a:rPr sz="1100" b="1">
                <a:solidFill>
                  <a:srgbClr val="64748B"/>
                </a:solidFill>
                <a:latin typeface="Microsoft YaHei"/>
              </a:rPr>
              <a:t>Tat-R</a:t>
            </a:r>
          </a:p>
        </p:txBody>
      </p:sp>
      <p:sp>
        <p:nvSpPr>
          <p:cNvPr id="12" name="TextBox 11"/>
          <p:cNvSpPr txBox="1"/>
          <p:nvPr/>
        </p:nvSpPr>
        <p:spPr>
          <a:xfrm>
            <a:off x="7708392" y="1581912"/>
            <a:ext cx="914400" cy="274320"/>
          </a:xfrm>
          <a:prstGeom prst="rect">
            <a:avLst/>
          </a:prstGeom>
          <a:noFill/>
        </p:spPr>
        <p:txBody>
          <a:bodyPr wrap="square" lIns="0" rIns="0" tIns="25400" bIns="25400">
            <a:spAutoFit/>
          </a:bodyPr>
          <a:lstStyle/>
          <a:p>
            <a:pPr algn="ctr"/>
            <a:r>
              <a:rPr sz="1100" b="1">
                <a:solidFill>
                  <a:srgbClr val="64748B"/>
                </a:solidFill>
                <a:latin typeface="Microsoft YaHei"/>
              </a:rPr>
              <a:t>Ukr-R</a:t>
            </a:r>
          </a:p>
        </p:txBody>
      </p:sp>
      <p:sp>
        <p:nvSpPr>
          <p:cNvPr id="13" name="TextBox 12"/>
          <p:cNvSpPr txBox="1"/>
          <p:nvPr/>
        </p:nvSpPr>
        <p:spPr>
          <a:xfrm>
            <a:off x="8714232" y="1581912"/>
            <a:ext cx="914400" cy="274320"/>
          </a:xfrm>
          <a:prstGeom prst="rect">
            <a:avLst/>
          </a:prstGeom>
          <a:noFill/>
        </p:spPr>
        <p:txBody>
          <a:bodyPr wrap="square" lIns="0" rIns="0" tIns="25400" bIns="25400">
            <a:spAutoFit/>
          </a:bodyPr>
          <a:lstStyle/>
          <a:p>
            <a:pPr algn="ctr"/>
            <a:r>
              <a:rPr sz="1100" b="1">
                <a:solidFill>
                  <a:srgbClr val="64748B"/>
                </a:solidFill>
                <a:latin typeface="Microsoft YaHei"/>
              </a:rPr>
              <a:t>Zho-R</a:t>
            </a:r>
          </a:p>
        </p:txBody>
      </p:sp>
      <p:sp>
        <p:nvSpPr>
          <p:cNvPr id="14" name="TextBox 13"/>
          <p:cNvSpPr txBox="1"/>
          <p:nvPr/>
        </p:nvSpPr>
        <p:spPr>
          <a:xfrm>
            <a:off x="9720072" y="1581912"/>
            <a:ext cx="914400" cy="274320"/>
          </a:xfrm>
          <a:prstGeom prst="rect">
            <a:avLst/>
          </a:prstGeom>
          <a:noFill/>
        </p:spPr>
        <p:txBody>
          <a:bodyPr wrap="square" lIns="0" rIns="0" tIns="25400" bIns="25400">
            <a:spAutoFit/>
          </a:bodyPr>
          <a:lstStyle/>
          <a:p>
            <a:pPr algn="ctr"/>
            <a:r>
              <a:rPr sz="1100" b="1">
                <a:solidFill>
                  <a:srgbClr val="64748B"/>
                </a:solidFill>
                <a:latin typeface="Microsoft YaHei"/>
              </a:rPr>
              <a:t>Zho-L</a:t>
            </a:r>
          </a:p>
        </p:txBody>
      </p:sp>
      <p:sp>
        <p:nvSpPr>
          <p:cNvPr id="15" name="TextBox 14"/>
          <p:cNvSpPr txBox="1"/>
          <p:nvPr/>
        </p:nvSpPr>
        <p:spPr>
          <a:xfrm>
            <a:off x="10725911" y="1581912"/>
            <a:ext cx="1005839" cy="274320"/>
          </a:xfrm>
          <a:prstGeom prst="rect">
            <a:avLst/>
          </a:prstGeom>
          <a:noFill/>
        </p:spPr>
        <p:txBody>
          <a:bodyPr wrap="square" lIns="0" rIns="0" tIns="25400" bIns="25400">
            <a:spAutoFit/>
          </a:bodyPr>
          <a:lstStyle/>
          <a:p>
            <a:pPr algn="ctr"/>
            <a:r>
              <a:rPr sz="1100" b="1">
                <a:solidFill>
                  <a:srgbClr val="64748B"/>
                </a:solidFill>
                <a:latin typeface="Microsoft YaHei"/>
              </a:rPr>
              <a:t>均值(Mean)</a:t>
            </a:r>
          </a:p>
        </p:txBody>
      </p:sp>
      <p:sp>
        <p:nvSpPr>
          <p:cNvPr id="16" name="Rounded Rectangle 15"/>
          <p:cNvSpPr/>
          <p:nvPr/>
        </p:nvSpPr>
        <p:spPr>
          <a:xfrm>
            <a:off x="502920" y="1901952"/>
            <a:ext cx="11274552"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1901952"/>
            <a:ext cx="1984248" cy="411480"/>
          </a:xfrm>
          <a:prstGeom prst="rect">
            <a:avLst/>
          </a:prstGeom>
          <a:noFill/>
        </p:spPr>
        <p:txBody>
          <a:bodyPr wrap="square" anchor="ctr" lIns="0" rIns="0" tIns="25400" bIns="25400">
            <a:spAutoFit/>
          </a:bodyPr>
          <a:lstStyle/>
          <a:p>
            <a:pPr algn="l"/>
            <a:r>
              <a:rPr sz="1250" b="1">
                <a:solidFill>
                  <a:srgbClr val="0F172A"/>
                </a:solidFill>
                <a:latin typeface="Microsoft YaHei"/>
              </a:rPr>
              <a:t>Llama-3.3 70B (SOTALLM)</a:t>
            </a:r>
          </a:p>
        </p:txBody>
      </p:sp>
      <p:sp>
        <p:nvSpPr>
          <p:cNvPr id="18" name="TextBox 17"/>
          <p:cNvSpPr txBox="1"/>
          <p:nvPr/>
        </p:nvSpPr>
        <p:spPr>
          <a:xfrm>
            <a:off x="2706624" y="190195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0.5048</a:t>
            </a:r>
          </a:p>
        </p:txBody>
      </p:sp>
      <p:sp>
        <p:nvSpPr>
          <p:cNvPr id="19" name="TextBox 18"/>
          <p:cNvSpPr txBox="1"/>
          <p:nvPr/>
        </p:nvSpPr>
        <p:spPr>
          <a:xfrm>
            <a:off x="3712463" y="190195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0.2483</a:t>
            </a:r>
          </a:p>
        </p:txBody>
      </p:sp>
      <p:sp>
        <p:nvSpPr>
          <p:cNvPr id="20" name="TextBox 19"/>
          <p:cNvSpPr txBox="1"/>
          <p:nvPr/>
        </p:nvSpPr>
        <p:spPr>
          <a:xfrm>
            <a:off x="4718304" y="190195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0.3577</a:t>
            </a:r>
          </a:p>
        </p:txBody>
      </p:sp>
      <p:sp>
        <p:nvSpPr>
          <p:cNvPr id="21" name="TextBox 20"/>
          <p:cNvSpPr txBox="1"/>
          <p:nvPr/>
        </p:nvSpPr>
        <p:spPr>
          <a:xfrm>
            <a:off x="5724144" y="190195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0.4118</a:t>
            </a:r>
          </a:p>
        </p:txBody>
      </p:sp>
      <p:sp>
        <p:nvSpPr>
          <p:cNvPr id="22" name="TextBox 21"/>
          <p:cNvSpPr txBox="1"/>
          <p:nvPr/>
        </p:nvSpPr>
        <p:spPr>
          <a:xfrm>
            <a:off x="6729983" y="190195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0.3702</a:t>
            </a:r>
          </a:p>
        </p:txBody>
      </p:sp>
      <p:sp>
        <p:nvSpPr>
          <p:cNvPr id="23" name="TextBox 22"/>
          <p:cNvSpPr txBox="1"/>
          <p:nvPr/>
        </p:nvSpPr>
        <p:spPr>
          <a:xfrm>
            <a:off x="7735823" y="190195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0.4070</a:t>
            </a:r>
          </a:p>
        </p:txBody>
      </p:sp>
      <p:sp>
        <p:nvSpPr>
          <p:cNvPr id="24" name="TextBox 23"/>
          <p:cNvSpPr txBox="1"/>
          <p:nvPr/>
        </p:nvSpPr>
        <p:spPr>
          <a:xfrm>
            <a:off x="8741663" y="190195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0.4391</a:t>
            </a:r>
          </a:p>
        </p:txBody>
      </p:sp>
      <p:sp>
        <p:nvSpPr>
          <p:cNvPr id="25" name="TextBox 24"/>
          <p:cNvSpPr txBox="1"/>
          <p:nvPr/>
        </p:nvSpPr>
        <p:spPr>
          <a:xfrm>
            <a:off x="9747503" y="190195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0.3506</a:t>
            </a:r>
          </a:p>
        </p:txBody>
      </p:sp>
      <p:sp>
        <p:nvSpPr>
          <p:cNvPr id="26" name="TextBox 25"/>
          <p:cNvSpPr txBox="1"/>
          <p:nvPr/>
        </p:nvSpPr>
        <p:spPr>
          <a:xfrm>
            <a:off x="10753343" y="1901952"/>
            <a:ext cx="950976" cy="411480"/>
          </a:xfrm>
          <a:prstGeom prst="rect">
            <a:avLst/>
          </a:prstGeom>
          <a:noFill/>
        </p:spPr>
        <p:txBody>
          <a:bodyPr wrap="square" anchor="ctr" lIns="0" rIns="0" tIns="25400" bIns="25400">
            <a:spAutoFit/>
          </a:bodyPr>
          <a:lstStyle/>
          <a:p>
            <a:pPr algn="ctr"/>
            <a:r>
              <a:rPr sz="1250" b="1">
                <a:solidFill>
                  <a:srgbClr val="DC2626"/>
                </a:solidFill>
                <a:latin typeface="Microsoft YaHei"/>
              </a:rPr>
              <a:t>0.3862</a:t>
            </a:r>
          </a:p>
        </p:txBody>
      </p:sp>
      <p:sp>
        <p:nvSpPr>
          <p:cNvPr id="27" name="Rounded Rectangle 26"/>
          <p:cNvSpPr/>
          <p:nvPr/>
        </p:nvSpPr>
        <p:spPr>
          <a:xfrm>
            <a:off x="502920" y="2313432"/>
            <a:ext cx="11274552"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2" y="2313432"/>
            <a:ext cx="1984248" cy="411480"/>
          </a:xfrm>
          <a:prstGeom prst="rect">
            <a:avLst/>
          </a:prstGeom>
          <a:noFill/>
        </p:spPr>
        <p:txBody>
          <a:bodyPr wrap="square" anchor="ctr" lIns="0" rIns="0" tIns="25400" bIns="25400">
            <a:spAutoFit/>
          </a:bodyPr>
          <a:lstStyle/>
          <a:p>
            <a:pPr algn="l"/>
            <a:r>
              <a:rPr sz="1250" b="1">
                <a:solidFill>
                  <a:srgbClr val="0F172A"/>
                </a:solidFill>
                <a:latin typeface="Microsoft YaHei"/>
              </a:rPr>
              <a:t>GPT-OSS 120B</a:t>
            </a:r>
          </a:p>
        </p:txBody>
      </p:sp>
      <p:sp>
        <p:nvSpPr>
          <p:cNvPr id="29" name="TextBox 28"/>
          <p:cNvSpPr txBox="1"/>
          <p:nvPr/>
        </p:nvSpPr>
        <p:spPr>
          <a:xfrm>
            <a:off x="2706624" y="231343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0.5013</a:t>
            </a:r>
          </a:p>
        </p:txBody>
      </p:sp>
      <p:sp>
        <p:nvSpPr>
          <p:cNvPr id="30" name="TextBox 29"/>
          <p:cNvSpPr txBox="1"/>
          <p:nvPr/>
        </p:nvSpPr>
        <p:spPr>
          <a:xfrm>
            <a:off x="3712463" y="231343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0.2411</a:t>
            </a:r>
          </a:p>
        </p:txBody>
      </p:sp>
      <p:sp>
        <p:nvSpPr>
          <p:cNvPr id="31" name="TextBox 30"/>
          <p:cNvSpPr txBox="1"/>
          <p:nvPr/>
        </p:nvSpPr>
        <p:spPr>
          <a:xfrm>
            <a:off x="4718304" y="231343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0.4151</a:t>
            </a:r>
          </a:p>
        </p:txBody>
      </p:sp>
      <p:sp>
        <p:nvSpPr>
          <p:cNvPr id="32" name="TextBox 31"/>
          <p:cNvSpPr txBox="1"/>
          <p:nvPr/>
        </p:nvSpPr>
        <p:spPr>
          <a:xfrm>
            <a:off x="5724144" y="231343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0.3683</a:t>
            </a:r>
          </a:p>
        </p:txBody>
      </p:sp>
      <p:sp>
        <p:nvSpPr>
          <p:cNvPr id="33" name="TextBox 32"/>
          <p:cNvSpPr txBox="1"/>
          <p:nvPr/>
        </p:nvSpPr>
        <p:spPr>
          <a:xfrm>
            <a:off x="6729983" y="231343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0.3094</a:t>
            </a:r>
          </a:p>
        </p:txBody>
      </p:sp>
      <p:sp>
        <p:nvSpPr>
          <p:cNvPr id="34" name="TextBox 33"/>
          <p:cNvSpPr txBox="1"/>
          <p:nvPr/>
        </p:nvSpPr>
        <p:spPr>
          <a:xfrm>
            <a:off x="7735823" y="231343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0.3663</a:t>
            </a:r>
          </a:p>
        </p:txBody>
      </p:sp>
      <p:sp>
        <p:nvSpPr>
          <p:cNvPr id="35" name="TextBox 34"/>
          <p:cNvSpPr txBox="1"/>
          <p:nvPr/>
        </p:nvSpPr>
        <p:spPr>
          <a:xfrm>
            <a:off x="8741663" y="231343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0.4249</a:t>
            </a:r>
          </a:p>
        </p:txBody>
      </p:sp>
      <p:sp>
        <p:nvSpPr>
          <p:cNvPr id="36" name="TextBox 35"/>
          <p:cNvSpPr txBox="1"/>
          <p:nvPr/>
        </p:nvSpPr>
        <p:spPr>
          <a:xfrm>
            <a:off x="9747503" y="231343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0.3551</a:t>
            </a:r>
          </a:p>
        </p:txBody>
      </p:sp>
      <p:sp>
        <p:nvSpPr>
          <p:cNvPr id="37" name="TextBox 36"/>
          <p:cNvSpPr txBox="1"/>
          <p:nvPr/>
        </p:nvSpPr>
        <p:spPr>
          <a:xfrm>
            <a:off x="10753343" y="2313432"/>
            <a:ext cx="95097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0.3727</a:t>
            </a:r>
          </a:p>
        </p:txBody>
      </p:sp>
      <p:sp>
        <p:nvSpPr>
          <p:cNvPr id="38" name="Rounded Rectangle 37"/>
          <p:cNvSpPr/>
          <p:nvPr/>
        </p:nvSpPr>
        <p:spPr>
          <a:xfrm>
            <a:off x="502920" y="2724912"/>
            <a:ext cx="11274552"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6072" y="2724912"/>
            <a:ext cx="1984248" cy="411480"/>
          </a:xfrm>
          <a:prstGeom prst="rect">
            <a:avLst/>
          </a:prstGeom>
          <a:noFill/>
        </p:spPr>
        <p:txBody>
          <a:bodyPr wrap="square" anchor="ctr" lIns="0" rIns="0" tIns="25400" bIns="25400">
            <a:spAutoFit/>
          </a:bodyPr>
          <a:lstStyle/>
          <a:p>
            <a:pPr algn="l"/>
            <a:r>
              <a:rPr sz="1250" b="1">
                <a:solidFill>
                  <a:srgbClr val="0F172A"/>
                </a:solidFill>
                <a:latin typeface="Microsoft YaHei"/>
              </a:rPr>
              <a:t>GPT-5 mini 0-shot</a:t>
            </a:r>
          </a:p>
        </p:txBody>
      </p:sp>
      <p:sp>
        <p:nvSpPr>
          <p:cNvPr id="40" name="TextBox 39"/>
          <p:cNvSpPr txBox="1"/>
          <p:nvPr/>
        </p:nvSpPr>
        <p:spPr>
          <a:xfrm>
            <a:off x="2706624" y="272491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0.4036</a:t>
            </a:r>
          </a:p>
        </p:txBody>
      </p:sp>
      <p:sp>
        <p:nvSpPr>
          <p:cNvPr id="41" name="TextBox 40"/>
          <p:cNvSpPr txBox="1"/>
          <p:nvPr/>
        </p:nvSpPr>
        <p:spPr>
          <a:xfrm>
            <a:off x="3712463" y="272491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0.2304</a:t>
            </a:r>
          </a:p>
        </p:txBody>
      </p:sp>
      <p:sp>
        <p:nvSpPr>
          <p:cNvPr id="42" name="TextBox 41"/>
          <p:cNvSpPr txBox="1"/>
          <p:nvPr/>
        </p:nvSpPr>
        <p:spPr>
          <a:xfrm>
            <a:off x="4718304" y="272491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0.0907</a:t>
            </a:r>
          </a:p>
        </p:txBody>
      </p:sp>
      <p:sp>
        <p:nvSpPr>
          <p:cNvPr id="43" name="TextBox 42"/>
          <p:cNvSpPr txBox="1"/>
          <p:nvPr/>
        </p:nvSpPr>
        <p:spPr>
          <a:xfrm>
            <a:off x="5724144" y="272491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0.2508</a:t>
            </a:r>
          </a:p>
        </p:txBody>
      </p:sp>
      <p:sp>
        <p:nvSpPr>
          <p:cNvPr id="44" name="TextBox 43"/>
          <p:cNvSpPr txBox="1"/>
          <p:nvPr/>
        </p:nvSpPr>
        <p:spPr>
          <a:xfrm>
            <a:off x="6729983" y="272491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0.1974</a:t>
            </a:r>
          </a:p>
        </p:txBody>
      </p:sp>
      <p:sp>
        <p:nvSpPr>
          <p:cNvPr id="45" name="TextBox 44"/>
          <p:cNvSpPr txBox="1"/>
          <p:nvPr/>
        </p:nvSpPr>
        <p:spPr>
          <a:xfrm>
            <a:off x="7735823" y="272491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0.2465</a:t>
            </a:r>
          </a:p>
        </p:txBody>
      </p:sp>
      <p:sp>
        <p:nvSpPr>
          <p:cNvPr id="46" name="TextBox 45"/>
          <p:cNvSpPr txBox="1"/>
          <p:nvPr/>
        </p:nvSpPr>
        <p:spPr>
          <a:xfrm>
            <a:off x="8741663" y="272491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0.2481</a:t>
            </a:r>
          </a:p>
        </p:txBody>
      </p:sp>
      <p:sp>
        <p:nvSpPr>
          <p:cNvPr id="47" name="TextBox 46"/>
          <p:cNvSpPr txBox="1"/>
          <p:nvPr/>
        </p:nvSpPr>
        <p:spPr>
          <a:xfrm>
            <a:off x="9747503" y="272491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0.1356</a:t>
            </a:r>
          </a:p>
        </p:txBody>
      </p:sp>
      <p:sp>
        <p:nvSpPr>
          <p:cNvPr id="48" name="TextBox 47"/>
          <p:cNvSpPr txBox="1"/>
          <p:nvPr/>
        </p:nvSpPr>
        <p:spPr>
          <a:xfrm>
            <a:off x="10753343" y="2724912"/>
            <a:ext cx="95097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0.2254</a:t>
            </a:r>
          </a:p>
        </p:txBody>
      </p:sp>
      <p:sp>
        <p:nvSpPr>
          <p:cNvPr id="49" name="Rounded Rectangle 48"/>
          <p:cNvSpPr/>
          <p:nvPr/>
        </p:nvSpPr>
        <p:spPr>
          <a:xfrm>
            <a:off x="502920" y="3136392"/>
            <a:ext cx="11274552"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76072" y="3136392"/>
            <a:ext cx="1984248" cy="411480"/>
          </a:xfrm>
          <a:prstGeom prst="rect">
            <a:avLst/>
          </a:prstGeom>
          <a:noFill/>
        </p:spPr>
        <p:txBody>
          <a:bodyPr wrap="square" anchor="ctr" lIns="0" rIns="0" tIns="25400" bIns="25400">
            <a:spAutoFit/>
          </a:bodyPr>
          <a:lstStyle/>
          <a:p>
            <a:pPr algn="l"/>
            <a:r>
              <a:rPr sz="1250" b="1">
                <a:solidFill>
                  <a:srgbClr val="0F172A"/>
                </a:solidFill>
                <a:latin typeface="Microsoft YaHei"/>
              </a:rPr>
              <a:t>Kimi K2 0-shot</a:t>
            </a:r>
          </a:p>
        </p:txBody>
      </p:sp>
      <p:sp>
        <p:nvSpPr>
          <p:cNvPr id="51" name="TextBox 50"/>
          <p:cNvSpPr txBox="1"/>
          <p:nvPr/>
        </p:nvSpPr>
        <p:spPr>
          <a:xfrm>
            <a:off x="2706624" y="313639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0.3740</a:t>
            </a:r>
          </a:p>
        </p:txBody>
      </p:sp>
      <p:sp>
        <p:nvSpPr>
          <p:cNvPr id="52" name="TextBox 51"/>
          <p:cNvSpPr txBox="1"/>
          <p:nvPr/>
        </p:nvSpPr>
        <p:spPr>
          <a:xfrm>
            <a:off x="3712463" y="313639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0.2805</a:t>
            </a:r>
          </a:p>
        </p:txBody>
      </p:sp>
      <p:sp>
        <p:nvSpPr>
          <p:cNvPr id="53" name="TextBox 52"/>
          <p:cNvSpPr txBox="1"/>
          <p:nvPr/>
        </p:nvSpPr>
        <p:spPr>
          <a:xfrm>
            <a:off x="4718304" y="313639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0.1309</a:t>
            </a:r>
          </a:p>
        </p:txBody>
      </p:sp>
      <p:sp>
        <p:nvSpPr>
          <p:cNvPr id="54" name="TextBox 53"/>
          <p:cNvSpPr txBox="1"/>
          <p:nvPr/>
        </p:nvSpPr>
        <p:spPr>
          <a:xfrm>
            <a:off x="5724144" y="313639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0.2656</a:t>
            </a:r>
          </a:p>
        </p:txBody>
      </p:sp>
      <p:sp>
        <p:nvSpPr>
          <p:cNvPr id="55" name="TextBox 54"/>
          <p:cNvSpPr txBox="1"/>
          <p:nvPr/>
        </p:nvSpPr>
        <p:spPr>
          <a:xfrm>
            <a:off x="6729983" y="313639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0.2310</a:t>
            </a:r>
          </a:p>
        </p:txBody>
      </p:sp>
      <p:sp>
        <p:nvSpPr>
          <p:cNvPr id="56" name="TextBox 55"/>
          <p:cNvSpPr txBox="1"/>
          <p:nvPr/>
        </p:nvSpPr>
        <p:spPr>
          <a:xfrm>
            <a:off x="7735823" y="313639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0.2974</a:t>
            </a:r>
          </a:p>
        </p:txBody>
      </p:sp>
      <p:sp>
        <p:nvSpPr>
          <p:cNvPr id="57" name="TextBox 56"/>
          <p:cNvSpPr txBox="1"/>
          <p:nvPr/>
        </p:nvSpPr>
        <p:spPr>
          <a:xfrm>
            <a:off x="8741663" y="313639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0.2975</a:t>
            </a:r>
          </a:p>
        </p:txBody>
      </p:sp>
      <p:sp>
        <p:nvSpPr>
          <p:cNvPr id="58" name="TextBox 57"/>
          <p:cNvSpPr txBox="1"/>
          <p:nvPr/>
        </p:nvSpPr>
        <p:spPr>
          <a:xfrm>
            <a:off x="9747503" y="313639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0.1569</a:t>
            </a:r>
          </a:p>
        </p:txBody>
      </p:sp>
      <p:sp>
        <p:nvSpPr>
          <p:cNvPr id="59" name="TextBox 58"/>
          <p:cNvSpPr txBox="1"/>
          <p:nvPr/>
        </p:nvSpPr>
        <p:spPr>
          <a:xfrm>
            <a:off x="10753343" y="3136392"/>
            <a:ext cx="95097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0.2542</a:t>
            </a:r>
          </a:p>
        </p:txBody>
      </p:sp>
      <p:sp>
        <p:nvSpPr>
          <p:cNvPr id="60" name="Rounded Rectangle 59"/>
          <p:cNvSpPr/>
          <p:nvPr/>
        </p:nvSpPr>
        <p:spPr>
          <a:xfrm>
            <a:off x="502920" y="3547872"/>
            <a:ext cx="11274552"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76072" y="3547872"/>
            <a:ext cx="1984248" cy="411480"/>
          </a:xfrm>
          <a:prstGeom prst="rect">
            <a:avLst/>
          </a:prstGeom>
          <a:noFill/>
        </p:spPr>
        <p:txBody>
          <a:bodyPr wrap="square" anchor="ctr" lIns="0" rIns="0" tIns="25400" bIns="25400">
            <a:spAutoFit/>
          </a:bodyPr>
          <a:lstStyle/>
          <a:p>
            <a:pPr algn="l"/>
            <a:r>
              <a:rPr sz="1250" b="1">
                <a:solidFill>
                  <a:srgbClr val="0F172A"/>
                </a:solidFill>
                <a:latin typeface="Microsoft YaHei"/>
              </a:rPr>
              <a:t>Shared-Task Average</a:t>
            </a:r>
          </a:p>
        </p:txBody>
      </p:sp>
      <p:sp>
        <p:nvSpPr>
          <p:cNvPr id="62" name="TextBox 61"/>
          <p:cNvSpPr txBox="1"/>
          <p:nvPr/>
        </p:nvSpPr>
        <p:spPr>
          <a:xfrm>
            <a:off x="2706624" y="354787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0.5398</a:t>
            </a:r>
          </a:p>
        </p:txBody>
      </p:sp>
      <p:sp>
        <p:nvSpPr>
          <p:cNvPr id="63" name="TextBox 62"/>
          <p:cNvSpPr txBox="1"/>
          <p:nvPr/>
        </p:nvSpPr>
        <p:spPr>
          <a:xfrm>
            <a:off x="3712463" y="354787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0.2908</a:t>
            </a:r>
          </a:p>
        </p:txBody>
      </p:sp>
      <p:sp>
        <p:nvSpPr>
          <p:cNvPr id="64" name="TextBox 63"/>
          <p:cNvSpPr txBox="1"/>
          <p:nvPr/>
        </p:nvSpPr>
        <p:spPr>
          <a:xfrm>
            <a:off x="4718304" y="354787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0.3259</a:t>
            </a:r>
          </a:p>
        </p:txBody>
      </p:sp>
      <p:sp>
        <p:nvSpPr>
          <p:cNvPr id="65" name="TextBox 64"/>
          <p:cNvSpPr txBox="1"/>
          <p:nvPr/>
        </p:nvSpPr>
        <p:spPr>
          <a:xfrm>
            <a:off x="5724144" y="354787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0.4526</a:t>
            </a:r>
          </a:p>
        </p:txBody>
      </p:sp>
      <p:sp>
        <p:nvSpPr>
          <p:cNvPr id="66" name="TextBox 65"/>
          <p:cNvSpPr txBox="1"/>
          <p:nvPr/>
        </p:nvSpPr>
        <p:spPr>
          <a:xfrm>
            <a:off x="6729983" y="354787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0.3581</a:t>
            </a:r>
          </a:p>
        </p:txBody>
      </p:sp>
      <p:sp>
        <p:nvSpPr>
          <p:cNvPr id="67" name="TextBox 66"/>
          <p:cNvSpPr txBox="1"/>
          <p:nvPr/>
        </p:nvSpPr>
        <p:spPr>
          <a:xfrm>
            <a:off x="7735823" y="354787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0.4446</a:t>
            </a:r>
          </a:p>
        </p:txBody>
      </p:sp>
      <p:sp>
        <p:nvSpPr>
          <p:cNvPr id="68" name="TextBox 67"/>
          <p:cNvSpPr txBox="1"/>
          <p:nvPr/>
        </p:nvSpPr>
        <p:spPr>
          <a:xfrm>
            <a:off x="8741663" y="354787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0.4728</a:t>
            </a:r>
          </a:p>
        </p:txBody>
      </p:sp>
      <p:sp>
        <p:nvSpPr>
          <p:cNvPr id="69" name="TextBox 68"/>
          <p:cNvSpPr txBox="1"/>
          <p:nvPr/>
        </p:nvSpPr>
        <p:spPr>
          <a:xfrm>
            <a:off x="9747503" y="3547872"/>
            <a:ext cx="85953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0.3602</a:t>
            </a:r>
          </a:p>
        </p:txBody>
      </p:sp>
      <p:sp>
        <p:nvSpPr>
          <p:cNvPr id="70" name="TextBox 69"/>
          <p:cNvSpPr txBox="1"/>
          <p:nvPr/>
        </p:nvSpPr>
        <p:spPr>
          <a:xfrm>
            <a:off x="10753343" y="3547872"/>
            <a:ext cx="95097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0.4056</a:t>
            </a:r>
          </a:p>
        </p:txBody>
      </p:sp>
      <p:sp>
        <p:nvSpPr>
          <p:cNvPr id="71" name="Rounded Rectangle 70"/>
          <p:cNvSpPr/>
          <p:nvPr/>
        </p:nvSpPr>
        <p:spPr>
          <a:xfrm>
            <a:off x="502920" y="3959352"/>
            <a:ext cx="11274552" cy="411480"/>
          </a:xfrm>
          <a:prstGeom prst="roundRect">
            <a:avLst>
              <a:gd name="adj" fmla="val 3000"/>
            </a:avLst>
          </a:prstGeom>
          <a:solidFill>
            <a:srgbClr val="D6F2E4"/>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76072" y="3959352"/>
            <a:ext cx="1984248" cy="411480"/>
          </a:xfrm>
          <a:prstGeom prst="rect">
            <a:avLst/>
          </a:prstGeom>
          <a:noFill/>
        </p:spPr>
        <p:txBody>
          <a:bodyPr wrap="square" anchor="ctr" lIns="0" rIns="0" tIns="25400" bIns="25400">
            <a:spAutoFit/>
          </a:bodyPr>
          <a:lstStyle/>
          <a:p>
            <a:pPr algn="l"/>
            <a:r>
              <a:rPr sz="1250" b="1">
                <a:solidFill>
                  <a:srgbClr val="059669"/>
                </a:solidFill>
                <a:latin typeface="Microsoft YaHei"/>
              </a:rPr>
              <a:t>LEADER-DimASQP (Ours)</a:t>
            </a:r>
          </a:p>
        </p:txBody>
      </p:sp>
      <p:sp>
        <p:nvSpPr>
          <p:cNvPr id="73" name="TextBox 72"/>
          <p:cNvSpPr txBox="1"/>
          <p:nvPr/>
        </p:nvSpPr>
        <p:spPr>
          <a:xfrm>
            <a:off x="2706624" y="3959352"/>
            <a:ext cx="859536" cy="411480"/>
          </a:xfrm>
          <a:prstGeom prst="rect">
            <a:avLst/>
          </a:prstGeom>
          <a:noFill/>
        </p:spPr>
        <p:txBody>
          <a:bodyPr wrap="square" anchor="ctr" lIns="0" rIns="0" tIns="25400" bIns="25400">
            <a:spAutoFit/>
          </a:bodyPr>
          <a:lstStyle/>
          <a:p>
            <a:pPr algn="ctr"/>
            <a:r>
              <a:rPr sz="1250" b="1">
                <a:solidFill>
                  <a:srgbClr val="059669"/>
                </a:solidFill>
                <a:latin typeface="Microsoft YaHei"/>
              </a:rPr>
              <a:t>0.6949</a:t>
            </a:r>
          </a:p>
        </p:txBody>
      </p:sp>
      <p:sp>
        <p:nvSpPr>
          <p:cNvPr id="74" name="TextBox 73"/>
          <p:cNvSpPr txBox="1"/>
          <p:nvPr/>
        </p:nvSpPr>
        <p:spPr>
          <a:xfrm>
            <a:off x="3712463" y="3959352"/>
            <a:ext cx="859536" cy="411480"/>
          </a:xfrm>
          <a:prstGeom prst="rect">
            <a:avLst/>
          </a:prstGeom>
          <a:noFill/>
        </p:spPr>
        <p:txBody>
          <a:bodyPr wrap="square" anchor="ctr" lIns="0" rIns="0" tIns="25400" bIns="25400">
            <a:spAutoFit/>
          </a:bodyPr>
          <a:lstStyle/>
          <a:p>
            <a:pPr algn="ctr"/>
            <a:r>
              <a:rPr sz="1250" b="1">
                <a:solidFill>
                  <a:srgbClr val="059669"/>
                </a:solidFill>
                <a:latin typeface="Microsoft YaHei"/>
              </a:rPr>
              <a:t>0.3304</a:t>
            </a:r>
          </a:p>
        </p:txBody>
      </p:sp>
      <p:sp>
        <p:nvSpPr>
          <p:cNvPr id="75" name="TextBox 74"/>
          <p:cNvSpPr txBox="1"/>
          <p:nvPr/>
        </p:nvSpPr>
        <p:spPr>
          <a:xfrm>
            <a:off x="4718304" y="3959352"/>
            <a:ext cx="859536" cy="411480"/>
          </a:xfrm>
          <a:prstGeom prst="rect">
            <a:avLst/>
          </a:prstGeom>
          <a:noFill/>
        </p:spPr>
        <p:txBody>
          <a:bodyPr wrap="square" anchor="ctr" lIns="0" rIns="0" tIns="25400" bIns="25400">
            <a:spAutoFit/>
          </a:bodyPr>
          <a:lstStyle/>
          <a:p>
            <a:pPr algn="ctr"/>
            <a:r>
              <a:rPr sz="1250" b="1">
                <a:solidFill>
                  <a:srgbClr val="059669"/>
                </a:solidFill>
                <a:latin typeface="Microsoft YaHei"/>
              </a:rPr>
              <a:t>0.4500</a:t>
            </a:r>
          </a:p>
        </p:txBody>
      </p:sp>
      <p:sp>
        <p:nvSpPr>
          <p:cNvPr id="76" name="TextBox 75"/>
          <p:cNvSpPr txBox="1"/>
          <p:nvPr/>
        </p:nvSpPr>
        <p:spPr>
          <a:xfrm>
            <a:off x="5724144" y="3959352"/>
            <a:ext cx="859536" cy="411480"/>
          </a:xfrm>
          <a:prstGeom prst="rect">
            <a:avLst/>
          </a:prstGeom>
          <a:noFill/>
        </p:spPr>
        <p:txBody>
          <a:bodyPr wrap="square" anchor="ctr" lIns="0" rIns="0" tIns="25400" bIns="25400">
            <a:spAutoFit/>
          </a:bodyPr>
          <a:lstStyle/>
          <a:p>
            <a:pPr algn="ctr"/>
            <a:r>
              <a:rPr sz="1250" b="1">
                <a:solidFill>
                  <a:srgbClr val="059669"/>
                </a:solidFill>
                <a:latin typeface="Microsoft YaHei"/>
              </a:rPr>
              <a:t>0.5267</a:t>
            </a:r>
          </a:p>
        </p:txBody>
      </p:sp>
      <p:sp>
        <p:nvSpPr>
          <p:cNvPr id="77" name="TextBox 76"/>
          <p:cNvSpPr txBox="1"/>
          <p:nvPr/>
        </p:nvSpPr>
        <p:spPr>
          <a:xfrm>
            <a:off x="6729983" y="3959352"/>
            <a:ext cx="859536" cy="411480"/>
          </a:xfrm>
          <a:prstGeom prst="rect">
            <a:avLst/>
          </a:prstGeom>
          <a:noFill/>
        </p:spPr>
        <p:txBody>
          <a:bodyPr wrap="square" anchor="ctr" lIns="0" rIns="0" tIns="25400" bIns="25400">
            <a:spAutoFit/>
          </a:bodyPr>
          <a:lstStyle/>
          <a:p>
            <a:pPr algn="ctr"/>
            <a:r>
              <a:rPr sz="1250" b="1">
                <a:solidFill>
                  <a:srgbClr val="059669"/>
                </a:solidFill>
                <a:latin typeface="Microsoft YaHei"/>
              </a:rPr>
              <a:t>0.4821</a:t>
            </a:r>
          </a:p>
        </p:txBody>
      </p:sp>
      <p:sp>
        <p:nvSpPr>
          <p:cNvPr id="78" name="TextBox 77"/>
          <p:cNvSpPr txBox="1"/>
          <p:nvPr/>
        </p:nvSpPr>
        <p:spPr>
          <a:xfrm>
            <a:off x="7735823" y="3959352"/>
            <a:ext cx="859536" cy="411480"/>
          </a:xfrm>
          <a:prstGeom prst="rect">
            <a:avLst/>
          </a:prstGeom>
          <a:noFill/>
        </p:spPr>
        <p:txBody>
          <a:bodyPr wrap="square" anchor="ctr" lIns="0" rIns="0" tIns="25400" bIns="25400">
            <a:spAutoFit/>
          </a:bodyPr>
          <a:lstStyle/>
          <a:p>
            <a:pPr algn="ctr"/>
            <a:r>
              <a:rPr sz="1250" b="1">
                <a:solidFill>
                  <a:srgbClr val="059669"/>
                </a:solidFill>
                <a:latin typeface="Microsoft YaHei"/>
              </a:rPr>
              <a:t>0.5068</a:t>
            </a:r>
          </a:p>
        </p:txBody>
      </p:sp>
      <p:sp>
        <p:nvSpPr>
          <p:cNvPr id="79" name="TextBox 78"/>
          <p:cNvSpPr txBox="1"/>
          <p:nvPr/>
        </p:nvSpPr>
        <p:spPr>
          <a:xfrm>
            <a:off x="8741663" y="3959352"/>
            <a:ext cx="859536" cy="411480"/>
          </a:xfrm>
          <a:prstGeom prst="rect">
            <a:avLst/>
          </a:prstGeom>
          <a:noFill/>
        </p:spPr>
        <p:txBody>
          <a:bodyPr wrap="square" anchor="ctr" lIns="0" rIns="0" tIns="25400" bIns="25400">
            <a:spAutoFit/>
          </a:bodyPr>
          <a:lstStyle/>
          <a:p>
            <a:pPr algn="ctr"/>
            <a:r>
              <a:rPr sz="1250" b="1">
                <a:solidFill>
                  <a:srgbClr val="059669"/>
                </a:solidFill>
                <a:latin typeface="Microsoft YaHei"/>
              </a:rPr>
              <a:t>0.5669</a:t>
            </a:r>
          </a:p>
        </p:txBody>
      </p:sp>
      <p:sp>
        <p:nvSpPr>
          <p:cNvPr id="80" name="TextBox 79"/>
          <p:cNvSpPr txBox="1"/>
          <p:nvPr/>
        </p:nvSpPr>
        <p:spPr>
          <a:xfrm>
            <a:off x="9747503" y="3959352"/>
            <a:ext cx="859536" cy="411480"/>
          </a:xfrm>
          <a:prstGeom prst="rect">
            <a:avLst/>
          </a:prstGeom>
          <a:noFill/>
        </p:spPr>
        <p:txBody>
          <a:bodyPr wrap="square" anchor="ctr" lIns="0" rIns="0" tIns="25400" bIns="25400">
            <a:spAutoFit/>
          </a:bodyPr>
          <a:lstStyle/>
          <a:p>
            <a:pPr algn="ctr"/>
            <a:r>
              <a:rPr sz="1250" b="1">
                <a:solidFill>
                  <a:srgbClr val="059669"/>
                </a:solidFill>
                <a:latin typeface="Microsoft YaHei"/>
              </a:rPr>
              <a:t>0.4487</a:t>
            </a:r>
          </a:p>
        </p:txBody>
      </p:sp>
      <p:sp>
        <p:nvSpPr>
          <p:cNvPr id="81" name="TextBox 80"/>
          <p:cNvSpPr txBox="1"/>
          <p:nvPr/>
        </p:nvSpPr>
        <p:spPr>
          <a:xfrm>
            <a:off x="10753343" y="3959352"/>
            <a:ext cx="950976" cy="411480"/>
          </a:xfrm>
          <a:prstGeom prst="rect">
            <a:avLst/>
          </a:prstGeom>
          <a:noFill/>
        </p:spPr>
        <p:txBody>
          <a:bodyPr wrap="square" anchor="ctr" lIns="0" rIns="0" tIns="25400" bIns="25400">
            <a:spAutoFit/>
          </a:bodyPr>
          <a:lstStyle/>
          <a:p>
            <a:pPr algn="ctr"/>
            <a:r>
              <a:rPr sz="1250" b="1">
                <a:solidFill>
                  <a:srgbClr val="059669"/>
                </a:solidFill>
                <a:latin typeface="Microsoft YaHei"/>
              </a:rPr>
              <a:t>0.5008</a:t>
            </a:r>
          </a:p>
        </p:txBody>
      </p:sp>
      <p:sp>
        <p:nvSpPr>
          <p:cNvPr id="82" name="Rounded Rectangle 81"/>
          <p:cNvSpPr/>
          <p:nvPr/>
        </p:nvSpPr>
        <p:spPr>
          <a:xfrm>
            <a:off x="502920" y="4663440"/>
            <a:ext cx="11155680" cy="1463040"/>
          </a:xfrm>
          <a:prstGeom prst="roundRect">
            <a:avLst>
              <a:gd name="adj" fmla="val 8000"/>
            </a:avLst>
          </a:prstGeom>
          <a:solidFill>
            <a:srgbClr val="DE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31520" y="4773168"/>
            <a:ext cx="10058400" cy="411480"/>
          </a:xfrm>
          <a:prstGeom prst="rect">
            <a:avLst/>
          </a:prstGeom>
          <a:noFill/>
        </p:spPr>
        <p:txBody>
          <a:bodyPr wrap="square" lIns="0" rIns="0" tIns="25400" bIns="25400">
            <a:spAutoFit/>
          </a:bodyPr>
          <a:lstStyle/>
          <a:p>
            <a:pPr algn="l"/>
            <a:r>
              <a:rPr sz="1500" b="1">
                <a:solidFill>
                  <a:srgbClr val="1D4ED8"/>
                </a:solidFill>
                <a:latin typeface="Microsoft YaHei"/>
              </a:rPr>
              <a:t>核心成绩解析 (Key Results Analysis)</a:t>
            </a:r>
          </a:p>
        </p:txBody>
      </p:sp>
      <p:sp>
        <p:nvSpPr>
          <p:cNvPr id="84" name="TextBox 83"/>
          <p:cNvSpPr txBox="1"/>
          <p:nvPr/>
        </p:nvSpPr>
        <p:spPr>
          <a:xfrm>
            <a:off x="731520" y="5102352"/>
            <a:ext cx="10515600" cy="3200400"/>
          </a:xfrm>
          <a:prstGeom prst="rect">
            <a:avLst/>
          </a:prstGeom>
          <a:noFill/>
        </p:spPr>
        <p:txBody>
          <a:bodyPr wrap="square" lIns="0" rIns="0" tIns="0" bIns="0">
            <a:spAutoFit/>
          </a:bodyPr>
          <a:lstStyle/>
          <a:p>
            <a:pPr>
              <a:lnSpc>
                <a:spcPct val="110000"/>
              </a:lnSpc>
              <a:spcBef>
                <a:spcPts val="0"/>
              </a:spcBef>
              <a:spcAft>
                <a:spcPts val="400"/>
              </a:spcAft>
            </a:pPr>
            <a:r>
              <a:rPr sz="1350" b="1">
                <a:solidFill>
                  <a:srgbClr val="3B82F6"/>
                </a:solidFill>
                <a:latin typeface="Microsoft YaHei"/>
              </a:rPr>
              <a:t>•  </a:t>
            </a:r>
            <a:r>
              <a:rPr sz="1350" b="1">
                <a:solidFill>
                  <a:srgbClr val="334155"/>
                </a:solidFill>
                <a:latin typeface="Microsoft YaHei"/>
              </a:rPr>
              <a:t>碾压式优势</a:t>
            </a:r>
            <a:r>
              <a:rPr sz="1350" b="0">
                <a:solidFill>
                  <a:srgbClr val="334155"/>
                </a:solidFill>
                <a:latin typeface="Microsoft YaHei"/>
              </a:rPr>
              <a:t>：平均 cF1 到达 </a:t>
            </a:r>
            <a:r>
              <a:rPr sz="1350" b="1">
                <a:solidFill>
                  <a:srgbClr val="334155"/>
                </a:solidFill>
                <a:latin typeface="Microsoft YaHei"/>
              </a:rPr>
              <a:t>0.5008</a:t>
            </a:r>
            <a:r>
              <a:rPr sz="1350" b="0">
                <a:solidFill>
                  <a:srgbClr val="334155"/>
                </a:solidFill>
                <a:latin typeface="Microsoft YaHei"/>
              </a:rPr>
              <a:t>，相较 Llama-3.3 70B 提高 </a:t>
            </a:r>
            <a:r>
              <a:rPr sz="1350" b="1">
                <a:solidFill>
                  <a:srgbClr val="334155"/>
                </a:solidFill>
                <a:latin typeface="Microsoft YaHei"/>
              </a:rPr>
              <a:t>+11.46 pp</a:t>
            </a:r>
            <a:r>
              <a:rPr sz="1350" b="0">
                <a:solidFill>
                  <a:srgbClr val="334155"/>
                </a:solidFill>
                <a:latin typeface="Microsoft YaHei"/>
              </a:rPr>
              <a:t>，相较官方评测平均线提高 </a:t>
            </a:r>
            <a:r>
              <a:rPr sz="1350" b="1">
                <a:solidFill>
                  <a:srgbClr val="334155"/>
                </a:solidFill>
                <a:latin typeface="Microsoft YaHei"/>
              </a:rPr>
              <a:t>+9.52 pp</a:t>
            </a:r>
            <a:r>
              <a:rPr sz="1350" b="0">
                <a:solidFill>
                  <a:srgbClr val="334155"/>
                </a:solidFill>
                <a:latin typeface="Microsoft YaHei"/>
              </a:rPr>
              <a:t>！</a:t>
            </a:r>
          </a:p>
          <a:p>
            <a:pPr>
              <a:lnSpc>
                <a:spcPct val="110000"/>
              </a:lnSpc>
              <a:spcBef>
                <a:spcPts val="0"/>
              </a:spcBef>
              <a:spcAft>
                <a:spcPts val="400"/>
              </a:spcAft>
            </a:pPr>
            <a:r>
              <a:rPr sz="1350" b="1">
                <a:solidFill>
                  <a:srgbClr val="3B82F6"/>
                </a:solidFill>
                <a:latin typeface="Microsoft YaHei"/>
              </a:rPr>
              <a:t>•  </a:t>
            </a:r>
            <a:r>
              <a:rPr sz="1350" b="1">
                <a:solidFill>
                  <a:srgbClr val="334155"/>
                </a:solidFill>
                <a:latin typeface="Microsoft YaHei"/>
              </a:rPr>
              <a:t>刷榜地标</a:t>
            </a:r>
            <a:r>
              <a:rPr sz="1350" b="0">
                <a:solidFill>
                  <a:srgbClr val="334155"/>
                </a:solidFill>
                <a:latin typeface="Microsoft YaHei"/>
              </a:rPr>
              <a:t>：在</a:t>
            </a:r>
            <a:r>
              <a:rPr sz="1350" b="1">
                <a:solidFill>
                  <a:srgbClr val="334155"/>
                </a:solidFill>
                <a:latin typeface="Microsoft YaHei"/>
              </a:rPr>
              <a:t>日文酒店 (0.4500)</a:t>
            </a:r>
            <a:r>
              <a:rPr sz="1350" b="0">
                <a:solidFill>
                  <a:srgbClr val="334155"/>
                </a:solidFill>
                <a:latin typeface="Microsoft YaHei"/>
              </a:rPr>
              <a:t>、</a:t>
            </a:r>
            <a:r>
              <a:rPr sz="1350" b="1">
                <a:solidFill>
                  <a:srgbClr val="334155"/>
                </a:solidFill>
                <a:latin typeface="Microsoft YaHei"/>
              </a:rPr>
              <a:t>鞑靼餐饮 (0.4821)</a:t>
            </a:r>
            <a:r>
              <a:rPr sz="1350" b="0">
                <a:solidFill>
                  <a:srgbClr val="334155"/>
                </a:solidFill>
                <a:latin typeface="Microsoft YaHei"/>
              </a:rPr>
              <a:t>、</a:t>
            </a:r>
            <a:r>
              <a:rPr sz="1350" b="1">
                <a:solidFill>
                  <a:srgbClr val="334155"/>
                </a:solidFill>
                <a:latin typeface="Microsoft YaHei"/>
              </a:rPr>
              <a:t>中文餐饮 (0.5669)</a:t>
            </a:r>
            <a:r>
              <a:rPr sz="1350" b="0">
                <a:solidFill>
                  <a:srgbClr val="334155"/>
                </a:solidFill>
                <a:latin typeface="Microsoft YaHei"/>
              </a:rPr>
              <a:t>上，全面超越了目前公开汇报的所有参赛队最好成绩。</a:t>
            </a:r>
          </a:p>
        </p:txBody>
      </p:sp>
      <p:sp>
        <p:nvSpPr>
          <p:cNvPr id="85" name="TextBox 84"/>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消融分析 / ABLATION STUDIES</a:t>
            </a:r>
          </a:p>
        </p:txBody>
      </p:sp>
      <p:sp>
        <p:nvSpPr>
          <p:cNvPr id="3" name="TextBox 2"/>
          <p:cNvSpPr txBox="1"/>
          <p:nvPr/>
        </p:nvSpPr>
        <p:spPr>
          <a:xfrm>
            <a:off x="502920" y="676656"/>
            <a:ext cx="11155680" cy="868680"/>
          </a:xfrm>
          <a:prstGeom prst="rect">
            <a:avLst/>
          </a:prstGeom>
          <a:noFill/>
        </p:spPr>
        <p:txBody>
          <a:bodyPr wrap="square" lIns="0" rIns="0" tIns="25400" bIns="25400">
            <a:spAutoFit/>
          </a:bodyPr>
          <a:lstStyle/>
          <a:p>
            <a:pPr algn="l"/>
            <a:r>
              <a:rPr sz="2800" b="1">
                <a:solidFill>
                  <a:srgbClr val="0F172A"/>
                </a:solidFill>
                <a:latin typeface="Microsoft YaHei"/>
              </a:rPr>
              <a:t>五种子集成 (5-Seed Ensemble) 对边界与情绪稳定的奇效</a:t>
            </a:r>
          </a:p>
        </p:txBody>
      </p:sp>
      <p:sp>
        <p:nvSpPr>
          <p:cNvPr id="4" name="Rectangle 3"/>
          <p:cNvSpPr/>
          <p:nvPr/>
        </p:nvSpPr>
        <p:spPr>
          <a:xfrm>
            <a:off x="502920" y="1417320"/>
            <a:ext cx="111556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8412480" cy="347472"/>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81912"/>
            <a:ext cx="2834640" cy="274320"/>
          </a:xfrm>
          <a:prstGeom prst="rect">
            <a:avLst/>
          </a:prstGeom>
          <a:noFill/>
        </p:spPr>
        <p:txBody>
          <a:bodyPr wrap="square" lIns="0" rIns="0" tIns="25400" bIns="25400">
            <a:spAutoFit/>
          </a:bodyPr>
          <a:lstStyle/>
          <a:p>
            <a:pPr algn="ctr"/>
            <a:r>
              <a:rPr sz="1100" b="1">
                <a:solidFill>
                  <a:srgbClr val="64748B"/>
                </a:solidFill>
                <a:latin typeface="Microsoft YaHei"/>
              </a:rPr>
              <a:t>数据集 (Dataset)</a:t>
            </a:r>
          </a:p>
        </p:txBody>
      </p:sp>
      <p:sp>
        <p:nvSpPr>
          <p:cNvPr id="7" name="TextBox 6"/>
          <p:cNvSpPr txBox="1"/>
          <p:nvPr/>
        </p:nvSpPr>
        <p:spPr>
          <a:xfrm>
            <a:off x="3474720" y="1581912"/>
            <a:ext cx="1280160" cy="274320"/>
          </a:xfrm>
          <a:prstGeom prst="rect">
            <a:avLst/>
          </a:prstGeom>
          <a:noFill/>
        </p:spPr>
        <p:txBody>
          <a:bodyPr wrap="square" lIns="0" rIns="0" tIns="25400" bIns="25400">
            <a:spAutoFit/>
          </a:bodyPr>
          <a:lstStyle/>
          <a:p>
            <a:pPr algn="ctr"/>
            <a:r>
              <a:rPr sz="1100" b="1">
                <a:solidFill>
                  <a:srgbClr val="64748B"/>
                </a:solidFill>
                <a:latin typeface="Microsoft YaHei"/>
              </a:rPr>
              <a:t>最佳单模型</a:t>
            </a:r>
          </a:p>
        </p:txBody>
      </p:sp>
      <p:sp>
        <p:nvSpPr>
          <p:cNvPr id="8" name="TextBox 7"/>
          <p:cNvSpPr txBox="1"/>
          <p:nvPr/>
        </p:nvSpPr>
        <p:spPr>
          <a:xfrm>
            <a:off x="4846320" y="1581912"/>
            <a:ext cx="1280160" cy="274320"/>
          </a:xfrm>
          <a:prstGeom prst="rect">
            <a:avLst/>
          </a:prstGeom>
          <a:noFill/>
        </p:spPr>
        <p:txBody>
          <a:bodyPr wrap="square" lIns="0" rIns="0" tIns="25400" bIns="25400">
            <a:spAutoFit/>
          </a:bodyPr>
          <a:lstStyle/>
          <a:p>
            <a:pPr algn="ctr"/>
            <a:r>
              <a:rPr sz="1100" b="1">
                <a:solidFill>
                  <a:srgbClr val="64748B"/>
                </a:solidFill>
                <a:latin typeface="Microsoft YaHei"/>
              </a:rPr>
              <a:t>单模平均</a:t>
            </a:r>
          </a:p>
        </p:txBody>
      </p:sp>
      <p:sp>
        <p:nvSpPr>
          <p:cNvPr id="9" name="TextBox 8"/>
          <p:cNvSpPr txBox="1"/>
          <p:nvPr/>
        </p:nvSpPr>
        <p:spPr>
          <a:xfrm>
            <a:off x="6217920" y="1581912"/>
            <a:ext cx="1280160" cy="274320"/>
          </a:xfrm>
          <a:prstGeom prst="rect">
            <a:avLst/>
          </a:prstGeom>
          <a:noFill/>
        </p:spPr>
        <p:txBody>
          <a:bodyPr wrap="square" lIns="0" rIns="0" tIns="25400" bIns="25400">
            <a:spAutoFit/>
          </a:bodyPr>
          <a:lstStyle/>
          <a:p>
            <a:pPr algn="ctr"/>
            <a:r>
              <a:rPr sz="1100" b="1">
                <a:solidFill>
                  <a:srgbClr val="64748B"/>
                </a:solidFill>
                <a:latin typeface="Microsoft YaHei"/>
              </a:rPr>
              <a:t>5-Seed集成</a:t>
            </a:r>
          </a:p>
        </p:txBody>
      </p:sp>
      <p:sp>
        <p:nvSpPr>
          <p:cNvPr id="10" name="TextBox 9"/>
          <p:cNvSpPr txBox="1"/>
          <p:nvPr/>
        </p:nvSpPr>
        <p:spPr>
          <a:xfrm>
            <a:off x="7589520" y="1581912"/>
            <a:ext cx="1280160" cy="274320"/>
          </a:xfrm>
          <a:prstGeom prst="rect">
            <a:avLst/>
          </a:prstGeom>
          <a:noFill/>
        </p:spPr>
        <p:txBody>
          <a:bodyPr wrap="square" lIns="0" rIns="0" tIns="25400" bIns="25400">
            <a:spAutoFit/>
          </a:bodyPr>
          <a:lstStyle/>
          <a:p>
            <a:pPr algn="ctr"/>
            <a:r>
              <a:rPr sz="1100" b="1">
                <a:solidFill>
                  <a:srgbClr val="64748B"/>
                </a:solidFill>
                <a:latin typeface="Microsoft YaHei"/>
              </a:rPr>
              <a:t>集成净收益 (Gain)</a:t>
            </a:r>
          </a:p>
        </p:txBody>
      </p:sp>
      <p:sp>
        <p:nvSpPr>
          <p:cNvPr id="11" name="Rounded Rectangle 10"/>
          <p:cNvSpPr/>
          <p:nvPr/>
        </p:nvSpPr>
        <p:spPr>
          <a:xfrm>
            <a:off x="502920" y="1901952"/>
            <a:ext cx="8412480"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901952"/>
            <a:ext cx="2779776" cy="411480"/>
          </a:xfrm>
          <a:prstGeom prst="rect">
            <a:avLst/>
          </a:prstGeom>
          <a:noFill/>
        </p:spPr>
        <p:txBody>
          <a:bodyPr wrap="square" anchor="ctr" lIns="0" rIns="0" tIns="25400" bIns="25400">
            <a:spAutoFit/>
          </a:bodyPr>
          <a:lstStyle/>
          <a:p>
            <a:pPr algn="l"/>
            <a:r>
              <a:rPr sz="1250" b="1">
                <a:solidFill>
                  <a:srgbClr val="0F172A"/>
                </a:solidFill>
                <a:latin typeface="Microsoft YaHei"/>
              </a:rPr>
              <a:t>jpn_hotel (日文酒店)</a:t>
            </a:r>
          </a:p>
        </p:txBody>
      </p:sp>
      <p:sp>
        <p:nvSpPr>
          <p:cNvPr id="13" name="TextBox 12"/>
          <p:cNvSpPr txBox="1"/>
          <p:nvPr/>
        </p:nvSpPr>
        <p:spPr>
          <a:xfrm>
            <a:off x="3502152" y="190195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0.4128</a:t>
            </a:r>
          </a:p>
        </p:txBody>
      </p:sp>
      <p:sp>
        <p:nvSpPr>
          <p:cNvPr id="14" name="TextBox 13"/>
          <p:cNvSpPr txBox="1"/>
          <p:nvPr/>
        </p:nvSpPr>
        <p:spPr>
          <a:xfrm>
            <a:off x="4873752" y="190195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0.4026</a:t>
            </a:r>
          </a:p>
        </p:txBody>
      </p:sp>
      <p:sp>
        <p:nvSpPr>
          <p:cNvPr id="15" name="TextBox 14"/>
          <p:cNvSpPr txBox="1"/>
          <p:nvPr/>
        </p:nvSpPr>
        <p:spPr>
          <a:xfrm>
            <a:off x="6245352" y="190195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0.4466</a:t>
            </a:r>
          </a:p>
        </p:txBody>
      </p:sp>
      <p:sp>
        <p:nvSpPr>
          <p:cNvPr id="16" name="TextBox 15"/>
          <p:cNvSpPr txBox="1"/>
          <p:nvPr/>
        </p:nvSpPr>
        <p:spPr>
          <a:xfrm>
            <a:off x="7616952" y="190195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+4.40</a:t>
            </a:r>
          </a:p>
        </p:txBody>
      </p:sp>
      <p:sp>
        <p:nvSpPr>
          <p:cNvPr id="17" name="Rounded Rectangle 16"/>
          <p:cNvSpPr/>
          <p:nvPr/>
        </p:nvSpPr>
        <p:spPr>
          <a:xfrm>
            <a:off x="502920" y="2313432"/>
            <a:ext cx="8412480"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 y="2313432"/>
            <a:ext cx="2779776" cy="411480"/>
          </a:xfrm>
          <a:prstGeom prst="rect">
            <a:avLst/>
          </a:prstGeom>
          <a:noFill/>
        </p:spPr>
        <p:txBody>
          <a:bodyPr wrap="square" anchor="ctr" lIns="0" rIns="0" tIns="25400" bIns="25400">
            <a:spAutoFit/>
          </a:bodyPr>
          <a:lstStyle/>
          <a:p>
            <a:pPr algn="l"/>
            <a:r>
              <a:rPr sz="1250" b="1">
                <a:solidFill>
                  <a:srgbClr val="0F172A"/>
                </a:solidFill>
                <a:latin typeface="Microsoft YaHei"/>
              </a:rPr>
              <a:t>rus_restaurant (俄文餐饮)</a:t>
            </a:r>
          </a:p>
        </p:txBody>
      </p:sp>
      <p:sp>
        <p:nvSpPr>
          <p:cNvPr id="19" name="TextBox 18"/>
          <p:cNvSpPr txBox="1"/>
          <p:nvPr/>
        </p:nvSpPr>
        <p:spPr>
          <a:xfrm>
            <a:off x="3502152" y="231343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0.4817</a:t>
            </a:r>
          </a:p>
        </p:txBody>
      </p:sp>
      <p:sp>
        <p:nvSpPr>
          <p:cNvPr id="20" name="TextBox 19"/>
          <p:cNvSpPr txBox="1"/>
          <p:nvPr/>
        </p:nvSpPr>
        <p:spPr>
          <a:xfrm>
            <a:off x="4873752" y="231343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0.4699</a:t>
            </a:r>
          </a:p>
        </p:txBody>
      </p:sp>
      <p:sp>
        <p:nvSpPr>
          <p:cNvPr id="21" name="TextBox 20"/>
          <p:cNvSpPr txBox="1"/>
          <p:nvPr/>
        </p:nvSpPr>
        <p:spPr>
          <a:xfrm>
            <a:off x="6245352" y="231343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0.5267</a:t>
            </a:r>
          </a:p>
        </p:txBody>
      </p:sp>
      <p:sp>
        <p:nvSpPr>
          <p:cNvPr id="22" name="TextBox 21"/>
          <p:cNvSpPr txBox="1"/>
          <p:nvPr/>
        </p:nvSpPr>
        <p:spPr>
          <a:xfrm>
            <a:off x="7616952" y="231343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+5.68</a:t>
            </a:r>
          </a:p>
        </p:txBody>
      </p:sp>
      <p:sp>
        <p:nvSpPr>
          <p:cNvPr id="23" name="Rounded Rectangle 22"/>
          <p:cNvSpPr/>
          <p:nvPr/>
        </p:nvSpPr>
        <p:spPr>
          <a:xfrm>
            <a:off x="502920" y="2724912"/>
            <a:ext cx="8412480"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72" y="2724912"/>
            <a:ext cx="2779776" cy="411480"/>
          </a:xfrm>
          <a:prstGeom prst="rect">
            <a:avLst/>
          </a:prstGeom>
          <a:noFill/>
        </p:spPr>
        <p:txBody>
          <a:bodyPr wrap="square" anchor="ctr" lIns="0" rIns="0" tIns="25400" bIns="25400">
            <a:spAutoFit/>
          </a:bodyPr>
          <a:lstStyle/>
          <a:p>
            <a:pPr algn="l"/>
            <a:r>
              <a:rPr sz="1250" b="1">
                <a:solidFill>
                  <a:srgbClr val="0F172A"/>
                </a:solidFill>
                <a:latin typeface="Microsoft YaHei"/>
              </a:rPr>
              <a:t>zho_laptop (中文电脑)</a:t>
            </a:r>
          </a:p>
        </p:txBody>
      </p:sp>
      <p:sp>
        <p:nvSpPr>
          <p:cNvPr id="25" name="TextBox 24"/>
          <p:cNvSpPr txBox="1"/>
          <p:nvPr/>
        </p:nvSpPr>
        <p:spPr>
          <a:xfrm>
            <a:off x="3502152" y="272491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0.4010</a:t>
            </a:r>
          </a:p>
        </p:txBody>
      </p:sp>
      <p:sp>
        <p:nvSpPr>
          <p:cNvPr id="26" name="TextBox 25"/>
          <p:cNvSpPr txBox="1"/>
          <p:nvPr/>
        </p:nvSpPr>
        <p:spPr>
          <a:xfrm>
            <a:off x="4873752" y="272491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0.3940</a:t>
            </a:r>
          </a:p>
        </p:txBody>
      </p:sp>
      <p:sp>
        <p:nvSpPr>
          <p:cNvPr id="27" name="TextBox 26"/>
          <p:cNvSpPr txBox="1"/>
          <p:nvPr/>
        </p:nvSpPr>
        <p:spPr>
          <a:xfrm>
            <a:off x="6245352" y="272491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0.4487</a:t>
            </a:r>
          </a:p>
        </p:txBody>
      </p:sp>
      <p:sp>
        <p:nvSpPr>
          <p:cNvPr id="28" name="TextBox 27"/>
          <p:cNvSpPr txBox="1"/>
          <p:nvPr/>
        </p:nvSpPr>
        <p:spPr>
          <a:xfrm>
            <a:off x="7616952" y="272491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+5.47</a:t>
            </a:r>
          </a:p>
        </p:txBody>
      </p:sp>
      <p:sp>
        <p:nvSpPr>
          <p:cNvPr id="29" name="Rounded Rectangle 28"/>
          <p:cNvSpPr/>
          <p:nvPr/>
        </p:nvSpPr>
        <p:spPr>
          <a:xfrm>
            <a:off x="502920" y="3136392"/>
            <a:ext cx="8412480"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6072" y="3136392"/>
            <a:ext cx="2779776" cy="411480"/>
          </a:xfrm>
          <a:prstGeom prst="rect">
            <a:avLst/>
          </a:prstGeom>
          <a:noFill/>
        </p:spPr>
        <p:txBody>
          <a:bodyPr wrap="square" anchor="ctr" lIns="0" rIns="0" tIns="25400" bIns="25400">
            <a:spAutoFit/>
          </a:bodyPr>
          <a:lstStyle/>
          <a:p>
            <a:pPr algn="l"/>
            <a:r>
              <a:rPr sz="1250" b="1">
                <a:solidFill>
                  <a:srgbClr val="0F172A"/>
                </a:solidFill>
                <a:latin typeface="Microsoft YaHei"/>
              </a:rPr>
              <a:t>ukr_restaurant (乌克兰餐饮)</a:t>
            </a:r>
          </a:p>
        </p:txBody>
      </p:sp>
      <p:sp>
        <p:nvSpPr>
          <p:cNvPr id="31" name="TextBox 30"/>
          <p:cNvSpPr txBox="1"/>
          <p:nvPr/>
        </p:nvSpPr>
        <p:spPr>
          <a:xfrm>
            <a:off x="3502152" y="313639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0.4736</a:t>
            </a:r>
          </a:p>
        </p:txBody>
      </p:sp>
      <p:sp>
        <p:nvSpPr>
          <p:cNvPr id="32" name="TextBox 31"/>
          <p:cNvSpPr txBox="1"/>
          <p:nvPr/>
        </p:nvSpPr>
        <p:spPr>
          <a:xfrm>
            <a:off x="4873752" y="313639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0.4541</a:t>
            </a:r>
          </a:p>
        </p:txBody>
      </p:sp>
      <p:sp>
        <p:nvSpPr>
          <p:cNvPr id="33" name="TextBox 32"/>
          <p:cNvSpPr txBox="1"/>
          <p:nvPr/>
        </p:nvSpPr>
        <p:spPr>
          <a:xfrm>
            <a:off x="6245352" y="313639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0.5068</a:t>
            </a:r>
          </a:p>
        </p:txBody>
      </p:sp>
      <p:sp>
        <p:nvSpPr>
          <p:cNvPr id="34" name="TextBox 33"/>
          <p:cNvSpPr txBox="1"/>
          <p:nvPr/>
        </p:nvSpPr>
        <p:spPr>
          <a:xfrm>
            <a:off x="7616952" y="313639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+5.27</a:t>
            </a:r>
          </a:p>
        </p:txBody>
      </p:sp>
      <p:sp>
        <p:nvSpPr>
          <p:cNvPr id="35" name="Rounded Rectangle 34"/>
          <p:cNvSpPr/>
          <p:nvPr/>
        </p:nvSpPr>
        <p:spPr>
          <a:xfrm>
            <a:off x="502920" y="3547872"/>
            <a:ext cx="8412480"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072" y="3547872"/>
            <a:ext cx="2779776" cy="411480"/>
          </a:xfrm>
          <a:prstGeom prst="rect">
            <a:avLst/>
          </a:prstGeom>
          <a:noFill/>
        </p:spPr>
        <p:txBody>
          <a:bodyPr wrap="square" anchor="ctr" lIns="0" rIns="0" tIns="25400" bIns="25400">
            <a:spAutoFit/>
          </a:bodyPr>
          <a:lstStyle/>
          <a:p>
            <a:pPr algn="l"/>
            <a:r>
              <a:rPr sz="1250" b="1">
                <a:solidFill>
                  <a:srgbClr val="0F172A"/>
                </a:solidFill>
                <a:latin typeface="Microsoft YaHei"/>
              </a:rPr>
              <a:t>tat_restaurant (鞑靼餐饮)</a:t>
            </a:r>
          </a:p>
        </p:txBody>
      </p:sp>
      <p:sp>
        <p:nvSpPr>
          <p:cNvPr id="37" name="TextBox 36"/>
          <p:cNvSpPr txBox="1"/>
          <p:nvPr/>
        </p:nvSpPr>
        <p:spPr>
          <a:xfrm>
            <a:off x="3502152" y="354787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0.4282</a:t>
            </a:r>
          </a:p>
        </p:txBody>
      </p:sp>
      <p:sp>
        <p:nvSpPr>
          <p:cNvPr id="38" name="TextBox 37"/>
          <p:cNvSpPr txBox="1"/>
          <p:nvPr/>
        </p:nvSpPr>
        <p:spPr>
          <a:xfrm>
            <a:off x="4873752" y="354787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0.4047</a:t>
            </a:r>
          </a:p>
        </p:txBody>
      </p:sp>
      <p:sp>
        <p:nvSpPr>
          <p:cNvPr id="39" name="TextBox 38"/>
          <p:cNvSpPr txBox="1"/>
          <p:nvPr/>
        </p:nvSpPr>
        <p:spPr>
          <a:xfrm>
            <a:off x="6245352" y="354787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0.4821</a:t>
            </a:r>
          </a:p>
        </p:txBody>
      </p:sp>
      <p:sp>
        <p:nvSpPr>
          <p:cNvPr id="40" name="TextBox 39"/>
          <p:cNvSpPr txBox="1"/>
          <p:nvPr/>
        </p:nvSpPr>
        <p:spPr>
          <a:xfrm>
            <a:off x="7616952" y="354787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+7.74</a:t>
            </a:r>
          </a:p>
        </p:txBody>
      </p:sp>
      <p:sp>
        <p:nvSpPr>
          <p:cNvPr id="41" name="Rounded Rectangle 40"/>
          <p:cNvSpPr/>
          <p:nvPr/>
        </p:nvSpPr>
        <p:spPr>
          <a:xfrm>
            <a:off x="502920" y="3959352"/>
            <a:ext cx="8412480" cy="41148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6072" y="3959352"/>
            <a:ext cx="2779776" cy="411480"/>
          </a:xfrm>
          <a:prstGeom prst="rect">
            <a:avLst/>
          </a:prstGeom>
          <a:noFill/>
        </p:spPr>
        <p:txBody>
          <a:bodyPr wrap="square" anchor="ctr" lIns="0" rIns="0" tIns="25400" bIns="25400">
            <a:spAutoFit/>
          </a:bodyPr>
          <a:lstStyle/>
          <a:p>
            <a:pPr algn="l"/>
            <a:r>
              <a:rPr sz="1250" b="1">
                <a:solidFill>
                  <a:srgbClr val="0F172A"/>
                </a:solidFill>
                <a:latin typeface="Microsoft YaHei"/>
              </a:rPr>
              <a:t>zho_restaurant (中文餐饮)</a:t>
            </a:r>
          </a:p>
        </p:txBody>
      </p:sp>
      <p:sp>
        <p:nvSpPr>
          <p:cNvPr id="43" name="TextBox 42"/>
          <p:cNvSpPr txBox="1"/>
          <p:nvPr/>
        </p:nvSpPr>
        <p:spPr>
          <a:xfrm>
            <a:off x="3502152" y="395935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0.5234</a:t>
            </a:r>
          </a:p>
        </p:txBody>
      </p:sp>
      <p:sp>
        <p:nvSpPr>
          <p:cNvPr id="44" name="TextBox 43"/>
          <p:cNvSpPr txBox="1"/>
          <p:nvPr/>
        </p:nvSpPr>
        <p:spPr>
          <a:xfrm>
            <a:off x="4873752" y="395935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0.5083</a:t>
            </a:r>
          </a:p>
        </p:txBody>
      </p:sp>
      <p:sp>
        <p:nvSpPr>
          <p:cNvPr id="45" name="TextBox 44"/>
          <p:cNvSpPr txBox="1"/>
          <p:nvPr/>
        </p:nvSpPr>
        <p:spPr>
          <a:xfrm>
            <a:off x="6245352" y="395935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0.5669</a:t>
            </a:r>
          </a:p>
        </p:txBody>
      </p:sp>
      <p:sp>
        <p:nvSpPr>
          <p:cNvPr id="46" name="TextBox 45"/>
          <p:cNvSpPr txBox="1"/>
          <p:nvPr/>
        </p:nvSpPr>
        <p:spPr>
          <a:xfrm>
            <a:off x="7616952" y="395935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+5.86</a:t>
            </a:r>
          </a:p>
        </p:txBody>
      </p:sp>
      <p:sp>
        <p:nvSpPr>
          <p:cNvPr id="47" name="Rounded Rectangle 46"/>
          <p:cNvSpPr/>
          <p:nvPr/>
        </p:nvSpPr>
        <p:spPr>
          <a:xfrm>
            <a:off x="502920" y="4370832"/>
            <a:ext cx="8412480" cy="411480"/>
          </a:xfrm>
          <a:prstGeom prst="roundRect">
            <a:avLst>
              <a:gd name="adj" fmla="val 3000"/>
            </a:avLst>
          </a:prstGeom>
          <a:solidFill>
            <a:srgbClr val="DEEA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76072" y="4370832"/>
            <a:ext cx="2779776" cy="411480"/>
          </a:xfrm>
          <a:prstGeom prst="rect">
            <a:avLst/>
          </a:prstGeom>
          <a:noFill/>
        </p:spPr>
        <p:txBody>
          <a:bodyPr wrap="square" anchor="ctr" lIns="0" rIns="0" tIns="25400" bIns="25400">
            <a:spAutoFit/>
          </a:bodyPr>
          <a:lstStyle/>
          <a:p>
            <a:pPr algn="l"/>
            <a:r>
              <a:rPr sz="1250" b="1">
                <a:solidFill>
                  <a:srgbClr val="0F172A"/>
                </a:solidFill>
                <a:latin typeface="Microsoft YaHei"/>
              </a:rPr>
              <a:t>八大任务均值 (Mean)</a:t>
            </a:r>
          </a:p>
        </p:txBody>
      </p:sp>
      <p:sp>
        <p:nvSpPr>
          <p:cNvPr id="49" name="TextBox 48"/>
          <p:cNvSpPr txBox="1"/>
          <p:nvPr/>
        </p:nvSpPr>
        <p:spPr>
          <a:xfrm>
            <a:off x="3502152" y="437083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0.4614</a:t>
            </a:r>
          </a:p>
        </p:txBody>
      </p:sp>
      <p:sp>
        <p:nvSpPr>
          <p:cNvPr id="50" name="TextBox 49"/>
          <p:cNvSpPr txBox="1"/>
          <p:nvPr/>
        </p:nvSpPr>
        <p:spPr>
          <a:xfrm>
            <a:off x="4873752" y="437083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0.4495</a:t>
            </a:r>
          </a:p>
        </p:txBody>
      </p:sp>
      <p:sp>
        <p:nvSpPr>
          <p:cNvPr id="51" name="TextBox 50"/>
          <p:cNvSpPr txBox="1"/>
          <p:nvPr/>
        </p:nvSpPr>
        <p:spPr>
          <a:xfrm>
            <a:off x="6245352" y="437083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0.4970</a:t>
            </a:r>
          </a:p>
        </p:txBody>
      </p:sp>
      <p:sp>
        <p:nvSpPr>
          <p:cNvPr id="52" name="TextBox 51"/>
          <p:cNvSpPr txBox="1"/>
          <p:nvPr/>
        </p:nvSpPr>
        <p:spPr>
          <a:xfrm>
            <a:off x="7616952" y="4370832"/>
            <a:ext cx="1225296" cy="411480"/>
          </a:xfrm>
          <a:prstGeom prst="rect">
            <a:avLst/>
          </a:prstGeom>
          <a:noFill/>
        </p:spPr>
        <p:txBody>
          <a:bodyPr wrap="square" anchor="ctr" lIns="0" rIns="0" tIns="25400" bIns="25400">
            <a:spAutoFit/>
          </a:bodyPr>
          <a:lstStyle/>
          <a:p>
            <a:pPr algn="ctr"/>
            <a:r>
              <a:rPr sz="1250" b="0">
                <a:solidFill>
                  <a:srgbClr val="334155"/>
                </a:solidFill>
                <a:latin typeface="Microsoft YaHei"/>
              </a:rPr>
              <a:t>+4.76</a:t>
            </a:r>
          </a:p>
        </p:txBody>
      </p:sp>
      <p:sp>
        <p:nvSpPr>
          <p:cNvPr id="53" name="Rounded Rectangle 52"/>
          <p:cNvSpPr/>
          <p:nvPr/>
        </p:nvSpPr>
        <p:spPr>
          <a:xfrm>
            <a:off x="9235440" y="1554480"/>
            <a:ext cx="2450592" cy="4572000"/>
          </a:xfrm>
          <a:prstGeom prst="roundRect">
            <a:avLst>
              <a:gd name="adj" fmla="val 6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72600" y="1737360"/>
            <a:ext cx="2194560" cy="411480"/>
          </a:xfrm>
          <a:prstGeom prst="rect">
            <a:avLst/>
          </a:prstGeom>
          <a:noFill/>
        </p:spPr>
        <p:txBody>
          <a:bodyPr wrap="square" lIns="0" rIns="0" tIns="25400" bIns="25400">
            <a:spAutoFit/>
          </a:bodyPr>
          <a:lstStyle/>
          <a:p>
            <a:pPr algn="l"/>
            <a:r>
              <a:rPr sz="1600" b="1">
                <a:solidFill>
                  <a:srgbClr val="1E293B"/>
                </a:solidFill>
                <a:latin typeface="Microsoft YaHei"/>
              </a:rPr>
              <a:t>集成为什么如此有效？</a:t>
            </a:r>
          </a:p>
        </p:txBody>
      </p:sp>
      <p:sp>
        <p:nvSpPr>
          <p:cNvPr id="55" name="TextBox 54"/>
          <p:cNvSpPr txBox="1"/>
          <p:nvPr/>
        </p:nvSpPr>
        <p:spPr>
          <a:xfrm>
            <a:off x="9372600" y="2240280"/>
            <a:ext cx="2194560" cy="3200400"/>
          </a:xfrm>
          <a:prstGeom prst="rect">
            <a:avLst/>
          </a:prstGeom>
          <a:noFill/>
        </p:spPr>
        <p:txBody>
          <a:bodyPr wrap="square" lIns="0" rIns="0" tIns="0" bIns="0">
            <a:spAutoFit/>
          </a:bodyPr>
          <a:lstStyle/>
          <a:p>
            <a:pPr>
              <a:lnSpc>
                <a:spcPct val="110000"/>
              </a:lnSpc>
              <a:spcBef>
                <a:spcPts val="0"/>
              </a:spcBef>
              <a:spcAft>
                <a:spcPts val="1500"/>
              </a:spcAft>
            </a:pPr>
            <a:r>
              <a:rPr sz="1250" b="1">
                <a:solidFill>
                  <a:srgbClr val="64748B"/>
                </a:solidFill>
                <a:latin typeface="Microsoft YaHei"/>
              </a:rPr>
              <a:t>•  </a:t>
            </a:r>
            <a:r>
              <a:rPr sz="1250" b="0">
                <a:solidFill>
                  <a:srgbClr val="334155"/>
                </a:solidFill>
                <a:latin typeface="Microsoft YaHei"/>
              </a:rPr>
              <a:t>在 DimASQP 任务中，</a:t>
            </a:r>
            <a:r>
              <a:rPr sz="1250" b="1">
                <a:solidFill>
                  <a:srgbClr val="334155"/>
                </a:solidFill>
                <a:latin typeface="Microsoft YaHei"/>
              </a:rPr>
              <a:t>精确边界匹配</a:t>
            </a:r>
            <a:r>
              <a:rPr sz="1250" b="0">
                <a:solidFill>
                  <a:srgbClr val="334155"/>
                </a:solidFill>
                <a:latin typeface="Microsoft YaHei"/>
              </a:rPr>
              <a:t> 是获得分数的首要门槛。</a:t>
            </a:r>
          </a:p>
          <a:p>
            <a:pPr>
              <a:lnSpc>
                <a:spcPct val="110000"/>
              </a:lnSpc>
              <a:spcBef>
                <a:spcPts val="0"/>
              </a:spcBef>
              <a:spcAft>
                <a:spcPts val="1500"/>
              </a:spcAft>
            </a:pPr>
            <a:r>
              <a:rPr sz="1250" b="1">
                <a:solidFill>
                  <a:srgbClr val="64748B"/>
                </a:solidFill>
                <a:latin typeface="Microsoft YaHei"/>
              </a:rPr>
              <a:t>•  </a:t>
            </a:r>
            <a:r>
              <a:rPr sz="1250" b="0">
                <a:solidFill>
                  <a:srgbClr val="334155"/>
                </a:solidFill>
                <a:latin typeface="Microsoft YaHei"/>
              </a:rPr>
              <a:t>不同随机种子训练出的抽取边界极易发生 1-2 个字词的左右偏移。投票机制能显著</a:t>
            </a:r>
            <a:r>
              <a:rPr sz="1250" b="1">
                <a:solidFill>
                  <a:srgbClr val="334155"/>
                </a:solidFill>
                <a:latin typeface="Microsoft YaHei"/>
              </a:rPr>
              <a:t>平滑边界噪音</a:t>
            </a:r>
            <a:r>
              <a:rPr sz="1250" b="0">
                <a:solidFill>
                  <a:srgbClr val="334155"/>
                </a:solidFill>
                <a:latin typeface="Microsoft YaHei"/>
              </a:rPr>
              <a:t>，过滤低置信度候选。</a:t>
            </a:r>
          </a:p>
          <a:p>
            <a:pPr>
              <a:lnSpc>
                <a:spcPct val="110000"/>
              </a:lnSpc>
              <a:spcBef>
                <a:spcPts val="0"/>
              </a:spcBef>
              <a:spcAft>
                <a:spcPts val="1500"/>
              </a:spcAft>
            </a:pPr>
            <a:r>
              <a:rPr sz="1250" b="1">
                <a:solidFill>
                  <a:srgbClr val="64748B"/>
                </a:solidFill>
                <a:latin typeface="Microsoft YaHei"/>
              </a:rPr>
              <a:t>•  </a:t>
            </a:r>
            <a:r>
              <a:rPr sz="1250" b="1">
                <a:solidFill>
                  <a:srgbClr val="334155"/>
                </a:solidFill>
                <a:latin typeface="Microsoft YaHei"/>
              </a:rPr>
              <a:t>回归值的融合</a:t>
            </a:r>
            <a:r>
              <a:rPr sz="1250" b="0">
                <a:solidFill>
                  <a:srgbClr val="334155"/>
                </a:solidFill>
                <a:latin typeface="Microsoft YaHei"/>
              </a:rPr>
              <a:t>：五种子对 Valence &amp; Arousal 回归均值取平均，消除了单一回归头的极端倾向。</a:t>
            </a:r>
          </a:p>
        </p:txBody>
      </p:sp>
      <p:sp>
        <p:nvSpPr>
          <p:cNvPr id="56" name="TextBox 55"/>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负面结果与经验教训 / NEGATIVE RESULTS &amp; DISCUSSION</a:t>
            </a:r>
          </a:p>
        </p:txBody>
      </p:sp>
      <p:sp>
        <p:nvSpPr>
          <p:cNvPr id="3" name="TextBox 2"/>
          <p:cNvSpPr txBox="1"/>
          <p:nvPr/>
        </p:nvSpPr>
        <p:spPr>
          <a:xfrm>
            <a:off x="502920" y="676656"/>
            <a:ext cx="11155680" cy="868680"/>
          </a:xfrm>
          <a:prstGeom prst="rect">
            <a:avLst/>
          </a:prstGeom>
          <a:noFill/>
        </p:spPr>
        <p:txBody>
          <a:bodyPr wrap="square" lIns="0" rIns="0" tIns="25400" bIns="25400">
            <a:spAutoFit/>
          </a:bodyPr>
          <a:lstStyle/>
          <a:p>
            <a:pPr algn="l"/>
            <a:r>
              <a:rPr sz="2800" b="1">
                <a:solidFill>
                  <a:srgbClr val="0F172A"/>
                </a:solidFill>
                <a:latin typeface="Microsoft YaHei"/>
              </a:rPr>
              <a:t>学术诚实：并不是所有看似高大上的技术都管用</a:t>
            </a:r>
          </a:p>
        </p:txBody>
      </p:sp>
      <p:sp>
        <p:nvSpPr>
          <p:cNvPr id="4" name="Rectangle 3"/>
          <p:cNvSpPr/>
          <p:nvPr/>
        </p:nvSpPr>
        <p:spPr>
          <a:xfrm>
            <a:off x="502920" y="1417320"/>
            <a:ext cx="111556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5486400" cy="2103120"/>
          </a:xfrm>
          <a:prstGeom prst="roundRect">
            <a:avLst>
              <a:gd name="adj" fmla="val 6000"/>
            </a:avLst>
          </a:prstGeom>
          <a:solidFill>
            <a:srgbClr val="FD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64207"/>
            <a:ext cx="5120640" cy="411480"/>
          </a:xfrm>
          <a:prstGeom prst="rect">
            <a:avLst/>
          </a:prstGeom>
          <a:noFill/>
        </p:spPr>
        <p:txBody>
          <a:bodyPr wrap="square" lIns="0" rIns="0" tIns="25400" bIns="25400">
            <a:spAutoFit/>
          </a:bodyPr>
          <a:lstStyle/>
          <a:p>
            <a:pPr algn="l"/>
            <a:r>
              <a:rPr sz="1600" b="1">
                <a:solidFill>
                  <a:srgbClr val="DC2626"/>
                </a:solidFill>
                <a:latin typeface="Microsoft YaHei"/>
              </a:rPr>
              <a:t>CRF 序列解码失效</a:t>
            </a:r>
          </a:p>
        </p:txBody>
      </p:sp>
      <p:sp>
        <p:nvSpPr>
          <p:cNvPr id="7" name="TextBox 6"/>
          <p:cNvSpPr txBox="1"/>
          <p:nvPr/>
        </p:nvSpPr>
        <p:spPr>
          <a:xfrm>
            <a:off x="685800" y="2057400"/>
            <a:ext cx="5120640" cy="1463040"/>
          </a:xfrm>
          <a:prstGeom prst="rect">
            <a:avLst/>
          </a:prstGeom>
          <a:noFill/>
        </p:spPr>
        <p:txBody>
          <a:bodyPr wrap="square" lIns="0" rIns="0" tIns="25400" bIns="25400">
            <a:spAutoFit/>
          </a:bodyPr>
          <a:lstStyle/>
          <a:p>
            <a:pPr algn="l"/>
            <a:r>
              <a:rPr sz="1350" b="0">
                <a:solidFill>
                  <a:srgbClr val="334155"/>
                </a:solidFill>
                <a:latin typeface="Microsoft YaHei"/>
              </a:rPr>
              <a:t>我们在提取头后尝试加入线性链条件随机场 (CRF)，认为其对 BIO 序列强约束有帮助。但开发集指标从 </a:t>
            </a:r>
            <a:r>
              <a:rPr sz="1350" b="1">
                <a:solidFill>
                  <a:srgbClr val="334155"/>
                </a:solidFill>
                <a:latin typeface="Microsoft YaHei"/>
              </a:rPr>
              <a:t>0.6278 降低至 0.6249</a:t>
            </a:r>
            <a:r>
              <a:rPr sz="1350" b="0">
                <a:solidFill>
                  <a:srgbClr val="334155"/>
                </a:solidFill>
                <a:latin typeface="Microsoft YaHei"/>
              </a:rPr>
              <a:t>。原因为 CRF 复杂的转移概率在不充足的小样本数据上极其容易产生严重的过拟合。</a:t>
            </a:r>
          </a:p>
        </p:txBody>
      </p:sp>
      <p:sp>
        <p:nvSpPr>
          <p:cNvPr id="8" name="Rounded Rectangle 7"/>
          <p:cNvSpPr/>
          <p:nvPr/>
        </p:nvSpPr>
        <p:spPr>
          <a:xfrm>
            <a:off x="6172200" y="1554480"/>
            <a:ext cx="5486400" cy="2103120"/>
          </a:xfrm>
          <a:prstGeom prst="roundRect">
            <a:avLst>
              <a:gd name="adj" fmla="val 6000"/>
            </a:avLst>
          </a:prstGeom>
          <a:solidFill>
            <a:srgbClr val="FD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64207"/>
            <a:ext cx="5120640" cy="411480"/>
          </a:xfrm>
          <a:prstGeom prst="rect">
            <a:avLst/>
          </a:prstGeom>
          <a:noFill/>
        </p:spPr>
        <p:txBody>
          <a:bodyPr wrap="square" lIns="0" rIns="0" tIns="25400" bIns="25400">
            <a:spAutoFit/>
          </a:bodyPr>
          <a:lstStyle/>
          <a:p>
            <a:pPr algn="l"/>
            <a:r>
              <a:rPr sz="1600" b="1">
                <a:solidFill>
                  <a:srgbClr val="DC2626"/>
                </a:solidFill>
                <a:latin typeface="Microsoft YaHei"/>
              </a:rPr>
              <a:t>大模型/跨编码器候选融合受阻</a:t>
            </a:r>
          </a:p>
        </p:txBody>
      </p:sp>
      <p:sp>
        <p:nvSpPr>
          <p:cNvPr id="10" name="TextBox 9"/>
          <p:cNvSpPr txBox="1"/>
          <p:nvPr/>
        </p:nvSpPr>
        <p:spPr>
          <a:xfrm>
            <a:off x="6355080" y="2057400"/>
            <a:ext cx="5120640" cy="1463040"/>
          </a:xfrm>
          <a:prstGeom prst="rect">
            <a:avLst/>
          </a:prstGeom>
          <a:noFill/>
        </p:spPr>
        <p:txBody>
          <a:bodyPr wrap="square" lIns="0" rIns="0" tIns="25400" bIns="25400">
            <a:spAutoFit/>
          </a:bodyPr>
          <a:lstStyle/>
          <a:p>
            <a:pPr algn="l"/>
            <a:r>
              <a:rPr sz="1350" b="0">
                <a:solidFill>
                  <a:srgbClr val="334155"/>
                </a:solidFill>
                <a:latin typeface="Microsoft YaHei"/>
              </a:rPr>
              <a:t>通过将 DeepSeek 的生成候选四元组与编码器预测集做 Smart Fusion，指标不仅未提升反而产生下滑。原因是 LLM 抽取的泛化能力虽然强，但</a:t>
            </a:r>
            <a:r>
              <a:rPr sz="1350" b="1">
                <a:solidFill>
                  <a:srgbClr val="334155"/>
                </a:solidFill>
                <a:latin typeface="Microsoft YaHei"/>
              </a:rPr>
              <a:t>带来了较多的实体-类别误判 (False Positives)</a:t>
            </a:r>
            <a:r>
              <a:rPr sz="1350" b="0">
                <a:solidFill>
                  <a:srgbClr val="334155"/>
                </a:solidFill>
                <a:latin typeface="Microsoft YaHei"/>
              </a:rPr>
              <a:t>，大幅拉低了 cF1 精度。</a:t>
            </a:r>
          </a:p>
        </p:txBody>
      </p:sp>
      <p:sp>
        <p:nvSpPr>
          <p:cNvPr id="11" name="Rounded Rectangle 10"/>
          <p:cNvSpPr/>
          <p:nvPr/>
        </p:nvSpPr>
        <p:spPr>
          <a:xfrm>
            <a:off x="502920" y="3840480"/>
            <a:ext cx="5486400" cy="2103120"/>
          </a:xfrm>
          <a:prstGeom prst="roundRect">
            <a:avLst>
              <a:gd name="adj" fmla="val 6000"/>
            </a:avLst>
          </a:prstGeom>
          <a:solidFill>
            <a:srgbClr val="FD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950208"/>
            <a:ext cx="5120640" cy="411480"/>
          </a:xfrm>
          <a:prstGeom prst="rect">
            <a:avLst/>
          </a:prstGeom>
          <a:noFill/>
        </p:spPr>
        <p:txBody>
          <a:bodyPr wrap="square" lIns="0" rIns="0" tIns="25400" bIns="25400">
            <a:spAutoFit/>
          </a:bodyPr>
          <a:lstStyle/>
          <a:p>
            <a:pPr algn="l"/>
            <a:r>
              <a:rPr sz="1600" b="1">
                <a:solidFill>
                  <a:srgbClr val="DC2626"/>
                </a:solidFill>
                <a:latin typeface="Microsoft YaHei"/>
              </a:rPr>
              <a:t>对 Paraphrase 文本的过度过滤</a:t>
            </a:r>
          </a:p>
        </p:txBody>
      </p:sp>
      <p:sp>
        <p:nvSpPr>
          <p:cNvPr id="13" name="TextBox 12"/>
          <p:cNvSpPr txBox="1"/>
          <p:nvPr/>
        </p:nvSpPr>
        <p:spPr>
          <a:xfrm>
            <a:off x="685800" y="4343400"/>
            <a:ext cx="5120640" cy="1463040"/>
          </a:xfrm>
          <a:prstGeom prst="rect">
            <a:avLst/>
          </a:prstGeom>
          <a:noFill/>
        </p:spPr>
        <p:txBody>
          <a:bodyPr wrap="square" lIns="0" rIns="0" tIns="25400" bIns="25400">
            <a:spAutoFit/>
          </a:bodyPr>
          <a:lstStyle/>
          <a:p>
            <a:pPr algn="l"/>
            <a:r>
              <a:rPr sz="1350" b="0">
                <a:solidFill>
                  <a:srgbClr val="334155"/>
                </a:solidFill>
                <a:latin typeface="Microsoft YaHei"/>
              </a:rPr>
              <a:t>COMET 质量过滤是一把双刃剑。适度筛选 (0.96) 帮助巨大，但提高到 </a:t>
            </a:r>
            <a:r>
              <a:rPr sz="1350" b="1">
                <a:solidFill>
                  <a:srgbClr val="334155"/>
                </a:solidFill>
                <a:latin typeface="Microsoft YaHei"/>
              </a:rPr>
              <a:t>0.965</a:t>
            </a:r>
            <a:r>
              <a:rPr sz="1350" b="0">
                <a:solidFill>
                  <a:srgbClr val="334155"/>
                </a:solidFill>
                <a:latin typeface="Microsoft YaHei"/>
              </a:rPr>
              <a:t> 时，日文 cF1 反而下跌（</a:t>
            </a:r>
            <a:r>
              <a:rPr sz="1350" b="1">
                <a:solidFill>
                  <a:srgbClr val="334155"/>
                </a:solidFill>
                <a:latin typeface="Microsoft YaHei"/>
              </a:rPr>
              <a:t>0.356 -&gt; 0.341</a:t>
            </a:r>
            <a:r>
              <a:rPr sz="1350" b="0">
                <a:solidFill>
                  <a:srgbClr val="334155"/>
                </a:solidFill>
                <a:latin typeface="Microsoft YaHei"/>
              </a:rPr>
              <a:t>）。一味追求极高翻译质量导致了可用文本量骤降，发生了严重的欠拟合。</a:t>
            </a:r>
          </a:p>
        </p:txBody>
      </p:sp>
      <p:sp>
        <p:nvSpPr>
          <p:cNvPr id="14" name="Rounded Rectangle 13"/>
          <p:cNvSpPr/>
          <p:nvPr/>
        </p:nvSpPr>
        <p:spPr>
          <a:xfrm>
            <a:off x="6172200" y="3840480"/>
            <a:ext cx="5486400" cy="2103120"/>
          </a:xfrm>
          <a:prstGeom prst="roundRect">
            <a:avLst>
              <a:gd name="adj" fmla="val 6000"/>
            </a:avLst>
          </a:prstGeom>
          <a:solidFill>
            <a:srgbClr val="FD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950208"/>
            <a:ext cx="5120640" cy="411480"/>
          </a:xfrm>
          <a:prstGeom prst="rect">
            <a:avLst/>
          </a:prstGeom>
          <a:noFill/>
        </p:spPr>
        <p:txBody>
          <a:bodyPr wrap="square" lIns="0" rIns="0" tIns="25400" bIns="25400">
            <a:spAutoFit/>
          </a:bodyPr>
          <a:lstStyle/>
          <a:p>
            <a:pPr algn="l"/>
            <a:r>
              <a:rPr sz="1600" b="1">
                <a:solidFill>
                  <a:srgbClr val="DC2626"/>
                </a:solidFill>
                <a:latin typeface="Microsoft YaHei"/>
              </a:rPr>
              <a:t>自动不确定性损失加权不稳定</a:t>
            </a:r>
          </a:p>
        </p:txBody>
      </p:sp>
      <p:sp>
        <p:nvSpPr>
          <p:cNvPr id="16" name="TextBox 15"/>
          <p:cNvSpPr txBox="1"/>
          <p:nvPr/>
        </p:nvSpPr>
        <p:spPr>
          <a:xfrm>
            <a:off x="6355080" y="4343400"/>
            <a:ext cx="5120640" cy="1463040"/>
          </a:xfrm>
          <a:prstGeom prst="rect">
            <a:avLst/>
          </a:prstGeom>
          <a:noFill/>
        </p:spPr>
        <p:txBody>
          <a:bodyPr wrap="square" lIns="0" rIns="0" tIns="25400" bIns="25400">
            <a:spAutoFit/>
          </a:bodyPr>
          <a:lstStyle/>
          <a:p>
            <a:pPr algn="l"/>
            <a:r>
              <a:rPr sz="1350" b="0">
                <a:solidFill>
                  <a:srgbClr val="334155"/>
                </a:solidFill>
                <a:latin typeface="Microsoft YaHei"/>
              </a:rPr>
              <a:t>尝试使用自动多任务不确定性损失加权（Uncertainty Weighting），期望平衡分类、回归、抽取的 Loss 比例。然而系统在各语言上表现极其动荡，远没有</a:t>
            </a:r>
            <a:r>
              <a:rPr sz="1350" b="1">
                <a:solidFill>
                  <a:srgbClr val="334155"/>
                </a:solidFill>
                <a:latin typeface="Microsoft YaHei"/>
              </a:rPr>
              <a:t>固定人工调谐的权重 (2:1:1:1)</a:t>
            </a:r>
            <a:r>
              <a:rPr sz="1350" b="0">
                <a:solidFill>
                  <a:srgbClr val="334155"/>
                </a:solidFill>
                <a:latin typeface="Microsoft YaHei"/>
              </a:rPr>
              <a:t> 来的鲁棒。</a:t>
            </a:r>
          </a:p>
        </p:txBody>
      </p:sp>
      <p:sp>
        <p:nvSpPr>
          <p:cNvPr id="17" name="TextBox 16"/>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总结与展望 / CONCLUSION &amp; FUTURE WORK</a:t>
            </a:r>
          </a:p>
        </p:txBody>
      </p:sp>
      <p:sp>
        <p:nvSpPr>
          <p:cNvPr id="3" name="TextBox 2"/>
          <p:cNvSpPr txBox="1"/>
          <p:nvPr/>
        </p:nvSpPr>
        <p:spPr>
          <a:xfrm>
            <a:off x="502920" y="676656"/>
            <a:ext cx="11155680" cy="868680"/>
          </a:xfrm>
          <a:prstGeom prst="rect">
            <a:avLst/>
          </a:prstGeom>
          <a:noFill/>
        </p:spPr>
        <p:txBody>
          <a:bodyPr wrap="square" lIns="0" rIns="0" tIns="25400" bIns="25400">
            <a:spAutoFit/>
          </a:bodyPr>
          <a:lstStyle/>
          <a:p>
            <a:pPr algn="l"/>
            <a:r>
              <a:rPr sz="2800" b="1">
                <a:solidFill>
                  <a:srgbClr val="0F172A"/>
                </a:solidFill>
                <a:latin typeface="Microsoft YaHei"/>
              </a:rPr>
              <a:t>LEADER-DimASQP 系统工作总结</a:t>
            </a:r>
          </a:p>
        </p:txBody>
      </p:sp>
      <p:sp>
        <p:nvSpPr>
          <p:cNvPr id="4" name="Rectangle 3"/>
          <p:cNvSpPr/>
          <p:nvPr/>
        </p:nvSpPr>
        <p:spPr>
          <a:xfrm>
            <a:off x="502920" y="1417320"/>
            <a:ext cx="111556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5303520" cy="4572000"/>
          </a:xfrm>
          <a:prstGeom prst="roundRect">
            <a:avLst>
              <a:gd name="adj" fmla="val 5000"/>
            </a:avLst>
          </a:prstGeom>
          <a:solidFill>
            <a:srgbClr val="DE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37360"/>
            <a:ext cx="4846320" cy="411480"/>
          </a:xfrm>
          <a:prstGeom prst="rect">
            <a:avLst/>
          </a:prstGeom>
          <a:noFill/>
        </p:spPr>
        <p:txBody>
          <a:bodyPr wrap="square" lIns="0" rIns="0" tIns="25400" bIns="25400">
            <a:spAutoFit/>
          </a:bodyPr>
          <a:lstStyle/>
          <a:p>
            <a:pPr algn="l"/>
            <a:r>
              <a:rPr sz="1800" b="1">
                <a:solidFill>
                  <a:srgbClr val="1D4ED8"/>
                </a:solidFill>
                <a:latin typeface="Microsoft YaHei"/>
              </a:rPr>
              <a:t>工作总结与核心贡献 (Takeaways)</a:t>
            </a:r>
          </a:p>
        </p:txBody>
      </p:sp>
      <p:sp>
        <p:nvSpPr>
          <p:cNvPr id="7" name="TextBox 6"/>
          <p:cNvSpPr txBox="1"/>
          <p:nvPr/>
        </p:nvSpPr>
        <p:spPr>
          <a:xfrm>
            <a:off x="731520" y="2194560"/>
            <a:ext cx="4846320" cy="3200400"/>
          </a:xfrm>
          <a:prstGeom prst="rect">
            <a:avLst/>
          </a:prstGeom>
          <a:noFill/>
        </p:spPr>
        <p:txBody>
          <a:bodyPr wrap="square" lIns="0" rIns="0" tIns="0" bIns="0">
            <a:spAutoFit/>
          </a:bodyPr>
          <a:lstStyle/>
          <a:p>
            <a:pPr>
              <a:lnSpc>
                <a:spcPct val="110000"/>
              </a:lnSpc>
              <a:spcBef>
                <a:spcPts val="0"/>
              </a:spcBef>
              <a:spcAft>
                <a:spcPts val="1400"/>
              </a:spcAft>
            </a:pPr>
            <a:r>
              <a:rPr sz="1450" b="1">
                <a:solidFill>
                  <a:srgbClr val="3B82F6"/>
                </a:solidFill>
                <a:latin typeface="Microsoft YaHei"/>
              </a:rPr>
              <a:t>•  </a:t>
            </a:r>
            <a:r>
              <a:rPr sz="1450" b="1">
                <a:solidFill>
                  <a:srgbClr val="334155"/>
                </a:solidFill>
                <a:latin typeface="Microsoft YaHei"/>
              </a:rPr>
              <a:t>双层保障体系</a:t>
            </a:r>
            <a:r>
              <a:rPr sz="1450" b="0">
                <a:solidFill>
                  <a:srgbClr val="334155"/>
                </a:solidFill>
                <a:latin typeface="Microsoft YaHei"/>
              </a:rPr>
              <a:t>：以 </a:t>
            </a:r>
            <a:r>
              <a:rPr sz="1450" b="1">
                <a:solidFill>
                  <a:srgbClr val="1D4ED8"/>
                </a:solidFill>
                <a:latin typeface="Consolas"/>
              </a:rPr>
              <a:t>Rethink反馈反馈机制</a:t>
            </a:r>
            <a:r>
              <a:rPr sz="1450" b="0">
                <a:solidFill>
                  <a:srgbClr val="334155"/>
                </a:solidFill>
                <a:latin typeface="Microsoft YaHei"/>
              </a:rPr>
              <a:t> + </a:t>
            </a:r>
            <a:r>
              <a:rPr sz="1450" b="1">
                <a:solidFill>
                  <a:srgbClr val="1D4ED8"/>
                </a:solidFill>
                <a:latin typeface="Consolas"/>
              </a:rPr>
              <a:t>匈牙利匹配</a:t>
            </a:r>
            <a:r>
              <a:rPr sz="1450" b="0">
                <a:solidFill>
                  <a:srgbClr val="334155"/>
                </a:solidFill>
                <a:latin typeface="Microsoft YaHei"/>
              </a:rPr>
              <a:t> 作为架构根基，提供高精度的提取与端到端回归融合路径。</a:t>
            </a:r>
          </a:p>
          <a:p>
            <a:pPr>
              <a:lnSpc>
                <a:spcPct val="110000"/>
              </a:lnSpc>
              <a:spcBef>
                <a:spcPts val="0"/>
              </a:spcBef>
              <a:spcAft>
                <a:spcPts val="1400"/>
              </a:spcAft>
            </a:pPr>
            <a:r>
              <a:rPr sz="1450" b="1">
                <a:solidFill>
                  <a:srgbClr val="3B82F6"/>
                </a:solidFill>
                <a:latin typeface="Microsoft YaHei"/>
              </a:rPr>
              <a:t>•  </a:t>
            </a:r>
            <a:r>
              <a:rPr sz="1450" b="1">
                <a:solidFill>
                  <a:srgbClr val="334155"/>
                </a:solidFill>
                <a:latin typeface="Microsoft YaHei"/>
              </a:rPr>
              <a:t>验证驱动的数据配置</a:t>
            </a:r>
            <a:r>
              <a:rPr sz="1450" b="0">
                <a:solidFill>
                  <a:srgbClr val="334155"/>
                </a:solidFill>
                <a:latin typeface="Microsoft YaHei"/>
              </a:rPr>
              <a:t>：揭示了多语言维度 ASQP 的本质——不该寻求“单药治百病”的完美模型。</a:t>
            </a:r>
            <a:r>
              <a:rPr sz="1450" b="1">
                <a:solidFill>
                  <a:srgbClr val="334155"/>
                </a:solidFill>
                <a:latin typeface="Microsoft YaHei"/>
              </a:rPr>
              <a:t>特定分词、后处理裁剪 (如 MeCab) 和数据增强方案</a:t>
            </a:r>
            <a:r>
              <a:rPr sz="1450" b="0">
                <a:solidFill>
                  <a:srgbClr val="334155"/>
                </a:solidFill>
                <a:latin typeface="Microsoft YaHei"/>
              </a:rPr>
              <a:t>对垂直语言才具有实质成效。</a:t>
            </a:r>
          </a:p>
          <a:p>
            <a:pPr>
              <a:lnSpc>
                <a:spcPct val="110000"/>
              </a:lnSpc>
              <a:spcBef>
                <a:spcPts val="0"/>
              </a:spcBef>
              <a:spcAft>
                <a:spcPts val="1400"/>
              </a:spcAft>
            </a:pPr>
            <a:r>
              <a:rPr sz="1450" b="1">
                <a:solidFill>
                  <a:srgbClr val="3B82F6"/>
                </a:solidFill>
                <a:latin typeface="Microsoft YaHei"/>
              </a:rPr>
              <a:t>•  </a:t>
            </a:r>
            <a:r>
              <a:rPr sz="1450" b="1">
                <a:solidFill>
                  <a:srgbClr val="334155"/>
                </a:solidFill>
                <a:latin typeface="Microsoft YaHei"/>
              </a:rPr>
              <a:t>验证成果斐然</a:t>
            </a:r>
            <a:r>
              <a:rPr sz="1450" b="0">
                <a:solidFill>
                  <a:srgbClr val="334155"/>
                </a:solidFill>
                <a:latin typeface="Microsoft YaHei"/>
              </a:rPr>
              <a:t>：以 </a:t>
            </a:r>
            <a:r>
              <a:rPr sz="1450" b="1">
                <a:solidFill>
                  <a:srgbClr val="334155"/>
                </a:solidFill>
                <a:latin typeface="Microsoft YaHei"/>
              </a:rPr>
              <a:t>0.5008</a:t>
            </a:r>
            <a:r>
              <a:rPr sz="1450" b="0">
                <a:solidFill>
                  <a:srgbClr val="334155"/>
                </a:solidFill>
                <a:latin typeface="Microsoft YaHei"/>
              </a:rPr>
              <a:t> 均值完美打底，在学术界与官方基线竞赛中呈现了绝对统治力。</a:t>
            </a:r>
          </a:p>
        </p:txBody>
      </p:sp>
      <p:sp>
        <p:nvSpPr>
          <p:cNvPr id="8" name="Rounded Rectangle 7"/>
          <p:cNvSpPr/>
          <p:nvPr/>
        </p:nvSpPr>
        <p:spPr>
          <a:xfrm>
            <a:off x="6172200" y="1554480"/>
            <a:ext cx="5486400" cy="4572000"/>
          </a:xfrm>
          <a:prstGeom prst="roundRect">
            <a:avLst>
              <a:gd name="adj" fmla="val 5000"/>
            </a:avLst>
          </a:prstGeom>
          <a:solidFill>
            <a:srgbClr val="D6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37360"/>
            <a:ext cx="5029200" cy="411480"/>
          </a:xfrm>
          <a:prstGeom prst="rect">
            <a:avLst/>
          </a:prstGeom>
          <a:noFill/>
        </p:spPr>
        <p:txBody>
          <a:bodyPr wrap="square" lIns="0" rIns="0" tIns="25400" bIns="25400">
            <a:spAutoFit/>
          </a:bodyPr>
          <a:lstStyle/>
          <a:p>
            <a:pPr algn="l"/>
            <a:r>
              <a:rPr sz="1800" b="1">
                <a:solidFill>
                  <a:srgbClr val="047857"/>
                </a:solidFill>
                <a:latin typeface="Microsoft YaHei"/>
              </a:rPr>
              <a:t>学术展望与未来改进方向 (Future Directions)</a:t>
            </a:r>
          </a:p>
        </p:txBody>
      </p:sp>
      <p:sp>
        <p:nvSpPr>
          <p:cNvPr id="10" name="TextBox 9"/>
          <p:cNvSpPr txBox="1"/>
          <p:nvPr/>
        </p:nvSpPr>
        <p:spPr>
          <a:xfrm>
            <a:off x="6400800" y="2194560"/>
            <a:ext cx="5029200" cy="3200400"/>
          </a:xfrm>
          <a:prstGeom prst="rect">
            <a:avLst/>
          </a:prstGeom>
          <a:noFill/>
        </p:spPr>
        <p:txBody>
          <a:bodyPr wrap="square" lIns="0" rIns="0" tIns="0" bIns="0">
            <a:spAutoFit/>
          </a:bodyPr>
          <a:lstStyle/>
          <a:p>
            <a:pPr>
              <a:lnSpc>
                <a:spcPct val="110000"/>
              </a:lnSpc>
              <a:spcBef>
                <a:spcPts val="0"/>
              </a:spcBef>
              <a:spcAft>
                <a:spcPts val="1400"/>
              </a:spcAft>
            </a:pPr>
            <a:r>
              <a:rPr sz="1450" b="1">
                <a:solidFill>
                  <a:srgbClr val="10B981"/>
                </a:solidFill>
                <a:latin typeface="Microsoft YaHei"/>
              </a:rPr>
              <a:t>•  </a:t>
            </a:r>
            <a:r>
              <a:rPr sz="1450" b="1">
                <a:solidFill>
                  <a:srgbClr val="334155"/>
                </a:solidFill>
                <a:latin typeface="Microsoft YaHei"/>
              </a:rPr>
              <a:t>类别感知联合解码</a:t>
            </a:r>
            <a:r>
              <a:rPr sz="1450" b="0">
                <a:solidFill>
                  <a:srgbClr val="334155"/>
                </a:solidFill>
                <a:latin typeface="Microsoft YaHei"/>
              </a:rPr>
              <a:t>：目前提取与分类仍有轻微隔阂，未来可在解码器端注入 Entity-Attribute 先验限制，彻底消除实体-类别冲突。</a:t>
            </a:r>
          </a:p>
          <a:p>
            <a:pPr>
              <a:lnSpc>
                <a:spcPct val="110000"/>
              </a:lnSpc>
              <a:spcBef>
                <a:spcPts val="0"/>
              </a:spcBef>
              <a:spcAft>
                <a:spcPts val="1400"/>
              </a:spcAft>
            </a:pPr>
            <a:r>
              <a:rPr sz="1450" b="1">
                <a:solidFill>
                  <a:srgbClr val="10B981"/>
                </a:solidFill>
                <a:latin typeface="Microsoft YaHei"/>
              </a:rPr>
              <a:t>•  </a:t>
            </a:r>
            <a:r>
              <a:rPr sz="1450" b="1">
                <a:solidFill>
                  <a:srgbClr val="334155"/>
                </a:solidFill>
                <a:latin typeface="Microsoft YaHei"/>
              </a:rPr>
              <a:t>V-A 概率分布回归</a:t>
            </a:r>
            <a:r>
              <a:rPr sz="1450" b="0">
                <a:solidFill>
                  <a:srgbClr val="334155"/>
                </a:solidFill>
                <a:latin typeface="Microsoft YaHei"/>
              </a:rPr>
              <a:t>：利用分布预测（如 Beta 分布或 GMM）代替现在的标量点回归，解决倾向均值的收缩问题。</a:t>
            </a:r>
          </a:p>
          <a:p>
            <a:pPr>
              <a:lnSpc>
                <a:spcPct val="110000"/>
              </a:lnSpc>
              <a:spcBef>
                <a:spcPts val="0"/>
              </a:spcBef>
              <a:spcAft>
                <a:spcPts val="1400"/>
              </a:spcAft>
            </a:pPr>
            <a:r>
              <a:rPr sz="1450" b="1">
                <a:solidFill>
                  <a:srgbClr val="10B981"/>
                </a:solidFill>
                <a:latin typeface="Microsoft YaHei"/>
              </a:rPr>
              <a:t>•  </a:t>
            </a:r>
            <a:r>
              <a:rPr sz="1450" b="1">
                <a:solidFill>
                  <a:srgbClr val="334155"/>
                </a:solidFill>
                <a:latin typeface="Microsoft YaHei"/>
              </a:rPr>
              <a:t>多语言表示微观对齐</a:t>
            </a:r>
            <a:r>
              <a:rPr sz="1450" b="0">
                <a:solidFill>
                  <a:srgbClr val="334155"/>
                </a:solidFill>
                <a:latin typeface="Microsoft YaHei"/>
              </a:rPr>
              <a:t>：在共享多语空间（如 XLM-R）上做跨语语义投影，进一步降低 Tatar 等小语种极度少样本的冷启动损耗。</a:t>
            </a:r>
          </a:p>
        </p:txBody>
      </p:sp>
      <p:sp>
        <p:nvSpPr>
          <p:cNvPr id="11" name="TextBox 10"/>
          <p:cNvSpPr txBox="1"/>
          <p:nvPr/>
        </p:nvSpPr>
        <p:spPr>
          <a:xfrm>
            <a:off x="502920" y="6263640"/>
            <a:ext cx="11155680" cy="457200"/>
          </a:xfrm>
          <a:prstGeom prst="rect">
            <a:avLst/>
          </a:prstGeom>
          <a:noFill/>
        </p:spPr>
        <p:txBody>
          <a:bodyPr wrap="square" lIns="0" rIns="0" tIns="25400" bIns="25400">
            <a:spAutoFit/>
          </a:bodyPr>
          <a:lstStyle/>
          <a:p>
            <a:pPr algn="ctr"/>
            <a:r>
              <a:rPr sz="1300" b="1">
                <a:solidFill>
                  <a:srgbClr val="1F4E79"/>
                </a:solidFill>
                <a:latin typeface="Microsoft YaHei"/>
              </a:rPr>
              <a:t>汇报结束，欢迎各位老师和同学批评指正！
联系邮箱: g24tka12@yamanashi.ac.jp | rjzhou@hdu.edu.cn</a:t>
            </a:r>
          </a:p>
        </p:txBody>
      </p:sp>
      <p:sp>
        <p:nvSpPr>
          <p:cNvPr id="12" name="TextBox 11"/>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320040"/>
          </a:xfrm>
          <a:prstGeom prst="rect">
            <a:avLst/>
          </a:prstGeom>
          <a:noFill/>
        </p:spPr>
        <p:txBody>
          <a:bodyPr wrap="square" lIns="0" rIns="0" tIns="25400" bIns="25400">
            <a:spAutoFit/>
          </a:bodyPr>
          <a:lstStyle/>
          <a:p>
            <a:pPr algn="l"/>
            <a:r>
              <a:rPr sz="1300" b="1" spc="150">
                <a:solidFill>
                  <a:srgbClr val="1F4E79"/>
                </a:solidFill>
                <a:latin typeface="Microsoft YaHei"/>
              </a:rPr>
              <a:t>参考文献 / REFERENCES</a:t>
            </a:r>
          </a:p>
        </p:txBody>
      </p:sp>
      <p:sp>
        <p:nvSpPr>
          <p:cNvPr id="3" name="TextBox 2"/>
          <p:cNvSpPr txBox="1"/>
          <p:nvPr/>
        </p:nvSpPr>
        <p:spPr>
          <a:xfrm>
            <a:off x="502920" y="676656"/>
            <a:ext cx="11155680" cy="868680"/>
          </a:xfrm>
          <a:prstGeom prst="rect">
            <a:avLst/>
          </a:prstGeom>
          <a:noFill/>
        </p:spPr>
        <p:txBody>
          <a:bodyPr wrap="square" lIns="0" rIns="0" tIns="25400" bIns="25400">
            <a:spAutoFit/>
          </a:bodyPr>
          <a:lstStyle/>
          <a:p>
            <a:pPr algn="l"/>
            <a:r>
              <a:rPr sz="2800" b="1">
                <a:solidFill>
                  <a:srgbClr val="0F172A"/>
                </a:solidFill>
                <a:latin typeface="Microsoft YaHei"/>
              </a:rPr>
              <a:t>学术规范：主要的参考文献清单</a:t>
            </a:r>
          </a:p>
        </p:txBody>
      </p:sp>
      <p:sp>
        <p:nvSpPr>
          <p:cNvPr id="4" name="Rectangle 3"/>
          <p:cNvSpPr/>
          <p:nvPr/>
        </p:nvSpPr>
        <p:spPr>
          <a:xfrm>
            <a:off x="502920" y="1417320"/>
            <a:ext cx="111556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0"/>
            <a:ext cx="11155680" cy="3200400"/>
          </a:xfrm>
          <a:prstGeom prst="rect">
            <a:avLst/>
          </a:prstGeom>
          <a:noFill/>
        </p:spPr>
        <p:txBody>
          <a:bodyPr wrap="square" lIns="0" rIns="0" tIns="0" bIns="0">
            <a:spAutoFit/>
          </a:bodyPr>
          <a:lstStyle/>
          <a:p>
            <a:pPr>
              <a:lnSpc>
                <a:spcPct val="110000"/>
              </a:lnSpc>
              <a:spcBef>
                <a:spcPts val="0"/>
              </a:spcBef>
              <a:spcAft>
                <a:spcPts val="1800"/>
              </a:spcAft>
            </a:pPr>
            <a:r>
              <a:rPr sz="1350" b="1">
                <a:solidFill>
                  <a:srgbClr val="3B82F6"/>
                </a:solidFill>
                <a:latin typeface="Microsoft YaHei"/>
              </a:rPr>
              <a:t>•  </a:t>
            </a:r>
            <a:r>
              <a:rPr sz="1350" b="1">
                <a:solidFill>
                  <a:srgbClr val="334155"/>
                </a:solidFill>
                <a:latin typeface="Microsoft YaHei"/>
              </a:rPr>
              <a:t>[1] Lee et al. (2026)</a:t>
            </a:r>
            <a:r>
              <a:rPr sz="1350" b="0">
                <a:solidFill>
                  <a:srgbClr val="334155"/>
                </a:solidFill>
                <a:latin typeface="Microsoft YaHei"/>
              </a:rPr>
              <a:t>. DimABSA: Building multilingual and multidomain datasets for dimensional aspect-based sentiment analysis. *arXiv:2601.23022*.</a:t>
            </a:r>
          </a:p>
          <a:p>
            <a:pPr>
              <a:lnSpc>
                <a:spcPct val="110000"/>
              </a:lnSpc>
              <a:spcBef>
                <a:spcPts val="0"/>
              </a:spcBef>
              <a:spcAft>
                <a:spcPts val="1800"/>
              </a:spcAft>
            </a:pPr>
            <a:r>
              <a:rPr sz="1350" b="1">
                <a:solidFill>
                  <a:srgbClr val="3B82F6"/>
                </a:solidFill>
                <a:latin typeface="Microsoft YaHei"/>
              </a:rPr>
              <a:t>•  </a:t>
            </a:r>
            <a:r>
              <a:rPr sz="1350" b="1">
                <a:solidFill>
                  <a:srgbClr val="334155"/>
                </a:solidFill>
                <a:latin typeface="Microsoft YaHei"/>
              </a:rPr>
              <a:t>[2] Yu et al. (2026)</a:t>
            </a:r>
            <a:r>
              <a:rPr sz="1350" b="0">
                <a:solidFill>
                  <a:srgbClr val="334155"/>
                </a:solidFill>
                <a:latin typeface="Microsoft YaHei"/>
              </a:rPr>
              <a:t>. SemEval-2026 Task 3: Dimensional aspect-based sentiment analysis (DimABSA). *arXiv:2604.07066*.</a:t>
            </a:r>
          </a:p>
          <a:p>
            <a:pPr>
              <a:lnSpc>
                <a:spcPct val="110000"/>
              </a:lnSpc>
              <a:spcBef>
                <a:spcPts val="0"/>
              </a:spcBef>
              <a:spcAft>
                <a:spcPts val="1800"/>
              </a:spcAft>
            </a:pPr>
            <a:r>
              <a:rPr sz="1350" b="1">
                <a:solidFill>
                  <a:srgbClr val="3B82F6"/>
                </a:solidFill>
                <a:latin typeface="Microsoft YaHei"/>
              </a:rPr>
              <a:t>•  </a:t>
            </a:r>
            <a:r>
              <a:rPr sz="1350" b="1">
                <a:solidFill>
                  <a:srgbClr val="334155"/>
                </a:solidFill>
                <a:latin typeface="Microsoft YaHei"/>
              </a:rPr>
              <a:t>[3] Carion et al. (2020)</a:t>
            </a:r>
            <a:r>
              <a:rPr sz="1350" b="0">
                <a:solidFill>
                  <a:srgbClr val="334155"/>
                </a:solidFill>
                <a:latin typeface="Microsoft YaHei"/>
              </a:rPr>
              <a:t>. End-to-end object detection with transformers. In *Proceedings of ECCV*.</a:t>
            </a:r>
          </a:p>
          <a:p>
            <a:pPr>
              <a:lnSpc>
                <a:spcPct val="110000"/>
              </a:lnSpc>
              <a:spcBef>
                <a:spcPts val="0"/>
              </a:spcBef>
              <a:spcAft>
                <a:spcPts val="1800"/>
              </a:spcAft>
            </a:pPr>
            <a:r>
              <a:rPr sz="1350" b="1">
                <a:solidFill>
                  <a:srgbClr val="3B82F6"/>
                </a:solidFill>
                <a:latin typeface="Microsoft YaHei"/>
              </a:rPr>
              <a:t>•  </a:t>
            </a:r>
            <a:r>
              <a:rPr sz="1350" b="1">
                <a:solidFill>
                  <a:srgbClr val="334155"/>
                </a:solidFill>
                <a:latin typeface="Microsoft YaHei"/>
              </a:rPr>
              <a:t>[4] He et al. (2023)</a:t>
            </a:r>
            <a:r>
              <a:rPr sz="1350" b="0">
                <a:solidFill>
                  <a:srgbClr val="334155"/>
                </a:solidFill>
                <a:latin typeface="Microsoft YaHei"/>
              </a:rPr>
              <a:t>. DeBERTaV3: Improving DeBERTa using ELECTRA-style pre-training with gradient-disentangled embedding sharing. In *Proceedings of ICLR*.</a:t>
            </a:r>
          </a:p>
          <a:p>
            <a:pPr>
              <a:lnSpc>
                <a:spcPct val="110000"/>
              </a:lnSpc>
              <a:spcBef>
                <a:spcPts val="0"/>
              </a:spcBef>
              <a:spcAft>
                <a:spcPts val="1800"/>
              </a:spcAft>
            </a:pPr>
            <a:r>
              <a:rPr sz="1350" b="1">
                <a:solidFill>
                  <a:srgbClr val="3B82F6"/>
                </a:solidFill>
                <a:latin typeface="Microsoft YaHei"/>
              </a:rPr>
              <a:t>•  </a:t>
            </a:r>
            <a:r>
              <a:rPr sz="1350" b="1">
                <a:solidFill>
                  <a:srgbClr val="334155"/>
                </a:solidFill>
                <a:latin typeface="Microsoft YaHei"/>
              </a:rPr>
              <a:t>[5] Kuhn (1955)</a:t>
            </a:r>
            <a:r>
              <a:rPr sz="1350" b="0">
                <a:solidFill>
                  <a:srgbClr val="334155"/>
                </a:solidFill>
                <a:latin typeface="Microsoft YaHei"/>
              </a:rPr>
              <a:t>. The Hungarian method for the assignment problem. *Naval Research Logistics Quarterly*, 2(1-2), 83-97.</a:t>
            </a:r>
          </a:p>
        </p:txBody>
      </p:sp>
      <p:sp>
        <p:nvSpPr>
          <p:cNvPr id="6" name="TextBox 5"/>
          <p:cNvSpPr txBox="1"/>
          <p:nvPr/>
        </p:nvSpPr>
        <p:spPr>
          <a:xfrm>
            <a:off x="73152" y="18288"/>
            <a:ext cx="12042648" cy="274320"/>
          </a:xfrm>
          <a:prstGeom prst="rect">
            <a:avLst/>
          </a:prstGeom>
          <a:noFill/>
        </p:spPr>
        <p:txBody>
          <a:bodyPr wrap="none" lIns="36576" rIns="36576" tIns="0" bIns="0" anchor="ctr">
            <a:spAutoFit/>
          </a:bodyPr>
          <a:lstStyle/>
          <a:p>
            <a:pPr algn="ctr"/>
            <a:r>
              <a:rPr sz="1000" b="1">
                <a:solidFill>
                  <a:srgbClr val="B91C1C"/>
                </a:solidFill>
                <a:latin typeface="Aptos"/>
              </a:rPr>
              <a:t>HISTORICAL DECK — superseded by the locked 2026-07-18 evidence; do not cite cross-split SOTA or universal KD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