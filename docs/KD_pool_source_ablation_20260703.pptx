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0"/>
            <a:ext cx="100584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 spc="220">
                <a:solidFill>
                  <a:srgbClr val="2563EB"/>
                </a:solidFill>
                <a:latin typeface="Segoe UI"/>
              </a:rPr>
              <a:t>ABSA-QUAD  ·  KD GROUP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920240"/>
            <a:ext cx="11155680" cy="9144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4400" b="1" i="0">
                <a:solidFill>
                  <a:srgbClr val="0F172A"/>
                </a:solidFill>
                <a:latin typeface="Segoe UI"/>
              </a:rPr>
              <a:t>Pool-Source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788920"/>
            <a:ext cx="11155680" cy="5943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600" b="1" i="0">
                <a:solidFill>
                  <a:srgbClr val="2563EB"/>
                </a:solidFill>
                <a:latin typeface="Segoe UI"/>
              </a:rPr>
              <a:t>Real vs. Translated vs. Generated Silver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611880"/>
            <a:ext cx="15544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794760"/>
            <a:ext cx="1115568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  <a:latin typeface="Segoe UI"/>
              </a:rPr>
              <a:t>rus_restaurant · size-matched · single-variable 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" y="18288"/>
            <a:ext cx="12042648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 spc="220">
                <a:solidFill>
                  <a:srgbClr val="2563EB"/>
                </a:solidFill>
                <a:latin typeface="Segoe UI"/>
              </a:rPr>
              <a:t>KD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All 8 Datasets, Simplified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81328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17904"/>
            <a:ext cx="136245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517904"/>
            <a:ext cx="117957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TEACHER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517904"/>
            <a:ext cx="305409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SILVER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17904"/>
            <a:ext cx="99669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517904"/>
            <a:ext cx="127101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BEST KD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517904"/>
            <a:ext cx="117957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517904"/>
            <a:ext cx="108813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150" b="1" i="0" spc="30">
                <a:solidFill>
                  <a:srgbClr val="64748B"/>
                </a:solidFill>
                <a:latin typeface="Segoe UI"/>
              </a:rPr>
              <a:t>ADOPTED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1865376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65376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eng_laptop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1865376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865376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Real · n=8,578 (Amazon laptop)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865376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0.3254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1865376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0.4141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1865376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+8.9pp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88168" y="1865376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340864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D6F2E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340864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rus_restaurant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5688" y="2340864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340864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Real · n=8,630 (Yandex geo-reviews)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340864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0.5267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8" y="2340864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0.5753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340864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+4.9pp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88168" y="2340864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2816352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816352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ukr_restaurant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281635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2816352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Translated · n=6,551 (RU→UK)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2816352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0.5068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8" y="2816352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0.5560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281635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+4.9pp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88168" y="2816352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3291840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291840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zho_restaurant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3291840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3291840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Real n=5,000 (dianping); Gen n=4,930 (superseded)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3291840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0.4745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4968" y="3291840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0.5579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3291840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+8.3pp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88168" y="3291840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" y="3767328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3767328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tat_restaurant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3767328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qwen (local)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1568" y="3767328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Generated · n=3,986 (native Tatar)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8" y="3767328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0.4821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968" y="3767328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0.5327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2288" y="3767328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+5.1pp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88168" y="3767328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47857"/>
                </a:solidFill>
                <a:latin typeface="Segoe UI"/>
              </a:rPr>
              <a:t>Submitted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" y="4242816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928" y="4242816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zho_laptop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75688" y="4242816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qwen/DeepSeek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01568" y="4242816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Gen n=4,923; Real n=1,673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4242816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0.4487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968" y="4242816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0.4454 / 0.4264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62288" y="4242816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−0.3~−2.2pp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88168" y="4242816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  <a:latin typeface="Segoe UI"/>
              </a:rPr>
              <a:t>Rejected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" y="4718304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4718304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jpn_hotel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75688" y="4718304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DeepSeek/qwen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01568" y="4718304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Generated · n=4,756 (no real corpus)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1968" y="4718304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0.4466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968" y="4718304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0.4281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62288" y="4718304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−1.9pp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88168" y="4718304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  <a:latin typeface="Segoe UI"/>
              </a:rPr>
              <a:t>Rejected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5488" y="5193792"/>
            <a:ext cx="111556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5193792"/>
            <a:ext cx="132588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Segoe UI"/>
              </a:rPr>
              <a:t>eng_restaurant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75688" y="519379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DeepSeek/qwen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01568" y="5193792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150" b="0" i="0">
                <a:solidFill>
                  <a:srgbClr val="334155"/>
                </a:solidFill>
                <a:latin typeface="Segoe UI"/>
              </a:rPr>
              <a:t>Gen n=4,974; Real n=5,000 (Yelp)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01968" y="5193792"/>
            <a:ext cx="96012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0.6554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968" y="5193792"/>
            <a:ext cx="123444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0.6013 / 0.4190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62288" y="5193792"/>
            <a:ext cx="114300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0" i="0">
                <a:solidFill>
                  <a:srgbClr val="334155"/>
                </a:solidFill>
                <a:latin typeface="Segoe UI"/>
              </a:rPr>
              <a:t>−5.4~−23.6pp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88168" y="5193792"/>
            <a:ext cx="1051560" cy="47548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  <a:latin typeface="Segoe UI"/>
              </a:rPr>
              <a:t>Rejected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5833871"/>
            <a:ext cx="11155680" cy="502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Segoe UI"/>
              </a:rPr>
              <a:t>Real = scraped in-domain text (closest to test distribution). Translated = real text machine-translated from another language (used when no native corpus exists). Generated = LLM-synthesized text (used when neither exists).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" y="18288"/>
            <a:ext cx="12042648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 spc="220">
                <a:solidFill>
                  <a:srgbClr val="2563EB"/>
                </a:solidFill>
                <a:latin typeface="Segoe UI"/>
              </a:rPr>
              <a:t>ABLATION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Pool → Silver → Training Pipeline (rus_restaurant)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28800"/>
            <a:ext cx="11201400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65376"/>
            <a:ext cx="4059935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300" b="1" i="0" spc="30">
                <a:solidFill>
                  <a:srgbClr val="64748B"/>
                </a:solidFill>
                <a:latin typeface="Segoe UI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79" y="1865376"/>
            <a:ext cx="2185415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300" b="1" i="0" spc="30">
                <a:solidFill>
                  <a:srgbClr val="64748B"/>
                </a:solidFill>
                <a:latin typeface="Segoe UI"/>
              </a:rPr>
              <a:t>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599" y="1865376"/>
            <a:ext cx="2185415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300" b="1" i="0" spc="30">
                <a:solidFill>
                  <a:srgbClr val="64748B"/>
                </a:solidFill>
                <a:latin typeface="Segoe UI"/>
              </a:rPr>
              <a:t>TRANSLATED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19" y="1865376"/>
            <a:ext cx="2185415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300" b="1" i="0" spc="30">
                <a:solidFill>
                  <a:srgbClr val="64748B"/>
                </a:solidFill>
                <a:latin typeface="Segoe UI"/>
              </a:rPr>
              <a:t>GENERATED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2212848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12848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Pool size (unlabeled text)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7" y="2212848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7" y="2212848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3,466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6607" y="2212848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" y="2779776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779776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DeepSeek-labeled 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7" y="2779776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4,000 (1:1)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7" y="2779776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3,466 (1:1)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7" y="2779776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4,000 (1:1, pending)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346704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346704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Silver used in training (silver_cap: 3000)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7" y="3346704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3,000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887" y="3346704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3,000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6607" y="3346704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3,000 (once run)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913632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+ gold (fixed)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7" y="3913632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1,240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7" y="3913632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1,240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7" y="3913632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1,240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80560"/>
            <a:ext cx="1120140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480560"/>
            <a:ext cx="402335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1" i="0">
                <a:solidFill>
                  <a:srgbClr val="0F172A"/>
                </a:solidFill>
                <a:latin typeface="Segoe UI"/>
              </a:rPr>
              <a:t>Final training file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7" y="4480560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7" y="4480560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450" b="0" i="0">
                <a:solidFill>
                  <a:srgbClr val="334155"/>
                </a:solidFill>
                <a:latin typeface="Segoe UI"/>
              </a:rPr>
              <a:t>4,240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7" y="4480560"/>
            <a:ext cx="2148839" cy="566928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450" b="0" i="0">
                <a:solidFill>
                  <a:srgbClr val="334155"/>
                </a:solidFill>
                <a:latin typeface="Segoe UI"/>
              </a:rPr>
              <a:t>4,240 (once run)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" y="18288"/>
            <a:ext cx="12042648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1300" b="1" i="0" spc="220">
                <a:solidFill>
                  <a:srgbClr val="2563EB"/>
                </a:solidFill>
                <a:latin typeface="Segoe UI"/>
              </a:rPr>
              <a:t>WHY 0.5753 → 0.5586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Original Submission vs. This Ablation's Real Arm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28800"/>
            <a:ext cx="11247119" cy="38404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65376"/>
            <a:ext cx="223113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1" i="0" spc="30">
                <a:solidFill>
                  <a:srgbClr val="64748B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65376"/>
            <a:ext cx="428853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1" i="0" spc="30">
                <a:solidFill>
                  <a:srgbClr val="64748B"/>
                </a:solidFill>
                <a:latin typeface="Segoe UI"/>
              </a:rPr>
              <a:t>ORIGINAL SUBMISSION (0.5753)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19" y="1865376"/>
            <a:ext cx="4288536" cy="310896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ctr"/>
            <a:r>
              <a:rPr sz="1200" b="1" i="0" spc="30">
                <a:solidFill>
                  <a:srgbClr val="64748B"/>
                </a:solidFill>
                <a:latin typeface="Segoe UI"/>
              </a:rPr>
              <a:t>THIS ABLATION'S REAL ARM (0.5586)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2212848"/>
            <a:ext cx="11247119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212848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Pool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Segoe UI"/>
              </a:rPr>
              <a:t>Same real pool rus_restaurant_pool_v23.jsonl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221284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Segoe UI"/>
              </a:rPr>
              <a:t>Random 4,000-row subset of the same pool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990088"/>
            <a:ext cx="11247119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90088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Pool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99008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Segoe UI"/>
              </a:rPr>
              <a:t>8,630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9208" y="299008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Segoe UI"/>
              </a:rPr>
              <a:t>4,000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767328"/>
            <a:ext cx="11247119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67328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silver_cap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76732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Segoe UI"/>
              </a:rPr>
              <a:t>0 (uncapped — all 8,630 rows used)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376732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Segoe UI"/>
              </a:rPr>
              <a:t>3,000 (capped)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4544568"/>
            <a:ext cx="11247119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544568"/>
            <a:ext cx="2194560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Segoe UI"/>
              </a:rPr>
              <a:t>Training file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454456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Segoe UI"/>
              </a:rPr>
              <a:t>1,240 gold + ~8,890 silver ≈ 10,130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4544568"/>
            <a:ext cx="4251959" cy="777240"/>
          </a:xfrm>
          <a:prstGeom prst="rect">
            <a:avLst/>
          </a:prstGeom>
          <a:noFill/>
        </p:spPr>
        <p:txBody>
          <a:bodyPr wrap="square" anchor="ctr" lIns="0" rIns="0" tIns="25400" bIns="25400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Segoe UI"/>
              </a:rPr>
              <a:t>1,240 gold + 3,000 silver = 4,240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" y="18288"/>
            <a:ext cx="12042648" cy="274320"/>
          </a:xfrm>
          <a:prstGeom prst="rect">
            <a:avLst/>
          </a:prstGeom>
          <a:noFill/>
        </p:spPr>
        <p:txBody>
          <a:bodyPr wrap="none" lIns="36576" rIns="36576" tIns="0" bIns="0" anchor="ctr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Aptos"/>
              </a:rPr>
              <a:t>HISTORICAL DECK — superseded by the locked 2026-07-18 evidence; do not cite cross-split SOTA or universal KD claims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