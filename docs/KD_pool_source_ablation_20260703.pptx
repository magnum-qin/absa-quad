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463040"/>
            <a:ext cx="10058400" cy="32004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00" b="1" i="0" spc="220">
                <a:solidFill>
                  <a:srgbClr val="2563EB"/>
                </a:solidFill>
                <a:latin typeface="Segoe UI"/>
              </a:rPr>
              <a:t>ABSA-QUAD  ·  KD GROUP MEETING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920240"/>
            <a:ext cx="11155680" cy="91440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4400" b="1" i="0">
                <a:solidFill>
                  <a:srgbClr val="0F172A"/>
                </a:solidFill>
                <a:latin typeface="Segoe UI"/>
              </a:rPr>
              <a:t>Pool-Source 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788920"/>
            <a:ext cx="11155680" cy="59436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2600" b="1" i="0">
                <a:solidFill>
                  <a:srgbClr val="2563EB"/>
                </a:solidFill>
                <a:latin typeface="Segoe UI"/>
              </a:rPr>
              <a:t>Real vs. Translated vs. Generated Silver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611880"/>
            <a:ext cx="155448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3794760"/>
            <a:ext cx="11155680" cy="45720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600" b="0" i="1">
                <a:solidFill>
                  <a:srgbClr val="64748B"/>
                </a:solidFill>
                <a:latin typeface="Segoe UI"/>
              </a:rPr>
              <a:t>rus_restaurant · size-matched · single-variable ablation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00" b="1" i="0" spc="220">
                <a:solidFill>
                  <a:srgbClr val="2563EB"/>
                </a:solidFill>
                <a:latin typeface="Segoe UI"/>
              </a:rPr>
              <a:t>KD EXPERIMENTS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76656"/>
            <a:ext cx="11155680" cy="68580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Segoe UI"/>
              </a:rPr>
              <a:t>All 8 Datasets, Simplified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1481328"/>
            <a:ext cx="11155680" cy="384048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17904"/>
            <a:ext cx="1362456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150" b="1" i="0" spc="30">
                <a:solidFill>
                  <a:srgbClr val="64748B"/>
                </a:solidFill>
                <a:latin typeface="Segoe UI"/>
              </a:rPr>
              <a:t>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57400" y="1517904"/>
            <a:ext cx="1179576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150" b="1" i="0" spc="30">
                <a:solidFill>
                  <a:srgbClr val="64748B"/>
                </a:solidFill>
                <a:latin typeface="Segoe UI"/>
              </a:rPr>
              <a:t>TEACHER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517904"/>
            <a:ext cx="3054096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150" b="1" i="0" spc="30">
                <a:solidFill>
                  <a:srgbClr val="64748B"/>
                </a:solidFill>
                <a:latin typeface="Segoe UI"/>
              </a:rPr>
              <a:t>SILVER 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517904"/>
            <a:ext cx="996696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150" b="1" i="0" spc="30">
                <a:solidFill>
                  <a:srgbClr val="64748B"/>
                </a:solidFill>
                <a:latin typeface="Segoe UI"/>
              </a:rPr>
              <a:t>BASELINE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80" y="1517904"/>
            <a:ext cx="1271016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150" b="1" i="0" spc="30">
                <a:solidFill>
                  <a:srgbClr val="64748B"/>
                </a:solidFill>
                <a:latin typeface="Segoe UI"/>
              </a:rPr>
              <a:t>BEST KD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1517904"/>
            <a:ext cx="1179576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150" b="1" i="0" spc="30">
                <a:solidFill>
                  <a:srgbClr val="64748B"/>
                </a:solidFill>
                <a:latin typeface="Segoe UI"/>
              </a:rPr>
              <a:t>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69880" y="1517904"/>
            <a:ext cx="1088136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150" b="1" i="0" spc="30">
                <a:solidFill>
                  <a:srgbClr val="64748B"/>
                </a:solidFill>
                <a:latin typeface="Segoe UI"/>
              </a:rPr>
              <a:t>ADOPTED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" y="1865376"/>
            <a:ext cx="11155680" cy="47548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865376"/>
            <a:ext cx="132588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1" i="0">
                <a:solidFill>
                  <a:srgbClr val="0F172A"/>
                </a:solidFill>
                <a:latin typeface="Segoe UI"/>
              </a:rPr>
              <a:t>eng_laptop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5688" y="1865376"/>
            <a:ext cx="114300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0" i="0">
                <a:solidFill>
                  <a:srgbClr val="334155"/>
                </a:solidFill>
                <a:latin typeface="Segoe UI"/>
              </a:rPr>
              <a:t>DeepSeek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01568" y="1865376"/>
            <a:ext cx="301752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150" b="0" i="0">
                <a:solidFill>
                  <a:srgbClr val="334155"/>
                </a:solidFill>
                <a:latin typeface="Segoe UI"/>
              </a:rPr>
              <a:t>Real · n=8,578 (Amazon laptop)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1968" y="1865376"/>
            <a:ext cx="96012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0" i="0">
                <a:solidFill>
                  <a:srgbClr val="334155"/>
                </a:solidFill>
                <a:latin typeface="Segoe UI"/>
              </a:rPr>
              <a:t>0.3254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4968" y="1865376"/>
            <a:ext cx="123444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0" i="0">
                <a:solidFill>
                  <a:srgbClr val="334155"/>
                </a:solidFill>
                <a:latin typeface="Segoe UI"/>
              </a:rPr>
              <a:t>0.4141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62288" y="1865376"/>
            <a:ext cx="114300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0" i="0">
                <a:solidFill>
                  <a:srgbClr val="334155"/>
                </a:solidFill>
                <a:latin typeface="Segoe UI"/>
              </a:rPr>
              <a:t>+8.9pp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88168" y="1865376"/>
            <a:ext cx="105156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1" i="0">
                <a:solidFill>
                  <a:srgbClr val="047857"/>
                </a:solidFill>
                <a:latin typeface="Segoe UI"/>
              </a:rPr>
              <a:t>Submitted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340864"/>
            <a:ext cx="11155680" cy="475488"/>
          </a:xfrm>
          <a:prstGeom prst="roundRect">
            <a:avLst>
              <a:gd name="adj" fmla="val 3000"/>
            </a:avLst>
          </a:prstGeom>
          <a:solidFill>
            <a:srgbClr val="D6F2E4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2340864"/>
            <a:ext cx="132588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1" i="0">
                <a:solidFill>
                  <a:srgbClr val="0F172A"/>
                </a:solidFill>
                <a:latin typeface="Segoe UI"/>
              </a:rPr>
              <a:t>rus_restaurant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75688" y="2340864"/>
            <a:ext cx="114300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0" i="0">
                <a:solidFill>
                  <a:srgbClr val="334155"/>
                </a:solidFill>
                <a:latin typeface="Segoe UI"/>
              </a:rPr>
              <a:t>DeepSeek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01568" y="2340864"/>
            <a:ext cx="301752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150" b="0" i="0">
                <a:solidFill>
                  <a:srgbClr val="334155"/>
                </a:solidFill>
                <a:latin typeface="Segoe UI"/>
              </a:rPr>
              <a:t>Real · n=8,630 (Yandex geo-reviews)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1968" y="2340864"/>
            <a:ext cx="96012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0" i="0">
                <a:solidFill>
                  <a:srgbClr val="334155"/>
                </a:solidFill>
                <a:latin typeface="Segoe UI"/>
              </a:rPr>
              <a:t>0.5267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44968" y="2340864"/>
            <a:ext cx="123444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0" i="0">
                <a:solidFill>
                  <a:srgbClr val="334155"/>
                </a:solidFill>
                <a:latin typeface="Segoe UI"/>
              </a:rPr>
              <a:t>0.5753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62288" y="2340864"/>
            <a:ext cx="114300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0" i="0">
                <a:solidFill>
                  <a:srgbClr val="334155"/>
                </a:solidFill>
                <a:latin typeface="Segoe UI"/>
              </a:rPr>
              <a:t>+4.9pp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88168" y="2340864"/>
            <a:ext cx="105156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1" i="0">
                <a:solidFill>
                  <a:srgbClr val="047857"/>
                </a:solidFill>
                <a:latin typeface="Segoe UI"/>
              </a:rPr>
              <a:t>Submitted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2816352"/>
            <a:ext cx="11155680" cy="47548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816352"/>
            <a:ext cx="132588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1" i="0">
                <a:solidFill>
                  <a:srgbClr val="0F172A"/>
                </a:solidFill>
                <a:latin typeface="Segoe UI"/>
              </a:rPr>
              <a:t>ukr_restaurant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75688" y="2816352"/>
            <a:ext cx="114300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0" i="0">
                <a:solidFill>
                  <a:srgbClr val="334155"/>
                </a:solidFill>
                <a:latin typeface="Segoe UI"/>
              </a:rPr>
              <a:t>DeepSeek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01568" y="2816352"/>
            <a:ext cx="301752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150" b="0" i="0">
                <a:solidFill>
                  <a:srgbClr val="334155"/>
                </a:solidFill>
                <a:latin typeface="Segoe UI"/>
              </a:rPr>
              <a:t>Translated · n=6,551 (RU→UK)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1968" y="2816352"/>
            <a:ext cx="96012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0" i="0">
                <a:solidFill>
                  <a:srgbClr val="334155"/>
                </a:solidFill>
                <a:latin typeface="Segoe UI"/>
              </a:rPr>
              <a:t>0.5068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44968" y="2816352"/>
            <a:ext cx="123444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0" i="0">
                <a:solidFill>
                  <a:srgbClr val="334155"/>
                </a:solidFill>
                <a:latin typeface="Segoe UI"/>
              </a:rPr>
              <a:t>0.5560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816352"/>
            <a:ext cx="114300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0" i="0">
                <a:solidFill>
                  <a:srgbClr val="334155"/>
                </a:solidFill>
                <a:latin typeface="Segoe UI"/>
              </a:rPr>
              <a:t>+4.9pp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88168" y="2816352"/>
            <a:ext cx="105156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1" i="0">
                <a:solidFill>
                  <a:srgbClr val="047857"/>
                </a:solidFill>
                <a:latin typeface="Segoe UI"/>
              </a:rPr>
              <a:t>Submitted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5488" y="3291840"/>
            <a:ext cx="11155680" cy="47548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3291840"/>
            <a:ext cx="132588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1" i="0">
                <a:solidFill>
                  <a:srgbClr val="0F172A"/>
                </a:solidFill>
                <a:latin typeface="Segoe UI"/>
              </a:rPr>
              <a:t>zho_restaurant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75688" y="3291840"/>
            <a:ext cx="114300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0" i="0">
                <a:solidFill>
                  <a:srgbClr val="334155"/>
                </a:solidFill>
                <a:latin typeface="Segoe UI"/>
              </a:rPr>
              <a:t>DeepSeek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01568" y="3291840"/>
            <a:ext cx="301752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150" b="0" i="0">
                <a:solidFill>
                  <a:srgbClr val="334155"/>
                </a:solidFill>
                <a:latin typeface="Segoe UI"/>
              </a:rPr>
              <a:t>Real n=5,000 (dianping); Gen n=4,930 (superseded)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01968" y="3291840"/>
            <a:ext cx="96012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0" i="0">
                <a:solidFill>
                  <a:srgbClr val="334155"/>
                </a:solidFill>
                <a:latin typeface="Segoe UI"/>
              </a:rPr>
              <a:t>0.4745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44968" y="3291840"/>
            <a:ext cx="123444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0" i="0">
                <a:solidFill>
                  <a:srgbClr val="334155"/>
                </a:solidFill>
                <a:latin typeface="Segoe UI"/>
              </a:rPr>
              <a:t>0.5579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291840"/>
            <a:ext cx="114300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0" i="0">
                <a:solidFill>
                  <a:srgbClr val="334155"/>
                </a:solidFill>
                <a:latin typeface="Segoe UI"/>
              </a:rPr>
              <a:t>+8.3pp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88168" y="3291840"/>
            <a:ext cx="105156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1" i="0">
                <a:solidFill>
                  <a:srgbClr val="047857"/>
                </a:solidFill>
                <a:latin typeface="Segoe UI"/>
              </a:rPr>
              <a:t>Submitted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75488" y="3767328"/>
            <a:ext cx="11155680" cy="47548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6928" y="3767328"/>
            <a:ext cx="132588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1" i="0">
                <a:solidFill>
                  <a:srgbClr val="0F172A"/>
                </a:solidFill>
                <a:latin typeface="Segoe UI"/>
              </a:rPr>
              <a:t>tat_restaurant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75688" y="3767328"/>
            <a:ext cx="114300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0" i="0">
                <a:solidFill>
                  <a:srgbClr val="334155"/>
                </a:solidFill>
                <a:latin typeface="Segoe UI"/>
              </a:rPr>
              <a:t>qwen (local)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01568" y="3767328"/>
            <a:ext cx="301752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150" b="0" i="0">
                <a:solidFill>
                  <a:srgbClr val="334155"/>
                </a:solidFill>
                <a:latin typeface="Segoe UI"/>
              </a:rPr>
              <a:t>Generated · n=3,986 (native Tatar)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01968" y="3767328"/>
            <a:ext cx="96012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0" i="0">
                <a:solidFill>
                  <a:srgbClr val="334155"/>
                </a:solidFill>
                <a:latin typeface="Segoe UI"/>
              </a:rPr>
              <a:t>0.4821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44968" y="3767328"/>
            <a:ext cx="123444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0" i="0">
                <a:solidFill>
                  <a:srgbClr val="334155"/>
                </a:solidFill>
                <a:latin typeface="Segoe UI"/>
              </a:rPr>
              <a:t>0.5327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62288" y="3767328"/>
            <a:ext cx="114300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0" i="0">
                <a:solidFill>
                  <a:srgbClr val="334155"/>
                </a:solidFill>
                <a:latin typeface="Segoe UI"/>
              </a:rPr>
              <a:t>+5.1pp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88168" y="3767328"/>
            <a:ext cx="105156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1" i="0">
                <a:solidFill>
                  <a:srgbClr val="047857"/>
                </a:solidFill>
                <a:latin typeface="Segoe UI"/>
              </a:rPr>
              <a:t>Submitted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75488" y="4242816"/>
            <a:ext cx="11155680" cy="47548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6928" y="4242816"/>
            <a:ext cx="132588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1" i="0">
                <a:solidFill>
                  <a:srgbClr val="0F172A"/>
                </a:solidFill>
                <a:latin typeface="Segoe UI"/>
              </a:rPr>
              <a:t>zho_laptop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75688" y="4242816"/>
            <a:ext cx="114300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0" i="0">
                <a:solidFill>
                  <a:srgbClr val="334155"/>
                </a:solidFill>
                <a:latin typeface="Segoe UI"/>
              </a:rPr>
              <a:t>qwen/DeepSeek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01568" y="4242816"/>
            <a:ext cx="301752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150" b="0" i="0">
                <a:solidFill>
                  <a:srgbClr val="334155"/>
                </a:solidFill>
                <a:latin typeface="Segoe UI"/>
              </a:rPr>
              <a:t>Gen n=4,923; Real n=1,673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01968" y="4242816"/>
            <a:ext cx="96012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0" i="0">
                <a:solidFill>
                  <a:srgbClr val="334155"/>
                </a:solidFill>
                <a:latin typeface="Segoe UI"/>
              </a:rPr>
              <a:t>0.4487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744968" y="4242816"/>
            <a:ext cx="123444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0" i="0">
                <a:solidFill>
                  <a:srgbClr val="334155"/>
                </a:solidFill>
                <a:latin typeface="Segoe UI"/>
              </a:rPr>
              <a:t>0.4454 / 0.4264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62288" y="4242816"/>
            <a:ext cx="114300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0" i="0">
                <a:solidFill>
                  <a:srgbClr val="334155"/>
                </a:solidFill>
                <a:latin typeface="Segoe UI"/>
              </a:rPr>
              <a:t>−0.3~−2.2pp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488168" y="4242816"/>
            <a:ext cx="105156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1" i="0">
                <a:solidFill>
                  <a:srgbClr val="DC2626"/>
                </a:solidFill>
                <a:latin typeface="Segoe UI"/>
              </a:rPr>
              <a:t>Rejected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75488" y="4718304"/>
            <a:ext cx="11155680" cy="47548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928" y="4718304"/>
            <a:ext cx="132588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1" i="0">
                <a:solidFill>
                  <a:srgbClr val="0F172A"/>
                </a:solidFill>
                <a:latin typeface="Segoe UI"/>
              </a:rPr>
              <a:t>jpn_hotel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075688" y="4718304"/>
            <a:ext cx="114300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0" i="0">
                <a:solidFill>
                  <a:srgbClr val="334155"/>
                </a:solidFill>
                <a:latin typeface="Segoe UI"/>
              </a:rPr>
              <a:t>DeepSeek/qwen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01568" y="4718304"/>
            <a:ext cx="301752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150" b="0" i="0">
                <a:solidFill>
                  <a:srgbClr val="334155"/>
                </a:solidFill>
                <a:latin typeface="Segoe UI"/>
              </a:rPr>
              <a:t>Generated · n=4,756 (no real corpus)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01968" y="4718304"/>
            <a:ext cx="96012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0" i="0">
                <a:solidFill>
                  <a:srgbClr val="334155"/>
                </a:solidFill>
                <a:latin typeface="Segoe UI"/>
              </a:rPr>
              <a:t>0.4466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4968" y="4718304"/>
            <a:ext cx="123444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0" i="0">
                <a:solidFill>
                  <a:srgbClr val="334155"/>
                </a:solidFill>
                <a:latin typeface="Segoe UI"/>
              </a:rPr>
              <a:t>0.4281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62288" y="4718304"/>
            <a:ext cx="114300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0" i="0">
                <a:solidFill>
                  <a:srgbClr val="334155"/>
                </a:solidFill>
                <a:latin typeface="Segoe UI"/>
              </a:rPr>
              <a:t>−1.9pp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88168" y="4718304"/>
            <a:ext cx="105156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1" i="0">
                <a:solidFill>
                  <a:srgbClr val="DC2626"/>
                </a:solidFill>
                <a:latin typeface="Segoe UI"/>
              </a:rPr>
              <a:t>Rejected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75488" y="5193792"/>
            <a:ext cx="11155680" cy="47548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66928" y="5193792"/>
            <a:ext cx="132588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1" i="0">
                <a:solidFill>
                  <a:srgbClr val="0F172A"/>
                </a:solidFill>
                <a:latin typeface="Segoe UI"/>
              </a:rPr>
              <a:t>eng_restaurant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75688" y="5193792"/>
            <a:ext cx="114300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0" i="0">
                <a:solidFill>
                  <a:srgbClr val="334155"/>
                </a:solidFill>
                <a:latin typeface="Segoe UI"/>
              </a:rPr>
              <a:t>DeepSeek/qwen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401568" y="5193792"/>
            <a:ext cx="301752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150" b="0" i="0">
                <a:solidFill>
                  <a:srgbClr val="334155"/>
                </a:solidFill>
                <a:latin typeface="Segoe UI"/>
              </a:rPr>
              <a:t>Gen n=4,974; Real n=5,000 (Yelp)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601968" y="5193792"/>
            <a:ext cx="96012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0" i="0">
                <a:solidFill>
                  <a:srgbClr val="334155"/>
                </a:solidFill>
                <a:latin typeface="Segoe UI"/>
              </a:rPr>
              <a:t>0.6554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744968" y="5193792"/>
            <a:ext cx="123444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0" i="0">
                <a:solidFill>
                  <a:srgbClr val="334155"/>
                </a:solidFill>
                <a:latin typeface="Segoe UI"/>
              </a:rPr>
              <a:t>0.6013 / 0.4190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62288" y="5193792"/>
            <a:ext cx="114300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0" i="0">
                <a:solidFill>
                  <a:srgbClr val="334155"/>
                </a:solidFill>
                <a:latin typeface="Segoe UI"/>
              </a:rPr>
              <a:t>−5.4~−23.6pp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488168" y="5193792"/>
            <a:ext cx="1051560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150" b="1" i="0">
                <a:solidFill>
                  <a:srgbClr val="DC2626"/>
                </a:solidFill>
                <a:latin typeface="Segoe UI"/>
              </a:rPr>
              <a:t>Rejected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920" y="5833871"/>
            <a:ext cx="11155680" cy="50292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Segoe UI"/>
              </a:rPr>
              <a:t>Real = scraped in-domain text (closest to test distribution). Translated = real text machine-translated from another language (used when no native corpus exists). Generated = LLM-synthesized text (used when neither exists).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00" b="1" i="0" spc="220">
                <a:solidFill>
                  <a:srgbClr val="2563EB"/>
                </a:solidFill>
                <a:latin typeface="Segoe UI"/>
              </a:rPr>
              <a:t>ABLATION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76656"/>
            <a:ext cx="11155680" cy="68580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Segoe UI"/>
              </a:rPr>
              <a:t>Pool → Silver → Training Pipeline (rus_restaurant)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1828800"/>
            <a:ext cx="11201400" cy="384048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65376"/>
            <a:ext cx="4059935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300" b="1" i="0" spc="30">
                <a:solidFill>
                  <a:srgbClr val="64748B"/>
                </a:solidFill>
                <a:latin typeface="Segoe UI"/>
              </a:rPr>
              <a:t>STAGE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79" y="1865376"/>
            <a:ext cx="2185415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300" b="1" i="0" spc="30">
                <a:solidFill>
                  <a:srgbClr val="64748B"/>
                </a:solidFill>
                <a:latin typeface="Segoe UI"/>
              </a:rPr>
              <a:t>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86599" y="1865376"/>
            <a:ext cx="2185415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300" b="1" i="0" spc="30">
                <a:solidFill>
                  <a:srgbClr val="64748B"/>
                </a:solidFill>
                <a:latin typeface="Segoe UI"/>
              </a:rPr>
              <a:t>TRANSLATED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19" y="1865376"/>
            <a:ext cx="2185415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300" b="1" i="0" spc="30">
                <a:solidFill>
                  <a:srgbClr val="64748B"/>
                </a:solidFill>
                <a:latin typeface="Segoe UI"/>
              </a:rPr>
              <a:t>GENERATED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212848"/>
            <a:ext cx="11201400" cy="5669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212848"/>
            <a:ext cx="402335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50" b="1" i="0">
                <a:solidFill>
                  <a:srgbClr val="0F172A"/>
                </a:solidFill>
                <a:latin typeface="Segoe UI"/>
              </a:rPr>
              <a:t>Pool size (unlabeled text)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3167" y="2212848"/>
            <a:ext cx="214883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50" b="0" i="0">
                <a:solidFill>
                  <a:srgbClr val="334155"/>
                </a:solidFill>
                <a:latin typeface="Segoe UI"/>
              </a:rPr>
              <a:t>4,000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04887" y="2212848"/>
            <a:ext cx="214883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450" b="0" i="0">
                <a:solidFill>
                  <a:srgbClr val="334155"/>
                </a:solidFill>
                <a:latin typeface="Segoe UI"/>
              </a:rPr>
              <a:t>3,466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36607" y="2212848"/>
            <a:ext cx="214883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50" b="0" i="0">
                <a:solidFill>
                  <a:srgbClr val="334155"/>
                </a:solidFill>
                <a:latin typeface="Segoe UI"/>
              </a:rPr>
              <a:t>4,000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" y="2779776"/>
            <a:ext cx="11201400" cy="5669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779776"/>
            <a:ext cx="402335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50" b="1" i="0">
                <a:solidFill>
                  <a:srgbClr val="0F172A"/>
                </a:solidFill>
                <a:latin typeface="Segoe UI"/>
              </a:rPr>
              <a:t>DeepSeek-labeled silver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7" y="2779776"/>
            <a:ext cx="214883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50" b="0" i="0">
                <a:solidFill>
                  <a:srgbClr val="334155"/>
                </a:solidFill>
                <a:latin typeface="Segoe UI"/>
              </a:rPr>
              <a:t>4,000 (1:1)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4887" y="2779776"/>
            <a:ext cx="214883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450" b="0" i="0">
                <a:solidFill>
                  <a:srgbClr val="334155"/>
                </a:solidFill>
                <a:latin typeface="Segoe UI"/>
              </a:rPr>
              <a:t>3,466 (1:1)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36607" y="2779776"/>
            <a:ext cx="214883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50" b="0" i="0">
                <a:solidFill>
                  <a:srgbClr val="334155"/>
                </a:solidFill>
                <a:latin typeface="Segoe UI"/>
              </a:rPr>
              <a:t>4,000 (1:1, pending)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3346704"/>
            <a:ext cx="11201400" cy="5669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346704"/>
            <a:ext cx="402335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50" b="1" i="0">
                <a:solidFill>
                  <a:srgbClr val="0F172A"/>
                </a:solidFill>
                <a:latin typeface="Segoe UI"/>
              </a:rPr>
              <a:t>Silver used in training (silver_cap: 3000)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73167" y="3346704"/>
            <a:ext cx="214883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50" b="0" i="0">
                <a:solidFill>
                  <a:srgbClr val="334155"/>
                </a:solidFill>
                <a:latin typeface="Segoe UI"/>
              </a:rPr>
              <a:t>3,000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4887" y="3346704"/>
            <a:ext cx="214883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450" b="0" i="0">
                <a:solidFill>
                  <a:srgbClr val="334155"/>
                </a:solidFill>
                <a:latin typeface="Segoe UI"/>
              </a:rPr>
              <a:t>3,000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36607" y="3346704"/>
            <a:ext cx="214883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50" b="0" i="0">
                <a:solidFill>
                  <a:srgbClr val="334155"/>
                </a:solidFill>
                <a:latin typeface="Segoe UI"/>
              </a:rPr>
              <a:t>3,000 (once run)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01400" cy="5669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913632"/>
            <a:ext cx="402335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50" b="1" i="0">
                <a:solidFill>
                  <a:srgbClr val="0F172A"/>
                </a:solidFill>
                <a:latin typeface="Segoe UI"/>
              </a:rPr>
              <a:t>+ gold (fixed)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73167" y="3913632"/>
            <a:ext cx="214883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50" b="0" i="0">
                <a:solidFill>
                  <a:srgbClr val="334155"/>
                </a:solidFill>
                <a:latin typeface="Segoe UI"/>
              </a:rPr>
              <a:t>1,240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04887" y="3913632"/>
            <a:ext cx="214883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450" b="0" i="0">
                <a:solidFill>
                  <a:srgbClr val="334155"/>
                </a:solidFill>
                <a:latin typeface="Segoe UI"/>
              </a:rPr>
              <a:t>1,240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36607" y="3913632"/>
            <a:ext cx="214883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50" b="0" i="0">
                <a:solidFill>
                  <a:srgbClr val="334155"/>
                </a:solidFill>
                <a:latin typeface="Segoe UI"/>
              </a:rPr>
              <a:t>1,240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8" y="4480560"/>
            <a:ext cx="11201400" cy="5669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480560"/>
            <a:ext cx="402335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50" b="1" i="0">
                <a:solidFill>
                  <a:srgbClr val="0F172A"/>
                </a:solidFill>
                <a:latin typeface="Segoe UI"/>
              </a:rPr>
              <a:t>Final training file rows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73167" y="4480560"/>
            <a:ext cx="214883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50" b="0" i="0">
                <a:solidFill>
                  <a:srgbClr val="334155"/>
                </a:solidFill>
                <a:latin typeface="Segoe UI"/>
              </a:rPr>
              <a:t>4,240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04887" y="4480560"/>
            <a:ext cx="214883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450" b="0" i="0">
                <a:solidFill>
                  <a:srgbClr val="334155"/>
                </a:solidFill>
                <a:latin typeface="Segoe UI"/>
              </a:rPr>
              <a:t>4,240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36607" y="4480560"/>
            <a:ext cx="214883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50" b="0" i="0">
                <a:solidFill>
                  <a:srgbClr val="334155"/>
                </a:solidFill>
                <a:latin typeface="Segoe UI"/>
              </a:rPr>
              <a:t>4,240 (once run)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00" b="1" i="0" spc="220">
                <a:solidFill>
                  <a:srgbClr val="2563EB"/>
                </a:solidFill>
                <a:latin typeface="Segoe UI"/>
              </a:rPr>
              <a:t>WHY 0.5753 → 0.5586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76656"/>
            <a:ext cx="11155680" cy="68580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Segoe UI"/>
              </a:rPr>
              <a:t>Original Submission vs. This Ablation's Real Arm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1828800"/>
            <a:ext cx="11247119" cy="384048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65376"/>
            <a:ext cx="2231136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200" b="1" i="0" spc="30">
                <a:solidFill>
                  <a:srgbClr val="64748B"/>
                </a:solidFill>
                <a:latin typeface="Segoe U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865376"/>
            <a:ext cx="4288536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200" b="1" i="0" spc="30">
                <a:solidFill>
                  <a:srgbClr val="64748B"/>
                </a:solidFill>
                <a:latin typeface="Segoe UI"/>
              </a:rPr>
              <a:t>ORIGINAL SUBMISSION (0.5753)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19" y="1865376"/>
            <a:ext cx="4288536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200" b="1" i="0" spc="30">
                <a:solidFill>
                  <a:srgbClr val="64748B"/>
                </a:solidFill>
                <a:latin typeface="Segoe UI"/>
              </a:rPr>
              <a:t>THIS ABLATION'S REAL ARM (0.5586)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2212848"/>
            <a:ext cx="11247119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212848"/>
            <a:ext cx="2194560" cy="7772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  <a:latin typeface="Segoe UI"/>
              </a:rPr>
              <a:t>Pool 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44368" y="2212848"/>
            <a:ext cx="4251959" cy="7772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0" i="0">
                <a:solidFill>
                  <a:srgbClr val="334155"/>
                </a:solidFill>
                <a:latin typeface="Segoe UI"/>
              </a:rPr>
              <a:t>Same real pool rus_restaurant_pool_v23.jsonl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9208" y="2212848"/>
            <a:ext cx="4251959" cy="7772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Segoe UI"/>
              </a:rPr>
              <a:t>Random 4,000-row subset of the same pool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" y="2990088"/>
            <a:ext cx="11247119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990088"/>
            <a:ext cx="2194560" cy="7772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  <a:latin typeface="Segoe UI"/>
              </a:rPr>
              <a:t>Pool size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4368" y="2990088"/>
            <a:ext cx="4251959" cy="7772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0" i="0">
                <a:solidFill>
                  <a:srgbClr val="334155"/>
                </a:solidFill>
                <a:latin typeface="Segoe UI"/>
              </a:rPr>
              <a:t>8,630 rows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9208" y="2990088"/>
            <a:ext cx="4251959" cy="7772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Segoe UI"/>
              </a:rPr>
              <a:t>4,000 rows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3767328"/>
            <a:ext cx="11247119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767328"/>
            <a:ext cx="2194560" cy="7772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  <a:latin typeface="Segoe UI"/>
              </a:rPr>
              <a:t>silver_cap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44368" y="3767328"/>
            <a:ext cx="4251959" cy="7772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0" i="0">
                <a:solidFill>
                  <a:srgbClr val="334155"/>
                </a:solidFill>
                <a:latin typeface="Segoe UI"/>
              </a:rPr>
              <a:t>0 (uncapped — all 8,630 rows used)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9208" y="3767328"/>
            <a:ext cx="4251959" cy="7772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Segoe UI"/>
              </a:rPr>
              <a:t>3,000 (capped)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4544568"/>
            <a:ext cx="11247119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544568"/>
            <a:ext cx="2194560" cy="7772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  <a:latin typeface="Segoe UI"/>
              </a:rPr>
              <a:t>Training file rows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44368" y="4544568"/>
            <a:ext cx="4251959" cy="7772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0" i="0">
                <a:solidFill>
                  <a:srgbClr val="334155"/>
                </a:solidFill>
                <a:latin typeface="Segoe UI"/>
              </a:rPr>
              <a:t>1,240 gold + ~8,890 silver ≈ 10,130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9208" y="4544568"/>
            <a:ext cx="4251959" cy="7772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Segoe UI"/>
              </a:rPr>
              <a:t>1,240 gold + 3,000 silver = 4,240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