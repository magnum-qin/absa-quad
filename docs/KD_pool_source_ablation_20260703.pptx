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34440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ABSA-QUAD  ·  KD GROUP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9144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4400" b="1" i="0">
                <a:solidFill>
                  <a:srgbClr val="0F172A"/>
                </a:solidFill>
                <a:latin typeface="Segoe UI"/>
              </a:rPr>
              <a:t>Pool-Source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78608"/>
            <a:ext cx="1115568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2563EB"/>
                </a:solidFill>
                <a:latin typeface="Segoe UI"/>
              </a:rPr>
              <a:t>Real vs. Translated vs. Generated Silver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429000"/>
            <a:ext cx="15544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0" i="1">
                <a:solidFill>
                  <a:srgbClr val="64748B"/>
                </a:solidFill>
                <a:latin typeface="Segoe UI"/>
              </a:rPr>
              <a:t>rus_restaurant · size-matched · single-variable ablation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3484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rus_restaurant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4434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teacher: DeepSeek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308" y="4434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xlm-roberta-large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4434840"/>
            <a:ext cx="2235708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silver capped @3000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578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257800"/>
            <a:ext cx="9144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376672"/>
            <a:ext cx="36576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B45A09"/>
                </a:solidFill>
                <a:latin typeface="Segoe UI"/>
              </a:rPr>
              <a:t>STATUS  ·  2026-07-03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1069848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REAL ✅ done   ·   TRANSLATED 🔄 running   ·   GENERATED ⏳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V23 KD — Three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  <a:latin typeface="Segoe UI"/>
              </a:rPr>
              <a:t>Problem: gold scarce → long-tail classes underfit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1247119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2066544"/>
            <a:ext cx="13167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9112" y="2066544"/>
            <a:ext cx="405993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2066544"/>
            <a:ext cx="54315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KEY 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32304"/>
            <a:ext cx="11247119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432304"/>
            <a:ext cx="13167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1 · Silver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2432304"/>
            <a:ext cx="4059935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LLM labels unlabeled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432304"/>
            <a:ext cx="54315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DeepSeek / local qwen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99232"/>
            <a:ext cx="11247119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999232"/>
            <a:ext cx="13167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2 · Joint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9112" y="2999232"/>
            <a:ext cx="4059935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encoder on gold + 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999232"/>
            <a:ext cx="54315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silver injects class priors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66160"/>
            <a:ext cx="11247119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3566160"/>
            <a:ext cx="13167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3 · 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3566160"/>
            <a:ext cx="4059935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small-model ensemble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3566160"/>
            <a:ext cx="543153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no LLM cost / latency / variance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11201400" cy="7772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77639"/>
            <a:ext cx="91440" cy="7772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096512"/>
            <a:ext cx="27432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E293B"/>
                </a:solidFill>
                <a:latin typeface="Segoe UI"/>
              </a:rPr>
              <a:t>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343400"/>
            <a:ext cx="1069848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Segoe UI"/>
              </a:rPr>
              <a:t>5 / 8 datasets beat prior SOTA  (+1.2 ~ +5.9 pp)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WHY RUS_RESTAURANT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A Proven KD-Positive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600200"/>
            <a:ext cx="1106424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55064"/>
            <a:ext cx="25968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55064"/>
            <a:ext cx="186537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655064"/>
            <a:ext cx="204825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DEEPSEEK-KD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1655064"/>
            <a:ext cx="204825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55064"/>
            <a:ext cx="17739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VS SOTA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020824"/>
            <a:ext cx="11064240" cy="512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20824"/>
            <a:ext cx="259689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eng_laptop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20824"/>
            <a:ext cx="186537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0.3254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020824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0.4141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20824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+8.9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020824"/>
            <a:ext cx="177393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+1.35 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532888"/>
            <a:ext cx="11064240" cy="512064"/>
          </a:xfrm>
          <a:prstGeom prst="roundRect">
            <a:avLst>
              <a:gd name="adj" fmla="val 3000"/>
            </a:avLst>
          </a:prstGeom>
          <a:solidFill>
            <a:srgbClr val="D6F2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32888"/>
            <a:ext cx="259689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rus_restaurant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32888"/>
            <a:ext cx="186537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0.5267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532888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0.5753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532888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+4.9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532888"/>
            <a:ext cx="177393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+1.54 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044952"/>
            <a:ext cx="11064240" cy="512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44952"/>
            <a:ext cx="259689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ukr_restaurant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044952"/>
            <a:ext cx="186537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0.5068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044952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0.5560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3044952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+4.9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044952"/>
            <a:ext cx="177393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+1.23 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3557016"/>
            <a:ext cx="11064240" cy="512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557016"/>
            <a:ext cx="259689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zho_restaurant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557016"/>
            <a:ext cx="186537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0.4745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557016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0.5351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3557016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+6.1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557016"/>
            <a:ext cx="177393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n/a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4069080"/>
            <a:ext cx="11064240" cy="512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69080"/>
            <a:ext cx="259689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tat_restaurant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069080"/>
            <a:ext cx="186537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0.4821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4069080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0.5327*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4069080"/>
            <a:ext cx="2048255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+5.1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069080"/>
            <a:ext cx="1773936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n/a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24160" y="2633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spc="80">
                <a:solidFill>
                  <a:srgbClr val="FFFFFF"/>
                </a:solidFill>
                <a:latin typeface="Segoe UI"/>
              </a:rPr>
              <a:t>THIS ABLATION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901183"/>
            <a:ext cx="548640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1" i="0">
                <a:solidFill>
                  <a:srgbClr val="1D4ED8"/>
                </a:solidFill>
                <a:latin typeface="Segoe UI"/>
              </a:rPr>
              <a:t>Why this dataset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358383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3B82F6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KD confirmed positive (+4.9pp)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3B82F6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All 3 pool sources buildable (real / trans / gen)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Segoe UI"/>
              </a:rPr>
              <a:t>“Real &gt; Translated &gt; Generated” — Evidence Is Weak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54480"/>
            <a:ext cx="1106424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6883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9344"/>
            <a:ext cx="405993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19" y="1609344"/>
            <a:ext cx="38770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975104"/>
            <a:ext cx="1106424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75104"/>
            <a:ext cx="268833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1" i="0">
                <a:solidFill>
                  <a:srgbClr val="0F172A"/>
                </a:solidFill>
                <a:latin typeface="Segoe UI"/>
              </a:rPr>
              <a:t>Real &gt; 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75104"/>
            <a:ext cx="4059935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zho_restaurant: 0.5579 vs 0.5351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1975104"/>
            <a:ext cx="387705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n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798064"/>
            <a:ext cx="1106424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98064"/>
            <a:ext cx="268833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1" i="0">
                <a:solidFill>
                  <a:srgbClr val="0F172A"/>
                </a:solidFill>
                <a:latin typeface="Segoe UI"/>
              </a:rPr>
              <a:t>Translated &gt; Generated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98064"/>
            <a:ext cx="4059935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ukr: 0.5560 vs 0.5446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798064"/>
            <a:ext cx="387705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n = 1 + size confound (6138 vs 3991)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621024"/>
            <a:ext cx="1106424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21024"/>
            <a:ext cx="268833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1" i="0">
                <a:solidFill>
                  <a:srgbClr val="0F172A"/>
                </a:solidFill>
                <a:latin typeface="Segoe UI"/>
              </a:rPr>
              <a:t>Real &gt; Translated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21024"/>
            <a:ext cx="4059935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never 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3621024"/>
            <a:ext cx="3877056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middle link missing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764024"/>
            <a:ext cx="1097280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Segoe UI"/>
              </a:rPr>
              <a:t>Needed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4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EF4444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Fix pool size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EF4444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Fill real ↔ translated gap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EF4444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2nd real &gt; gen data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ABLATION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Segoe UI"/>
              </a:rPr>
              <a:t>Size-Matched 3-Way Pool-Source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334155"/>
                </a:solidFill>
                <a:latin typeface="Segoe UI"/>
              </a:rPr>
              <a:t>Fixed: teacher = DeepSeek  ·  config = xlm-roberta-large  ·  gold = 1,240  ·  Variable: pool source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" y="1965960"/>
            <a:ext cx="11567159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20824"/>
            <a:ext cx="19568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020824"/>
            <a:ext cx="405993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20824"/>
            <a:ext cx="16824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POOL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0824"/>
            <a:ext cx="15910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SILVER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2020824"/>
            <a:ext cx="15453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TRAIN 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386584"/>
            <a:ext cx="11567159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86584"/>
            <a:ext cx="195681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🥇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386584"/>
            <a:ext cx="405993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geo-reviews sample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386584"/>
            <a:ext cx="168249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86584"/>
            <a:ext cx="15910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2386584"/>
            <a:ext cx="15453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008376"/>
            <a:ext cx="11567159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08376"/>
            <a:ext cx="195681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🥈 TRANSLATED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08376"/>
            <a:ext cx="405993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Yelp EN → MarianMT en-ru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008376"/>
            <a:ext cx="168249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3,466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08376"/>
            <a:ext cx="15910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3008376"/>
            <a:ext cx="15453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3630168"/>
            <a:ext cx="11567159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95681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Segoe UI"/>
              </a:rPr>
              <a:t>🥉 GENERATED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630168"/>
            <a:ext cx="4059935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DeepSeek native RU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30168"/>
            <a:ext cx="168249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630168"/>
            <a:ext cx="15910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3630168"/>
            <a:ext cx="15453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00" b="0" i="0">
                <a:solidFill>
                  <a:srgbClr val="334155"/>
                </a:solidFill>
                <a:latin typeface="Segoe UI"/>
              </a:rPr>
              <a:t>4,240 (pending)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526280"/>
            <a:ext cx="11247120" cy="594360"/>
          </a:xfrm>
          <a:prstGeom prst="roundRect">
            <a:avLst>
              <a:gd name="adj" fmla="val 1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617720"/>
            <a:ext cx="1088136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Segoe UI"/>
              </a:rPr>
              <a:t>Closes: pool-size confound  ·  real ↔ translated link  ·  2nd real &gt; gen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LIVE STATUS  ·  AS OF 2026-07-03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Where the Three Arms Stand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737360"/>
            <a:ext cx="932688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92224"/>
            <a:ext cx="22311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4992" y="1792224"/>
            <a:ext cx="24140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5312" y="1792224"/>
            <a:ext cx="204825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9872" y="1792224"/>
            <a:ext cx="204825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DEV cF1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57984"/>
            <a:ext cx="9326880" cy="658368"/>
          </a:xfrm>
          <a:prstGeom prst="roundRect">
            <a:avLst>
              <a:gd name="adj" fmla="val 3000"/>
            </a:avLst>
          </a:prstGeom>
          <a:solidFill>
            <a:srgbClr val="D6F2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57984"/>
            <a:ext cx="2231136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1" i="0">
                <a:solidFill>
                  <a:srgbClr val="0F172A"/>
                </a:solidFill>
                <a:latin typeface="Segoe UI"/>
              </a:rPr>
              <a:t>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157984"/>
            <a:ext cx="241401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✅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25312" y="2157984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5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2157984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0.5586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816352"/>
            <a:ext cx="9326880" cy="658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816352"/>
            <a:ext cx="2231136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1" i="0">
                <a:solidFill>
                  <a:srgbClr val="0F172A"/>
                </a:solidFill>
                <a:latin typeface="Segoe UI"/>
              </a:rPr>
              <a:t>TRANSLATED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816352"/>
            <a:ext cx="241401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🔄 RUNNING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25312" y="2816352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1 /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2" y="2816352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474720"/>
            <a:ext cx="9326880" cy="658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474720"/>
            <a:ext cx="2231136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1" i="0">
                <a:solidFill>
                  <a:srgbClr val="0F172A"/>
                </a:solidFill>
                <a:latin typeface="Segoe UI"/>
              </a:rPr>
              <a:t>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4992" y="3474720"/>
            <a:ext cx="241401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⏳ 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5312" y="3474720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0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474720"/>
            <a:ext cx="2048255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50" b="0" i="0">
                <a:solidFill>
                  <a:srgbClr val="334155"/>
                </a:solidFill>
                <a:latin typeface="Segoe U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53127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4453127"/>
            <a:ext cx="91440" cy="7772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4562855"/>
            <a:ext cx="1828800" cy="2743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E293B"/>
                </a:solidFill>
                <a:latin typeface="Segoe UI"/>
              </a:rPr>
              <a:t>ETA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818888"/>
            <a:ext cx="1088136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Translated → ~7/4      Generated → ~7/5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PRELIMINARY READ  ·  REAL ARM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Real Arm: 0.5586 dev cF1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554480"/>
            <a:ext cx="6766560" cy="56692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31920" y="1554480"/>
            <a:ext cx="1806671" cy="566928"/>
          </a:xfrm>
          <a:prstGeom prst="roundRect">
            <a:avLst>
              <a:gd name="adj" fmla="val 3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554480"/>
            <a:ext cx="333756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1" i="0">
                <a:solidFill>
                  <a:srgbClr val="334155"/>
                </a:solidFill>
                <a:latin typeface="Segoe UI"/>
              </a:rPr>
              <a:t>no-KD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5751" y="1554480"/>
            <a:ext cx="86868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64748B"/>
                </a:solidFill>
                <a:latin typeface="Segoe UI"/>
              </a:rPr>
              <a:t>0.5267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395728"/>
            <a:ext cx="6766560" cy="56692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2395728"/>
            <a:ext cx="3965204" cy="566928"/>
          </a:xfrm>
          <a:prstGeom prst="roundRect">
            <a:avLst>
              <a:gd name="adj" fmla="val 3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95728"/>
            <a:ext cx="333756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1" i="0">
                <a:solidFill>
                  <a:srgbClr val="334155"/>
                </a:solidFill>
                <a:latin typeface="Segoe UI"/>
              </a:rPr>
              <a:t>REAL, size-matched (this ablation)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284" y="2395728"/>
            <a:ext cx="86868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47857"/>
                </a:solidFill>
                <a:latin typeface="Segoe UI"/>
              </a:rPr>
              <a:t>0.5586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236976"/>
            <a:ext cx="6766560" cy="56692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3236976"/>
            <a:ext cx="5095219" cy="566928"/>
          </a:xfrm>
          <a:prstGeom prst="roundRect">
            <a:avLst>
              <a:gd name="adj" fmla="val 3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236976"/>
            <a:ext cx="333756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1" i="0">
                <a:solidFill>
                  <a:srgbClr val="334155"/>
                </a:solidFill>
                <a:latin typeface="Segoe UI"/>
              </a:rPr>
              <a:t>DeepSeek-KD, unmatched pool (submitted)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4299" y="3236976"/>
            <a:ext cx="868680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1D4ED8"/>
                </a:solidFill>
                <a:latin typeface="Segoe UI"/>
              </a:rPr>
              <a:t>0.5753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4069080"/>
            <a:ext cx="1124712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23944"/>
            <a:ext cx="42428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123944"/>
            <a:ext cx="14996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123944"/>
            <a:ext cx="506577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489704"/>
            <a:ext cx="1124712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489704"/>
            <a:ext cx="42428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real capped(3k) vs uncapped(submitted)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489704"/>
            <a:ext cx="14996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−1.7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89704"/>
            <a:ext cx="506577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cap costs volume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5056632"/>
            <a:ext cx="1124712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056632"/>
            <a:ext cx="42428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real vs no-KD 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056632"/>
            <a:ext cx="14996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+3.2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056632"/>
            <a:ext cx="506577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KD still positive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623560"/>
            <a:ext cx="1124712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623560"/>
            <a:ext cx="42428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real vs translated vs generated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623560"/>
            <a:ext cx="149961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n/a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623560"/>
            <a:ext cx="5065776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3 arms not yet complete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Remaining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54480"/>
            <a:ext cx="1124712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47914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609344"/>
            <a:ext cx="29626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9344"/>
            <a:ext cx="30540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975104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75104"/>
            <a:ext cx="47914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Translated arm: seeds 3–5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975104"/>
            <a:ext cx="29626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975104"/>
            <a:ext cx="305409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~7/4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569464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7914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Generated arm: 5 seeds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69464"/>
            <a:ext cx="29626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queued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569464"/>
            <a:ext cx="305409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~7/5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163824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163824"/>
            <a:ext cx="47914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Update §5.29 + registry.yaml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163824"/>
            <a:ext cx="296265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63824"/>
            <a:ext cx="3054096" cy="5943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after all 3 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78224"/>
            <a:ext cx="1097280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1" i="0">
                <a:solidFill>
                  <a:srgbClr val="047857"/>
                </a:solidFill>
                <a:latin typeface="Segoe UI"/>
              </a:rPr>
              <a:t>Will resolve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35424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Real &gt; Translated &gt; Generated: confirm / refute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1st real vs translated link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•  </a:t>
            </a:r>
            <a:r>
              <a:rPr sz="1600" i="0" b="1">
                <a:solidFill>
                  <a:srgbClr val="334155"/>
                </a:solidFill>
                <a:latin typeface="Segoe UI"/>
              </a:rPr>
              <a:t>2nd real &gt; gen data point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8064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806440"/>
            <a:ext cx="91440" cy="6858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71032"/>
            <a:ext cx="1069848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n=1 + size confound → publishable claim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  <a:latin typeface="Segoe UI"/>
              </a:rPr>
              <a:t>In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600200"/>
            <a:ext cx="11247120" cy="420624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55064"/>
            <a:ext cx="22311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655064"/>
            <a:ext cx="29626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55064"/>
            <a:ext cx="56144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40">
                <a:solidFill>
                  <a:srgbClr val="64748B"/>
                </a:solidFill>
                <a:latin typeface="Segoe UI"/>
              </a:rPr>
              <a:t>NOTE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2020824"/>
            <a:ext cx="11247120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20824"/>
            <a:ext cx="22311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020824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0.5586 (+3.2pp vs 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20824"/>
            <a:ext cx="561441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complete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642616"/>
            <a:ext cx="11247120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42616"/>
            <a:ext cx="22311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Translated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642616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1 / 5 seeds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42616"/>
            <a:ext cx="561441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running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264408"/>
            <a:ext cx="11247120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64408"/>
            <a:ext cx="22311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Generated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64408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64408"/>
            <a:ext cx="561441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queued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886200"/>
            <a:ext cx="11247120" cy="621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86200"/>
            <a:ext cx="223113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Caveat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886200"/>
            <a:ext cx="296265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−1.7pp cap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886200"/>
            <a:ext cx="5614416" cy="6217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500" b="0" i="0">
                <a:solidFill>
                  <a:srgbClr val="334155"/>
                </a:solidFill>
                <a:latin typeface="Segoe UI"/>
              </a:rPr>
              <a:t>net into final read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539496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650992"/>
            <a:ext cx="1088136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Segoe UI"/>
              </a:rPr>
              <a:t>Full 3-way results — next group meeting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