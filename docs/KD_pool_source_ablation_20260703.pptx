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34440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ABSA-QUAD  ·  KD GROUP MEETING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91640"/>
            <a:ext cx="11155680" cy="9144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4400" b="1" i="0">
                <a:solidFill>
                  <a:srgbClr val="0F172A"/>
                </a:solidFill>
                <a:latin typeface="Segoe UI"/>
              </a:rPr>
              <a:t>Pool-Source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78608"/>
            <a:ext cx="11155680" cy="5943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2563EB"/>
                </a:solidFill>
                <a:latin typeface="Segoe UI"/>
              </a:rPr>
              <a:t>Real vs. Translated vs. Generated Silver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429000"/>
            <a:ext cx="1554480" cy="45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1115568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0" i="1">
                <a:solidFill>
                  <a:srgbClr val="64748B"/>
                </a:solidFill>
                <a:latin typeface="Segoe UI"/>
              </a:rPr>
              <a:t>Closing the evidence gap behind “Real &gt; Translated &gt; Generated”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34840"/>
            <a:ext cx="1755648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rus_restaurant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05456" y="4434840"/>
            <a:ext cx="2043684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teacher: DeepSeek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0308" y="4434840"/>
            <a:ext cx="2043684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xlm-roberta-large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95160" y="4434840"/>
            <a:ext cx="2043684" cy="457200"/>
          </a:xfrm>
          <a:prstGeom prst="roundRect">
            <a:avLst>
              <a:gd name="adj" fmla="val 5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300" b="1">
                <a:solidFill>
                  <a:srgbClr val="1D4ED8"/>
                </a:solidFill>
                <a:latin typeface="Consolas"/>
              </a:rPr>
              <a:t>size-matched (4k)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578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5257800"/>
            <a:ext cx="9144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376672"/>
            <a:ext cx="36576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B45A09"/>
                </a:solidFill>
                <a:latin typeface="Segoe UI"/>
              </a:rPr>
              <a:t>STATUS  ·  2026-07-03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1069848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0F172A"/>
                </a:solidFill>
                <a:latin typeface="Segoe UI"/>
              </a:rPr>
              <a:t>Experiment in progress — real arm complete, translated/generated arms running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V23 Knowledge Distillation, in One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5568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1" i="0">
                <a:solidFill>
                  <a:srgbClr val="334155"/>
                </a:solidFill>
                <a:latin typeface="Segoe UI"/>
              </a:rPr>
              <a:t>Small ABSA-QUAD encoders underfit long-tail (entity#attribute) classes on scarce gold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3584448" cy="2834640"/>
          </a:xfrm>
          <a:prstGeom prst="roundRect">
            <a:avLst>
              <a:gd name="adj" fmla="val 6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D4ED8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50" b="1" i="0">
                <a:solidFill>
                  <a:srgbClr val="1D4ED8"/>
                </a:solidFill>
                <a:latin typeface="Segoe UI"/>
              </a:rPr>
              <a:t>LLM silver-labels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3154680" cy="11430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A teacher LLM (DeepSeek / local qwen) annotates unlabeled in-domain text with full ABSA-QUAD quads.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48840"/>
            <a:ext cx="3584448" cy="2834640"/>
          </a:xfrm>
          <a:prstGeom prst="roundRect">
            <a:avLst>
              <a:gd name="adj" fmla="val 6000"/>
            </a:avLst>
          </a:prstGeom>
          <a:solidFill>
            <a:srgbClr val="ECE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17136" y="23774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6D28D9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3063240"/>
            <a:ext cx="3154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50" b="1" i="0">
                <a:solidFill>
                  <a:srgbClr val="6D28D9"/>
                </a:solidFill>
                <a:latin typeface="Segoe UI"/>
              </a:rPr>
              <a:t>Small model trains on gold + silver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7136" y="3749039"/>
            <a:ext cx="3154680" cy="11430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encoder (mDeBERTa / XLM-R) trains on the union; silver injects class priors gold alone can't supply.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148840"/>
            <a:ext cx="3584448" cy="2834640"/>
          </a:xfrm>
          <a:prstGeom prst="roundRect">
            <a:avLst>
              <a:gd name="adj" fmla="val 6000"/>
            </a:avLst>
          </a:prstGeom>
          <a:solidFill>
            <a:srgbClr val="D6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02752" y="23774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047857"/>
                </a:solidFill>
                <a:latin typeface="Sego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3063240"/>
            <a:ext cx="3154680" cy="6858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50" b="1" i="0">
                <a:solidFill>
                  <a:srgbClr val="047857"/>
                </a:solidFill>
                <a:latin typeface="Segoe UI"/>
              </a:rPr>
              <a:t>LLM dropped at 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3749039"/>
            <a:ext cx="3154680" cy="11430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Segoe UI"/>
              </a:rPr>
              <a:t>Final inference is a pure 5-seed small-model ensemble — no LLM cost, no LLM latency, no LLM variance.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57800"/>
            <a:ext cx="11201400" cy="8686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57800"/>
            <a:ext cx="91440" cy="8686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5376672"/>
            <a:ext cx="27432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1E293B"/>
                </a:solidFill>
                <a:latin typeface="Segoe UI"/>
              </a:rPr>
              <a:t>Established result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650992"/>
            <a:ext cx="1069848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KD beats prior test SOTA on 5/8 datasets (+1.2 to +5.9 pp); helps most where gold is scarcest.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WHY RUS_RESTAURANT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rus_restaurant Is a Proven KD-Positive Dataset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536192"/>
            <a:ext cx="11064240" cy="457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2596896" cy="34747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50">
                <a:solidFill>
                  <a:srgbClr val="64748B"/>
                </a:solidFill>
                <a:latin typeface="Segoe U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00200"/>
            <a:ext cx="1865376" cy="34747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50">
                <a:solidFill>
                  <a:srgbClr val="64748B"/>
                </a:solidFill>
                <a:latin typeface="Segoe UI"/>
              </a:rP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600200"/>
            <a:ext cx="2048255" cy="34747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50">
                <a:solidFill>
                  <a:srgbClr val="64748B"/>
                </a:solidFill>
                <a:latin typeface="Segoe UI"/>
              </a:rPr>
              <a:t>DEEPSEEK-KD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1600200"/>
            <a:ext cx="2048255" cy="34747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50">
                <a:solidFill>
                  <a:srgbClr val="64748B"/>
                </a:solidFill>
                <a:latin typeface="Segoe UI"/>
              </a:rPr>
              <a:t>Δ vs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00200"/>
            <a:ext cx="1773936" cy="34747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200" b="1" i="0" spc="50">
                <a:solidFill>
                  <a:srgbClr val="64748B"/>
                </a:solidFill>
                <a:latin typeface="Segoe UI"/>
              </a:rPr>
              <a:t>VS SOTA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2029968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029968"/>
            <a:ext cx="259689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Consolas"/>
              </a:rPr>
              <a:t>eng_laptop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29968"/>
            <a:ext cx="186537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0.3254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029968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0.4141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0" y="2029968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+8.9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029968"/>
            <a:ext cx="177393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+1.35 pp 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542032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D6F2E4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2032"/>
            <a:ext cx="259689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1" i="0">
                <a:solidFill>
                  <a:srgbClr val="047857"/>
                </a:solidFill>
                <a:latin typeface="Consolas"/>
              </a:rPr>
              <a:t>rus_restaurant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42032"/>
            <a:ext cx="186537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0.5267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542032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0.5753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0" y="2542032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+4.9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2542032"/>
            <a:ext cx="177393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+1.54 pp 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78440" y="262432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 spc="80">
                <a:solidFill>
                  <a:srgbClr val="FFFFFF"/>
                </a:solidFill>
                <a:latin typeface="Segoe UI"/>
              </a:rPr>
              <a:t>THIS ABLATION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" y="3054096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054096"/>
            <a:ext cx="259689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Consolas"/>
              </a:rPr>
              <a:t>ukr_restaurant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054096"/>
            <a:ext cx="186537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0.5068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3054096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0.5560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054096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+4.9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054096"/>
            <a:ext cx="177393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+1.23 pp 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" y="3566160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566160"/>
            <a:ext cx="259689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Consolas"/>
              </a:rPr>
              <a:t>zho_restaurant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566160"/>
            <a:ext cx="186537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0.4745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566160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0.5351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3566160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+6.1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566160"/>
            <a:ext cx="177393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n/a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078224"/>
            <a:ext cx="11064240" cy="457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078224"/>
            <a:ext cx="259689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Consolas"/>
              </a:rPr>
              <a:t>tat_restaurant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078224"/>
            <a:ext cx="186537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0.4821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03520" y="4078224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0.5327*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0" y="4078224"/>
            <a:ext cx="2048255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+5.1 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078224"/>
            <a:ext cx="1773936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350" b="0" i="0">
                <a:solidFill>
                  <a:srgbClr val="334155"/>
                </a:solidFill>
                <a:latin typeface="Segoe UI"/>
              </a:rPr>
              <a:t>n/a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" y="489204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5488" y="4892040"/>
            <a:ext cx="91440" cy="12344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5010912"/>
            <a:ext cx="27432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1D4ED8"/>
                </a:solidFill>
                <a:latin typeface="Segoe UI"/>
              </a:rPr>
              <a:t>Why this dataset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" y="5321808"/>
            <a:ext cx="10881360" cy="73152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Segoe UI"/>
              </a:rPr>
              <a:t>rus_restaurant is (1) confirmed KD-positive, so a pool-source effect is measurable against a real signal — not noise on a failed arm — and (2) high-resource enough that all three pool sources (real corpus, translation source, LLM generation) are simultaneously constructible.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700" b="1" i="0">
                <a:solidFill>
                  <a:srgbClr val="0F172A"/>
                </a:solidFill>
                <a:latin typeface="Segoe UI"/>
              </a:rPr>
              <a:t>“Real &gt; Translated &gt; Generated” — Evidence So Far Is Weak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481328"/>
            <a:ext cx="11064240" cy="438912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36192"/>
            <a:ext cx="2651760" cy="329184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50">
                <a:solidFill>
                  <a:srgbClr val="64748B"/>
                </a:solidFill>
                <a:latin typeface="Segoe U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01568" y="1536192"/>
            <a:ext cx="4023359" cy="329184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50">
                <a:solidFill>
                  <a:srgbClr val="64748B"/>
                </a:solidFill>
                <a:latin typeface="Segoe UI"/>
              </a:rPr>
              <a:t>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7807" y="1536192"/>
            <a:ext cx="3840480" cy="329184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50">
                <a:solidFill>
                  <a:srgbClr val="64748B"/>
                </a:solidFill>
                <a:latin typeface="Segoe UI"/>
              </a:rPr>
              <a:t>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1993392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993392"/>
            <a:ext cx="265176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B45A09"/>
                </a:solidFill>
                <a:latin typeface="Segoe UI"/>
              </a:rPr>
              <a:t>Real &gt; 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9856" y="1993392"/>
            <a:ext cx="4023359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Segoe UI"/>
              </a:rPr>
              <a:t>zho_restaurant: 0.5579 vs 0.5351 (+2.3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5" y="1993392"/>
            <a:ext cx="384048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0" i="1">
                <a:solidFill>
                  <a:srgbClr val="B45A09"/>
                </a:solidFill>
                <a:latin typeface="Segoe UI"/>
              </a:rPr>
              <a:t>n = 1, single dataset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" y="2907792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FDE4E4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907792"/>
            <a:ext cx="265176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Segoe UI"/>
              </a:rPr>
              <a:t>Translated &gt; Generated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9856" y="2907792"/>
            <a:ext cx="4023359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Segoe UI"/>
              </a:rPr>
              <a:t>ukr §5.29.1: 0.5560 vs 0.5446 (+1.1 pp)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6095" y="2907792"/>
            <a:ext cx="384048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0" i="1">
                <a:solidFill>
                  <a:srgbClr val="DC2626"/>
                </a:solidFill>
                <a:latin typeface="Segoe UI"/>
              </a:rPr>
              <a:t>n = 1, AND pool size confound (6138 vs 3991 silver)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3822191"/>
            <a:ext cx="11064240" cy="822960"/>
          </a:xfrm>
          <a:prstGeom prst="roundRect">
            <a:avLst>
              <a:gd name="adj" fmla="val 5000"/>
            </a:avLst>
          </a:prstGeom>
          <a:solidFill>
            <a:srgbClr val="FDE4E4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822191"/>
            <a:ext cx="265176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Segoe UI"/>
              </a:rPr>
              <a:t>Real &gt; Translated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3822191"/>
            <a:ext cx="4023359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0" i="0">
                <a:solidFill>
                  <a:srgbClr val="334155"/>
                </a:solidFill>
                <a:latin typeface="Segoe UI"/>
              </a:rPr>
              <a:t>never tested directly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5" y="3822191"/>
            <a:ext cx="3840480" cy="82296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250" b="0" i="1">
                <a:solidFill>
                  <a:srgbClr val="DC2626"/>
                </a:solidFill>
                <a:latin typeface="Segoe UI"/>
              </a:rPr>
              <a:t>the middle link of the hierarchy is missing entirely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489204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4892040"/>
            <a:ext cx="91440" cy="12344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5010912"/>
            <a:ext cx="27432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1E293B"/>
                </a:solidFill>
                <a:latin typeface="Segoe UI"/>
              </a:rPr>
              <a:t>Bottom 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5321808"/>
            <a:ext cx="10881360" cy="73152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0F172A"/>
                </a:solidFill>
                <a:latin typeface="Segoe UI"/>
              </a:rPr>
              <a:t>To make this hierarchy a defensible paper claim we need one experiment that: (1) fixes pool size across sources, (2) fills the real-vs-translated gap, and (3) gives a 2nd real&gt;generated data point on a different, higher-resource language.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ABLATION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Segoe UI"/>
              </a:rPr>
              <a:t>rus_restaurant: Size-Matched 3-Way Pool-Source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1115568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50" b="1" i="0">
                <a:solidFill>
                  <a:srgbClr val="334155"/>
                </a:solidFill>
                <a:latin typeface="Segoe UI"/>
              </a:rPr>
              <a:t>Same teacher (DeepSeek) · same config (xlm-roberta-large) · same gold (1,240) · silver capped at 3,000 — only the pool source varies.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" y="2084831"/>
            <a:ext cx="3621024" cy="3977639"/>
          </a:xfrm>
          <a:prstGeom prst="roundRect">
            <a:avLst>
              <a:gd name="adj" fmla="val 5000"/>
            </a:avLst>
          </a:prstGeom>
          <a:solidFill>
            <a:srgbClr val="D6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2249424"/>
            <a:ext cx="324612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1" i="0">
                <a:solidFill>
                  <a:srgbClr val="047857"/>
                </a:solidFill>
                <a:latin typeface="Segoe UI"/>
              </a:rPr>
              <a:t>🥇 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688336"/>
            <a:ext cx="324612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50" b="0" i="1">
                <a:solidFill>
                  <a:srgbClr val="047857"/>
                </a:solidFill>
                <a:latin typeface="Segoe UI"/>
              </a:rPr>
              <a:t>geo-reviews sample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3200400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POOL 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456432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4,000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858768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4114800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sampled Russian restaurant reviews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517136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SILVER (CAPPED)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773168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3,000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175503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TRAIN FILE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5431536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4,240 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2084831"/>
            <a:ext cx="3621024" cy="3977639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59" y="2249424"/>
            <a:ext cx="324612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1" i="0">
                <a:solidFill>
                  <a:srgbClr val="B45A09"/>
                </a:solidFill>
                <a:latin typeface="Segoe UI"/>
              </a:rPr>
              <a:t>🥈  TRANSLATED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2688336"/>
            <a:ext cx="324612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50" b="0" i="1">
                <a:solidFill>
                  <a:srgbClr val="B45A09"/>
                </a:solidFill>
                <a:latin typeface="Segoe UI"/>
              </a:rPr>
              <a:t>Yelp EN → MarianMT en-ru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3200400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POOL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3456432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3,466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3858768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4114800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English Yelp reviews, machine-translated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517136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SILVER (CAPPED)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773168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3,000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175503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TRAIN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431536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4,240 rows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3296" y="2084831"/>
            <a:ext cx="3621024" cy="3977639"/>
          </a:xfrm>
          <a:prstGeom prst="roundRect">
            <a:avLst>
              <a:gd name="adj" fmla="val 5000"/>
            </a:avLst>
          </a:prstGeom>
          <a:solidFill>
            <a:srgbClr val="FD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2249424"/>
            <a:ext cx="324612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700" b="1" i="0">
                <a:solidFill>
                  <a:srgbClr val="DC2626"/>
                </a:solidFill>
                <a:latin typeface="Segoe UI"/>
              </a:rPr>
              <a:t>🥉  GENERATED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2688336"/>
            <a:ext cx="324612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50" b="0" i="1">
                <a:solidFill>
                  <a:srgbClr val="DC2626"/>
                </a:solidFill>
                <a:latin typeface="Segoe UI"/>
              </a:rPr>
              <a:t>DeepSeek native Russian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3200400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POOL SIZE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4464" y="3456432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4,000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858768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CONSTRUCTION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114800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LLM-generated Russian restaurant text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4517136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SILVER (CAPPED)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4464" y="4773168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3,000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4464" y="5175503"/>
            <a:ext cx="3200400" cy="256032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050" b="1" i="0" spc="40">
                <a:solidFill>
                  <a:srgbClr val="64748B"/>
                </a:solidFill>
                <a:latin typeface="Segoe UI"/>
              </a:rPr>
              <a:t>TRAIN FILE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84464" y="5431536"/>
            <a:ext cx="320040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4,240 rows (pending)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5488" y="6199632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6272784"/>
            <a:ext cx="10881360" cy="38404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1D4ED8"/>
                </a:solidFill>
                <a:latin typeface="Segoe UI"/>
              </a:rPr>
              <a:t>This one experiment closes all 3 gaps: pool-size confound · real-vs-translated link · 2nd real&gt;generated data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LIVE STATUS  ·  AS OF 2026-07-03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Segoe UI"/>
              </a:rPr>
              <a:t>Where the Three Arms Stand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572768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D6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572768"/>
            <a:ext cx="2377440" cy="10789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900" b="1" i="0">
                <a:solidFill>
                  <a:srgbClr val="047857"/>
                </a:solidFill>
                <a:latin typeface="Consolas"/>
              </a:rPr>
              <a:t>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95681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spc="80">
                <a:solidFill>
                  <a:srgbClr val="FFFFFF"/>
                </a:solidFill>
                <a:latin typeface="Segoe UI"/>
              </a:rPr>
              <a:t>COMPLETE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975104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0" y="1975104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0" y="1572768"/>
            <a:ext cx="2103120" cy="10789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1">
                <a:solidFill>
                  <a:srgbClr val="047857"/>
                </a:solidFill>
                <a:latin typeface="Segoe UI"/>
              </a:rPr>
              <a:t>5 / 5 seeds trained — ensemble evaluated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2807208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807208"/>
            <a:ext cx="2377440" cy="10789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900" b="1" i="0">
                <a:solidFill>
                  <a:srgbClr val="B45A09"/>
                </a:solidFill>
                <a:latin typeface="Consolas"/>
              </a:rPr>
              <a:t>TRANSLATED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319125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spc="80">
                <a:solidFill>
                  <a:srgbClr val="FFFFFF"/>
                </a:solidFill>
                <a:latin typeface="Segoe UI"/>
              </a:rPr>
              <a:t>RUNNING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3209544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12080" y="320954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2807208"/>
            <a:ext cx="2103120" cy="10789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1">
                <a:solidFill>
                  <a:srgbClr val="B45A09"/>
                </a:solidFill>
                <a:latin typeface="Segoe UI"/>
              </a:rPr>
              <a:t>1 / 5 seeds complete, seed 2 training now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4041648"/>
            <a:ext cx="11247120" cy="1078992"/>
          </a:xfrm>
          <a:prstGeom prst="roundRect">
            <a:avLst>
              <a:gd name="adj" fmla="val 6000"/>
            </a:avLst>
          </a:prstGeom>
          <a:solidFill>
            <a:srgbClr val="FD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041648"/>
            <a:ext cx="2377440" cy="10789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900" b="1" i="0">
                <a:solidFill>
                  <a:srgbClr val="DC2626"/>
                </a:solidFill>
                <a:latin typeface="Consolas"/>
              </a:rPr>
              <a:t>GENERATED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4425696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spc="80">
                <a:solidFill>
                  <a:srgbClr val="FFFFFF"/>
                </a:solidFill>
                <a:latin typeface="Segoe UI"/>
              </a:rPr>
              <a:t>PENDING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0" y="4443984"/>
            <a:ext cx="41148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041648"/>
            <a:ext cx="2103120" cy="1078992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150" b="0" i="1">
                <a:solidFill>
                  <a:srgbClr val="DC2626"/>
                </a:solidFill>
                <a:latin typeface="Segoe UI"/>
              </a:rPr>
              <a:t>not yet started — queued after translated arm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562356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5488" y="5623560"/>
            <a:ext cx="91440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5733288"/>
            <a:ext cx="1828800" cy="27432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1E293B"/>
                </a:solidFill>
                <a:latin typeface="Segoe UI"/>
              </a:rPr>
              <a:t>ETA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Translated arm → ~2026-07-04  |  Generated arm → ~2026-07-05  |  full 3-way comparison ready shortly after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PRELIMINARY READ  ·  REAL ARM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  <a:latin typeface="Segoe UI"/>
              </a:rPr>
              <a:t>Real Arm: 0.5586 dev cF1 (5-seed ensemble, vote=4)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1920" y="1828800"/>
            <a:ext cx="6766560" cy="658368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1806671" cy="658368"/>
          </a:xfrm>
          <a:prstGeom prst="roundRect">
            <a:avLst>
              <a:gd name="adj" fmla="val 3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828800"/>
            <a:ext cx="3337560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Segoe UI"/>
              </a:rPr>
              <a:t>no-KD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5751" y="1828800"/>
            <a:ext cx="868680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Segoe UI"/>
              </a:rPr>
              <a:t>0.5267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2807208"/>
            <a:ext cx="6766560" cy="658368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2807208"/>
            <a:ext cx="3965204" cy="658368"/>
          </a:xfrm>
          <a:prstGeom prst="roundRect">
            <a:avLst>
              <a:gd name="adj" fmla="val 30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807208"/>
            <a:ext cx="3337560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Segoe UI"/>
              </a:rPr>
              <a:t>REAL, size-matched (this ablation)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4284" y="2807208"/>
            <a:ext cx="868680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047857"/>
                </a:solidFill>
                <a:latin typeface="Segoe UI"/>
              </a:rPr>
              <a:t>0.5586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785615"/>
            <a:ext cx="6766560" cy="658368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3785615"/>
            <a:ext cx="5095219" cy="658368"/>
          </a:xfrm>
          <a:prstGeom prst="roundRect">
            <a:avLst>
              <a:gd name="adj" fmla="val 3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3785615"/>
            <a:ext cx="3337560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300" b="1" i="0">
                <a:solidFill>
                  <a:srgbClr val="334155"/>
                </a:solidFill>
                <a:latin typeface="Segoe UI"/>
              </a:rPr>
              <a:t>DeepSeek-KD, unmatched full pool (submitted)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4299" y="3785615"/>
            <a:ext cx="868680" cy="658368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1" i="0">
                <a:solidFill>
                  <a:srgbClr val="1D4ED8"/>
                </a:solidFill>
                <a:latin typeface="Segoe UI"/>
              </a:rPr>
              <a:t>0.5753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4251960"/>
            <a:ext cx="11247120" cy="105156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4251960"/>
            <a:ext cx="91440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4370832"/>
            <a:ext cx="27432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B45A09"/>
                </a:solidFill>
                <a:latin typeface="Segoe UI"/>
              </a:rPr>
              <a:t>Read carefully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4663440"/>
            <a:ext cx="10881360" cy="59436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0" i="0">
                <a:solidFill>
                  <a:srgbClr val="334155"/>
                </a:solidFill>
                <a:latin typeface="Segoe UI"/>
              </a:rPr>
              <a:t>Capping silver to 3,000 (for size-matching) costs ~1.7 pp vs. the uncapped submitted pool (0.5586 vs 0.5753) — volume matters, echoing the ukr §5.29.1 finding. This is a within-arm cost, not the source comparison itself.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5440680"/>
            <a:ext cx="11247120" cy="960120"/>
          </a:xfrm>
          <a:prstGeom prst="roundRect">
            <a:avLst>
              <a:gd name="adj" fmla="val 7000"/>
            </a:avLst>
          </a:prstGeom>
          <a:solidFill>
            <a:srgbClr val="FD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5440680"/>
            <a:ext cx="91440" cy="9601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5559552"/>
            <a:ext cx="3200400" cy="292608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200" b="1" i="0" spc="100">
                <a:solidFill>
                  <a:srgbClr val="DC2626"/>
                </a:solidFill>
                <a:latin typeface="Segoe UI"/>
              </a:rPr>
              <a:t>Not yet conclusive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5852160"/>
            <a:ext cx="10881360" cy="50292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Segoe UI"/>
              </a:rPr>
              <a:t>The real-vs-translated-vs-generated comparison needs all three arms. Do not draw the hierarchy conclusion from this single number — translated and generated results pending.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What a Complete 3-Way Comparison Will Settle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50876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D6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40"/>
            <a:ext cx="502920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1" i="0">
                <a:solidFill>
                  <a:srgbClr val="047857"/>
                </a:solidFill>
                <a:latin typeface="Segoe UI"/>
              </a:rPr>
              <a:t>Will resolve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10B981"/>
                </a:solidFill>
                <a:latin typeface="Segoe UI"/>
              </a:rPr>
              <a:t>•  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Confirms or refutes </a:t>
            </a:r>
            <a:r>
              <a:rPr sz="1350" i="0" b="1">
                <a:solidFill>
                  <a:srgbClr val="1D4ED8"/>
                </a:solidFill>
                <a:latin typeface="Consolas"/>
              </a:rPr>
              <a:t>Real &gt; Translated &gt; Generated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 with pool size held constant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10B981"/>
                </a:solidFill>
                <a:latin typeface="Segoe UI"/>
              </a:rPr>
              <a:t>•  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First-ever direct real-vs-translated data point (the missing middle link)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10B981"/>
                </a:solidFill>
                <a:latin typeface="Segoe UI"/>
              </a:rPr>
              <a:t>•  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2nd real&gt;generated data point (after zho_restaurant) — needed to claim generalization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691640"/>
            <a:ext cx="5029200" cy="4114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600" b="1" i="0">
                <a:solidFill>
                  <a:srgbClr val="1D4ED8"/>
                </a:solidFill>
                <a:latin typeface="Segoe UI"/>
              </a:rPr>
              <a:t>Remaining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1945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3B82F6"/>
                </a:solidFill>
                <a:latin typeface="Segoe UI"/>
              </a:rPr>
              <a:t>•  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Translated arm: seeds 3–5 to finish (~2026-07-04)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3B82F6"/>
                </a:solidFill>
                <a:latin typeface="Segoe UI"/>
              </a:rPr>
              <a:t>•  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Generated arm: full 5-seed run queued next (~2026-07-05)</a:t>
            </a:r>
          </a:p>
          <a:p>
            <a:pPr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</a:pPr>
            <a:r>
              <a:rPr sz="1350" b="1">
                <a:solidFill>
                  <a:srgbClr val="3B82F6"/>
                </a:solidFill>
                <a:latin typeface="Segoe UI"/>
              </a:rPr>
              <a:t>•  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On completion: update </a:t>
            </a:r>
            <a:r>
              <a:rPr sz="1350" i="0" b="1">
                <a:solidFill>
                  <a:srgbClr val="1D4ED8"/>
                </a:solidFill>
                <a:latin typeface="Consolas"/>
              </a:rPr>
              <a:t>docs/EXPERIMENTS.md §5.29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, set </a:t>
            </a:r>
            <a:r>
              <a:rPr sz="1350" i="0" b="1">
                <a:solidFill>
                  <a:srgbClr val="1D4ED8"/>
                </a:solidFill>
                <a:latin typeface="Consolas"/>
              </a:rPr>
              <a:t>registry.yaml</a:t>
            </a:r>
            <a:r>
              <a:rPr sz="1350" i="0" b="0">
                <a:solidFill>
                  <a:srgbClr val="334155"/>
                </a:solidFill>
                <a:latin typeface="Segoe UI"/>
              </a:rPr>
              <a:t> status/result, decide zho_restaurant-style submission switch if the real arm wins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475488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4754880"/>
            <a:ext cx="118872" cy="146304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4901184"/>
            <a:ext cx="1078992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100">
                <a:solidFill>
                  <a:srgbClr val="1E293B"/>
                </a:solidFill>
                <a:latin typeface="Segoe UI"/>
              </a:rPr>
              <a:t>Why it matters for the 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257800"/>
            <a:ext cx="1078992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  <a:latin typeface="Segoe UI"/>
              </a:rPr>
              <a:t>Every prior pool-source result had n=1 and/or a size confound — not defensible under review. This is the single ablation that turns “Real &gt; Translated &gt; Generated” from an observation into a controlled, citable 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1300" b="1" i="0" spc="220">
                <a:solidFill>
                  <a:srgbClr val="2563EB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155680" cy="86868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0F172A"/>
                </a:solidFill>
                <a:latin typeface="Segoe UI"/>
              </a:rPr>
              <a:t>In Progress: The Ablation That Makes the Pool-Source Claim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1600200"/>
            <a:ext cx="11247120" cy="786384"/>
          </a:xfrm>
          <a:prstGeom prst="roundRect">
            <a:avLst>
              <a:gd name="adj" fmla="val 8000"/>
            </a:avLst>
          </a:prstGeom>
          <a:solidFill>
            <a:srgbClr val="D6F2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5488" y="1600200"/>
            <a:ext cx="91440" cy="7863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00200"/>
            <a:ext cx="10881360" cy="7863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Segoe UI"/>
              </a:rPr>
              <a:t>Real arm complete: 0.5586 dev cF1 (5-seed ensemble, vote=4) — a valid KD gain over the 0.5267 no-KD baseline.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496312"/>
            <a:ext cx="11247120" cy="786384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8" y="2496312"/>
            <a:ext cx="91440" cy="7863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96312"/>
            <a:ext cx="10881360" cy="7863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Segoe UI"/>
              </a:rPr>
              <a:t>Translated arm running (1/5 seeds); generated arm queued next — both needed before comparing sources.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" y="3392424"/>
            <a:ext cx="11247120" cy="786384"/>
          </a:xfrm>
          <a:prstGeom prst="roundRect">
            <a:avLst>
              <a:gd name="adj" fmla="val 8000"/>
            </a:avLst>
          </a:prstGeom>
          <a:solidFill>
            <a:srgbClr val="D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3392424"/>
            <a:ext cx="9144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392424"/>
            <a:ext cx="10881360" cy="7863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Segoe UI"/>
              </a:rPr>
              <a:t>Design controls for the two confounds that undermined earlier evidence: pool size and gold amount.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4288536"/>
            <a:ext cx="11247120" cy="786384"/>
          </a:xfrm>
          <a:prstGeom prst="roundRect">
            <a:avLst>
              <a:gd name="adj" fmla="val 8000"/>
            </a:avLst>
          </a:prstGeom>
          <a:solidFill>
            <a:srgbClr val="FD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4288536"/>
            <a:ext cx="91440" cy="78638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88536"/>
            <a:ext cx="10881360" cy="786384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Segoe UI"/>
              </a:rPr>
              <a:t>Caution: capping silver for size-matching already costs ~1.7 pp vs. the uncapped submission — interpret the eventual source comparison net of that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440680"/>
            <a:ext cx="11247120" cy="96012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715000"/>
            <a:ext cx="10881360" cy="457200"/>
          </a:xfrm>
          <a:prstGeom prst="rect">
            <a:avLst/>
          </a:prstGeom>
          <a:noFill/>
        </p:spPr>
        <p:txBody>
          <a:bodyPr wrap="square" lIns="0" rIns="0" tIns="25400" bIns="25400">
            <a:spAutoFit/>
          </a:bodyPr>
          <a:lstStyle/>
          <a:p>
            <a:pPr algn="ctr"/>
            <a:r>
              <a:rPr sz="1700" b="1" i="0">
                <a:solidFill>
                  <a:srgbClr val="0F172A"/>
                </a:solidFill>
                <a:latin typeface="Segoe UI"/>
              </a:rPr>
              <a:t>Full real vs. translated vs. generated results — next group meeting.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