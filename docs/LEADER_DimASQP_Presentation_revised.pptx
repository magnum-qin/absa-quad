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BC2E6"/>
                </a:solidFill>
                <a:latin typeface="Aptos"/>
              </a:rPr>
              <a:t>SEMEVAL-2026 TASK 3 · TRACK A SUBTASK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10789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"/>
              </a:rPr>
              <a:t>LEADER-DimASQP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76272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CE8F5"/>
                </a:solidFill>
                <a:latin typeface="Noto Sans CJK SC"/>
              </a:rPr>
              <a:t>面向维度 ASQP 的语言特定编码器与数据感知集成系统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98755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AFC5DC"/>
                </a:solidFill>
                <a:latin typeface="Aptos"/>
              </a:rPr>
              <a:t>Language-Specific Encoder and Data-Aware Ensemble Refinement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3319272"/>
            <a:ext cx="2130552" cy="0"/>
          </a:xfrm>
          <a:prstGeom prst="line">
            <a:avLst/>
          </a:prstGeom>
          <a:ln w="5080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3858768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D7CD"/>
                </a:solidFill>
                <a:latin typeface="Noto Sans CJK SC"/>
              </a:rPr>
              <a:t>核心结论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99669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Noto Sans CJK SC"/>
              </a:rPr>
              <a:t>没有一个统一配方适合所有语言；稳定的集成与经验证的编码器选择决定最终表现。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064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CE8F5"/>
                </a:solidFill>
                <a:latin typeface="Noto Sans CJK SC"/>
              </a:rPr>
              <a:t>汇报人：秦洪振 · 铃木美美 · 福本文代 · 周仁杰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44768"/>
            <a:ext cx="6400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FC5DC"/>
                </a:solidFill>
                <a:latin typeface="Noto Sans CJK SC"/>
              </a:rPr>
              <a:t>杭州电子科技大学  ·  山梨大学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TALK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用一条问题链讲清这篇论文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6FDB"/>
                </a:solidFill>
                <a:latin typeface="Apto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2615184"/>
            <a:ext cx="475488" cy="73152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Noto Sans CJK SC"/>
              </a:rPr>
              <a:t>任务是什么？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Noto Sans CJK SC"/>
              </a:rPr>
              <a:t>抽取结构 + 连续情绪回归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63C5"/>
                </a:solidFill>
                <a:latin typeface="Apto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615184"/>
            <a:ext cx="475488" cy="73152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Noto Sans CJK SC"/>
              </a:rPr>
              <a:t>为什么困难？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Noto Sans CJK SC"/>
              </a:rPr>
              <a:t>严格匹配、数据不平衡、回归收缩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1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A39A"/>
                </a:solidFill>
                <a:latin typeface="Aptos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85231" y="2615184"/>
            <a:ext cx="475488" cy="7315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Noto Sans CJK SC"/>
              </a:rPr>
              <a:t>系统怎么做？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Noto Sans CJK SC"/>
              </a:rPr>
              <a:t>Rethink、集合匹配、语言特定配置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4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D9B40"/>
                </a:solidFill>
                <a:latin typeface="Aptos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34656" y="2615184"/>
            <a:ext cx="475488" cy="73152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Noto Sans CJK SC"/>
              </a:rPr>
              <a:t>证据是否充分？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Noto Sans CJK SC"/>
              </a:rPr>
              <a:t>基线、逐数据集结果与消融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9488" y="1874519"/>
            <a:ext cx="2084831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07568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615184"/>
            <a:ext cx="475488" cy="73152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926080"/>
            <a:ext cx="175564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Noto Sans CJK SC"/>
              </a:rPr>
              <a:t>还能改什么？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767328"/>
            <a:ext cx="175564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Noto Sans CJK SC"/>
              </a:rPr>
              <a:t>失败经验、误差与局限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42432"/>
            <a:ext cx="10149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B5E"/>
                </a:solidFill>
                <a:latin typeface="Noto Sans CJK SC"/>
              </a:rPr>
              <a:t>叙事主线：从任务约束出发，解释设计选择，再用实验验证，而不是按论文目录逐页复述。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LEADER-DimASQP · paper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TASK &amp;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DimASQP：先抽对结构，才有资格评价情绪距离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6FDB"/>
                </a:solidFill>
                <a:latin typeface="Noto Sans CJK SC"/>
              </a:rPr>
              <a:t>输入句子（示意）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73936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7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42519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2033"/>
                </a:solidFill>
                <a:latin typeface="Aptos"/>
              </a:rPr>
              <a:t>“The food was excellent, but the service was cold.”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D6B7E"/>
                </a:solidFill>
                <a:latin typeface="Noto Sans CJK SC"/>
              </a:rPr>
              <a:t>输出集合：每条记录写成 (a, c, o, (V, A))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38144"/>
            <a:ext cx="226771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438144"/>
            <a:ext cx="73152" cy="1490472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02736"/>
            <a:ext cx="18836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Noto Sans CJK SC"/>
              </a:rPr>
              <a:t>Quad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005072"/>
            <a:ext cx="1883664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033"/>
                </a:solidFill>
                <a:latin typeface="Noto Sans CJK SC"/>
              </a:rPr>
              <a:t>a: food
c: FOOD#QUALITY
o: excellent  ·  V–A: 8.2, 6.4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0672" y="3438144"/>
            <a:ext cx="2267712" cy="1490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0672" y="3438144"/>
            <a:ext cx="73152" cy="1490472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3602736"/>
            <a:ext cx="18836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63C5"/>
                </a:solidFill>
                <a:latin typeface="Noto Sans CJK SC"/>
              </a:rPr>
              <a:t>Quad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005072"/>
            <a:ext cx="1883664" cy="7955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033"/>
                </a:solidFill>
                <a:latin typeface="Noto Sans CJK SC"/>
              </a:rPr>
              <a:t>a: service
c: SERVICE#GENERAL
o: cold  ·  V–A: 2.8, 4.1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417320"/>
            <a:ext cx="5687568" cy="4352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709928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3B5E"/>
                </a:solidFill>
                <a:latin typeface="Noto Sans CJK SC"/>
              </a:rPr>
              <a:t>cF1 的两道门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331720"/>
            <a:ext cx="2468880" cy="310896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>
            <a:solidFill>
              <a:srgbClr val="FCE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35000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85B66"/>
                </a:solidFill>
                <a:latin typeface="Noto Sans CJK SC"/>
              </a:rPr>
              <a:t>门 1 · categorical exact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761488"/>
            <a:ext cx="4800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Noto Sans CJK SC"/>
              </a:rPr>
              <a:t>Aspect + Category + Opinion 必须匹配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46720" y="3364992"/>
            <a:ext cx="502920" cy="310896"/>
          </a:xfrm>
          <a:prstGeom prst="rightArrow">
            <a:avLst/>
          </a:prstGeom>
          <a:solidFill>
            <a:srgbClr val="D8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59952" y="2331720"/>
            <a:ext cx="2377440" cy="310896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>
            <a:solidFill>
              <a:srgbClr val="E6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2350008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A39A"/>
                </a:solidFill>
                <a:latin typeface="Noto Sans CJK SC"/>
              </a:rPr>
              <a:t>门 2 · V–A distance discount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77056"/>
            <a:ext cx="4160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2033"/>
                </a:solidFill>
                <a:latin typeface="Noto Sans CJK SC"/>
              </a:rPr>
              <a:t>通过门 1 后，再按 V–A 欧氏距离折扣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4773168"/>
            <a:ext cx="40690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A39A"/>
                </a:solidFill>
                <a:latin typeface="Aptos"/>
              </a:rPr>
              <a:t>cTP = 1 − distance / Dmax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769864"/>
            <a:ext cx="10652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B5E"/>
                </a:solidFill>
                <a:latin typeface="Noto Sans CJK SC"/>
              </a:rPr>
              <a:t>因此：边界或类别错误会直接失去该条匹配；V–A 误差则连续扣分。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Metric definition: paper §3 · example values are illustrative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DATA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八个语言-领域数据集，规模与难点并不相同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D6B7E"/>
                </a:solidFill>
                <a:latin typeface="Noto Sans CJK SC"/>
              </a:rPr>
              <a:t>训练句子数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中餐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764792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1764792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55648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6,050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76856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英笔记本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258568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4480" y="2258568"/>
            <a:ext cx="2291701" cy="283464"/>
          </a:xfrm>
          <a:prstGeom prst="roundRect">
            <a:avLst>
              <a:gd name="adj" fmla="val 10000"/>
            </a:avLst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249424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4,076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70632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中笔记本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752344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2752344"/>
            <a:ext cx="1962226" cy="283464"/>
          </a:xfrm>
          <a:prstGeom prst="roundRect">
            <a:avLst>
              <a:gd name="adj" fmla="val 10000"/>
            </a:avLst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3,490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64408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英餐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246120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3246120"/>
            <a:ext cx="1284162" cy="283464"/>
          </a:xfrm>
          <a:prstGeom prst="roundRect">
            <a:avLst>
              <a:gd name="adj" fmla="val 10000"/>
            </a:avLst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236976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2,284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58183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日酒店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3739896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54480" y="3739896"/>
            <a:ext cx="899588" cy="283464"/>
          </a:xfrm>
          <a:prstGeom prst="roundRect">
            <a:avLst>
              <a:gd name="adj" fmla="val 10000"/>
            </a:avLst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730752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1,600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51959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俄餐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4233672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54480" y="4233672"/>
            <a:ext cx="697180" cy="28346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224528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1,240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745736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鞑餐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4727448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54480" y="4727448"/>
            <a:ext cx="697180" cy="28346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718304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1,240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39512"/>
            <a:ext cx="777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乌餐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5221224"/>
            <a:ext cx="3401568" cy="283464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54480" y="5221224"/>
            <a:ext cx="697180" cy="28346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5212080"/>
            <a:ext cx="594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1,240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833872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Noto Sans CJK SC"/>
              </a:rPr>
              <a:t>最大 / 最小 ≈ 4.9×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1444752"/>
            <a:ext cx="56235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1444752"/>
            <a:ext cx="73152" cy="1280160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0176" y="1609344"/>
            <a:ext cx="5239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6FDB"/>
                </a:solidFill>
                <a:latin typeface="Noto Sans CJK SC"/>
              </a:rPr>
              <a:t>挑战 1 · 严格结构匹配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0176" y="2011680"/>
            <a:ext cx="52395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72033"/>
                </a:solidFill>
                <a:latin typeface="Noto Sans CJK SC"/>
              </a:rPr>
              <a:t>Aspect / Opinion 边界只偏 1–2 个词，也可能无法形成 categorical match。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2907792"/>
            <a:ext cx="56235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2907792"/>
            <a:ext cx="73152" cy="128016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6" y="3072384"/>
            <a:ext cx="5239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A63C5"/>
                </a:solidFill>
                <a:latin typeface="Noto Sans CJK SC"/>
              </a:rPr>
              <a:t>挑战 2 · 低资源与跨语差异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0176" y="3474720"/>
            <a:ext cx="52395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72033"/>
                </a:solidFill>
                <a:latin typeface="Noto Sans CJK SC"/>
              </a:rPr>
              <a:t>训练规模从 1,240 到 6,050；分词、形态与领域标签分布各不相同。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370832"/>
            <a:ext cx="56235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4370832"/>
            <a:ext cx="73152" cy="1280160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0176" y="4535424"/>
            <a:ext cx="5239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D9B40"/>
                </a:solidFill>
                <a:latin typeface="Noto Sans CJK SC"/>
              </a:rPr>
              <a:t>挑战 3 · V–A 中心化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0176" y="4937760"/>
            <a:ext cx="52395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72033"/>
                </a:solidFill>
                <a:latin typeface="Noto Sans CJK SC"/>
              </a:rPr>
              <a:t>点回归容易收缩到中性区域，极端情绪的区分度不足。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Dataset sizes: paper Table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LEADER-DimASQP = 稳定底座 + 按数据集选择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leader_pipeline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53312"/>
            <a:ext cx="7452360" cy="42437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444752"/>
            <a:ext cx="3310128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444752"/>
            <a:ext cx="73152" cy="1572768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94776" y="1609344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Noto Sans CJK SC"/>
              </a:rPr>
              <a:t>A. 架构底座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4776" y="2011680"/>
            <a:ext cx="292608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Noto Sans CJK SC"/>
              </a:rPr>
              <a:t>先做 draft，再把结构与 V–A 软预测反馈给 token 表征；候选四元组用 Hungarian set matching 训练。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91256"/>
            <a:ext cx="3310128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3191256"/>
            <a:ext cx="73152" cy="135331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4776" y="3355848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A39A"/>
                </a:solidFill>
                <a:latin typeface="Noto Sans CJK SC"/>
              </a:rPr>
              <a:t>B. 数据与迁移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3758184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Noto Sans CJK SC"/>
              </a:rPr>
              <a:t>回译、paraphrase、COMET 过滤与跨语热启动都只在验证有效的数据集上保留。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727448"/>
            <a:ext cx="3310128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727448"/>
            <a:ext cx="73152" cy="1353312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489204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9B40"/>
                </a:solidFill>
                <a:latin typeface="Noto Sans CJK SC"/>
              </a:rPr>
              <a:t>C. 选择与推理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5294376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Noto Sans CJK SC"/>
              </a:rPr>
              <a:t>按 dev cF1 选择编码器/阈值；五种子投票与 top-k 解码提升稳定性。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Architecture figure: paper Figure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两项结构设计：Rethink 反馈与集合级匹配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440680" cy="4434840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7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4754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6FDB"/>
                </a:solidFill>
                <a:latin typeface="Aptos"/>
              </a:rPr>
              <a:t>1 · Lightweight Rethink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Aptos"/>
              </a:rPr>
              <a:t>Token states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29967" y="2615184"/>
            <a:ext cx="219456" cy="182880"/>
          </a:xfrm>
          <a:prstGeom prst="rightArrow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4028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Aptos"/>
              </a:rPr>
              <a:t>Draft heads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55848" y="2615184"/>
            <a:ext cx="219456" cy="182880"/>
          </a:xfrm>
          <a:prstGeom prst="rightArrow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033"/>
                </a:solidFill>
                <a:latin typeface="Aptos"/>
              </a:rPr>
              <a:t>Feedback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81728" y="2615184"/>
            <a:ext cx="219456" cy="182880"/>
          </a:xfrm>
          <a:prstGeom prst="rightArrow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600" y="2395728"/>
            <a:ext cx="1078992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F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542032"/>
            <a:ext cx="98755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Aptos"/>
              </a:rPr>
              <a:t>Refined heads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29584"/>
            <a:ext cx="4736592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2F6FDB"/>
                </a:solidFill>
                <a:latin typeface="Noto Sans CJK SC"/>
              </a:rPr>
              <a:t>●  </a:t>
            </a:r>
            <a:r>
              <a:rPr sz="1750">
                <a:solidFill>
                  <a:srgbClr val="172033"/>
                </a:solidFill>
                <a:latin typeface="Noto Sans CJK SC"/>
              </a:rPr>
              <a:t>BIO、类别、pair 与 V–A 草稿预测被嵌入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2F6FDB"/>
                </a:solidFill>
                <a:latin typeface="Noto Sans CJK SC"/>
              </a:rPr>
              <a:t>●  </a:t>
            </a:r>
            <a:r>
              <a:rPr sz="1750">
                <a:solidFill>
                  <a:srgbClr val="172033"/>
                </a:solidFill>
                <a:latin typeface="Noto Sans CJK SC"/>
              </a:rPr>
              <a:t>与原 token 表征融合后，由第二阶段预测头细化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417320"/>
            <a:ext cx="5285232" cy="4434840"/>
          </a:xfrm>
          <a:prstGeom prst="roundRect">
            <a:avLst>
              <a:gd name="adj" fmla="val 10000"/>
            </a:avLst>
          </a:prstGeom>
          <a:solidFill>
            <a:srgbClr val="FFF2DE"/>
          </a:solidFill>
          <a:ln w="12700">
            <a:solidFill>
              <a:srgbClr val="F1D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D9B40"/>
                </a:solidFill>
                <a:latin typeface="Aptos"/>
              </a:rPr>
              <a:t>2 · Hungarian set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22576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2514600"/>
            <a:ext cx="124358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Pred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322576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C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2450592"/>
            <a:ext cx="1243584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Gold
set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193024" y="2542032"/>
            <a:ext cx="1353312" cy="274320"/>
          </a:xfrm>
          <a:prstGeom prst="rightArrow">
            <a:avLst/>
          </a:prstGeom>
          <a:solidFill>
            <a:srgbClr val="ED9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383280"/>
            <a:ext cx="4343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Cost = class + span + Huber(V–A)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977639"/>
            <a:ext cx="45720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ED9B40"/>
                </a:solidFill>
                <a:latin typeface="Noto Sans CJK SC"/>
              </a:rPr>
              <a:t>●  </a:t>
            </a:r>
            <a:r>
              <a:rPr sz="1750">
                <a:solidFill>
                  <a:srgbClr val="172033"/>
                </a:solidFill>
                <a:latin typeface="Noto Sans CJK SC"/>
              </a:rPr>
              <a:t>在集合层面寻找一对一最优指派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50">
                <a:solidFill>
                  <a:srgbClr val="ED9B40"/>
                </a:solidFill>
                <a:latin typeface="Noto Sans CJK SC"/>
              </a:rPr>
              <a:t>●  </a:t>
            </a:r>
            <a:r>
              <a:rPr sz="1750">
                <a:solidFill>
                  <a:srgbClr val="172033"/>
                </a:solidFill>
                <a:latin typeface="Noto Sans CJK SC"/>
              </a:rPr>
              <a:t>减少候选顺序与重复配对带来的训练不稳定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6080760"/>
            <a:ext cx="10222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73B5E"/>
                </a:solidFill>
                <a:latin typeface="Aptos"/>
              </a:rPr>
              <a:t>训练稳定器：FGM ε=0.1  ·  EMA 0.999  ·  top-3 checkpoints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Method details: paper §4.1–4.3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PER-DATASET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最终系统不是一个模型，而是八个经验证的配置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44752"/>
            <a:ext cx="91440" cy="1005840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9105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英餐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157276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F6FDB"/>
                </a:solidFill>
                <a:latin typeface="Aptos"/>
              </a:rPr>
              <a:t>DeBERTa-v3-large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95681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强抽取底座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0.6949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4475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44752"/>
            <a:ext cx="91440" cy="100584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9105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英笔记本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157276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63C5"/>
                </a:solidFill>
                <a:latin typeface="Aptos"/>
              </a:rPr>
              <a:t>BT dual-layer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195681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保留历史最优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173736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0.3304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63347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633472"/>
            <a:ext cx="91440" cy="1005840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7797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日酒店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3664" y="276148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D9B40"/>
                </a:solidFill>
                <a:latin typeface="Aptos"/>
              </a:rPr>
              <a:t>Japanese DeBERTa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314553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MeCab 裁剪；no para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26079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63347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633472"/>
            <a:ext cx="91440" cy="1005840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7797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俄餐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76148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XLM-R-large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314553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优于 ruRoberta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2926079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0.5267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822191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822191"/>
            <a:ext cx="91440" cy="1005840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96849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鞑餐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3664" y="3950207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B66"/>
                </a:solidFill>
                <a:latin typeface="Aptos"/>
              </a:rPr>
              <a:t>XLM-R-large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3664" y="433425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不保留 paraphrase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11480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0.4821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822191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822191"/>
            <a:ext cx="91440" cy="100584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396849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乌餐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3950207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63C5"/>
                </a:solidFill>
                <a:latin typeface="Aptos"/>
              </a:rPr>
              <a:t>mDeBERTa-base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33425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BT + paraphrase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4432" y="411480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0.5068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01091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010912"/>
            <a:ext cx="91440" cy="1005840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15721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中餐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3664" y="513892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A39A"/>
                </a:solidFill>
                <a:latin typeface="Aptos"/>
              </a:rPr>
              <a:t>validated source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3664" y="552297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五种子集成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30352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0.5669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010912"/>
            <a:ext cx="53218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010912"/>
            <a:ext cx="91440" cy="1005840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7376" y="515721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033"/>
                </a:solidFill>
                <a:latin typeface="Noto Sans CJK SC"/>
              </a:rPr>
              <a:t>中笔记本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3216" y="5138928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A39A"/>
                </a:solidFill>
                <a:latin typeface="Aptos"/>
              </a:rPr>
              <a:t>Chinese RoBERTa-large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3216" y="5522976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top-k = 0.10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5303520"/>
            <a:ext cx="987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0.4487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" y="6291072"/>
            <a:ext cx="10104120" cy="7315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589788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3B5E"/>
                </a:solidFill>
                <a:latin typeface="Noto Sans CJK SC"/>
              </a:rPr>
              <a:t>原则：语言专用模型不一定更好；所有选择都必须由 dev cF1 验证。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Historical pre-release dev selection · official-test evidence is reported separately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DATA-AWARE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增强不是越多越好：质量阈值与模型能力存在交互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66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Noto Sans CJK SC"/>
              </a:rPr>
              <a:t>日本语 paraphrase + COMET（mDeBERTa 阶段）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5001768"/>
            <a:ext cx="4983480" cy="0"/>
          </a:xfrm>
          <a:prstGeom prst="line">
            <a:avLst/>
          </a:prstGeom>
          <a:ln w="15240">
            <a:solidFill>
              <a:srgbClr val="5D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" y="1938528"/>
            <a:ext cx="0" cy="3063240"/>
          </a:xfrm>
          <a:prstGeom prst="line">
            <a:avLst/>
          </a:prstGeom>
          <a:ln w="15240">
            <a:solidFill>
              <a:srgbClr val="5D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26464" y="4106962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768634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0.3317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2761488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2423160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0.3523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6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3" y="2487168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148840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0.3565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5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66944" y="3447288"/>
            <a:ext cx="146304" cy="146304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108960"/>
            <a:ext cx="7680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0.3418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511149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D6B7E"/>
                </a:solidFill>
                <a:latin typeface="Aptos"/>
              </a:rPr>
              <a:t>0.965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499616" y="2834640"/>
            <a:ext cx="1280160" cy="1345474"/>
          </a:xfrm>
          <a:prstGeom prst="line">
            <a:avLst/>
          </a:prstGeom>
          <a:ln w="2794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79776" y="2560320"/>
            <a:ext cx="1280159" cy="274320"/>
          </a:xfrm>
          <a:prstGeom prst="line">
            <a:avLst/>
          </a:prstGeom>
          <a:ln w="2794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59935" y="2560320"/>
            <a:ext cx="1280161" cy="960120"/>
          </a:xfrm>
          <a:prstGeom prst="line">
            <a:avLst/>
          </a:prstGeom>
          <a:ln w="27940">
            <a:solidFill>
              <a:srgbClr val="14A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67712" y="544068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D6B7E"/>
                </a:solidFill>
                <a:latin typeface="Aptos"/>
              </a:rPr>
              <a:t>COMET threshold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9312" y="1737360"/>
            <a:ext cx="987552" cy="310896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>
            <a:solidFill>
              <a:srgbClr val="E6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1755648"/>
            <a:ext cx="8961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A39A"/>
                </a:solidFill>
                <a:latin typeface="Noto Sans CJK SC"/>
              </a:rPr>
              <a:t>sweet spot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481328"/>
            <a:ext cx="5074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1481328"/>
            <a:ext cx="73152" cy="1353312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1645920"/>
            <a:ext cx="4690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A39A"/>
                </a:solidFill>
                <a:latin typeface="Noto Sans CJK SC"/>
              </a:rPr>
              <a:t>结论 1 · 倒 U 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2048256"/>
            <a:ext cx="46908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2033"/>
                </a:solidFill>
                <a:latin typeface="Noto Sans CJK SC"/>
              </a:rPr>
              <a:t>0.96 是该阶段的最佳阈值；提高到 0.965 后，样本量下降并出现欠拟合。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054096"/>
            <a:ext cx="5074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054096"/>
            <a:ext cx="73152" cy="1353312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5976" y="3218688"/>
            <a:ext cx="4690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D9B40"/>
                </a:solidFill>
                <a:latin typeface="Noto Sans CJK SC"/>
              </a:rPr>
              <a:t>结论 2 · 不能跨模型照搬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5976" y="3621024"/>
            <a:ext cx="46908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2033"/>
                </a:solidFill>
                <a:latin typeface="Noto Sans CJK SC"/>
              </a:rPr>
              <a:t>换成 Japanese DeBERTa + 五种子集成后，no paraphrase 反而更好：0.4500 vs 0.4466。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626864"/>
            <a:ext cx="5074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4626864"/>
            <a:ext cx="73152" cy="1353312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5976" y="4791455"/>
            <a:ext cx="46908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A63C5"/>
                </a:solidFill>
                <a:latin typeface="Noto Sans CJK SC"/>
              </a:rPr>
              <a:t>结论 3 · 迁移也需验证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5976" y="5193792"/>
            <a:ext cx="469087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72033"/>
                </a:solidFill>
                <a:latin typeface="Noto Sans CJK SC"/>
              </a:rPr>
              <a:t>跨语热启动在早期低资源设置有效；最终俄/鞑使用 XLM-R-large，乌克兰保留 BT + paraphrase。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COMET ablation: paper §6.4 · final Japanese recipe uses no paraphrase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平均 dev cF1 = 0.5008，显著超过官方基线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Aptos"/>
              </a:rPr>
              <a:t>LEADER-DimASQP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2656" y="1572768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62656" y="1572768"/>
            <a:ext cx="5370287" cy="365760"/>
          </a:xfrm>
          <a:prstGeom prst="roundRect">
            <a:avLst>
              <a:gd name="adj" fmla="val 10000"/>
            </a:avLst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563624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A39A"/>
                </a:solidFill>
                <a:latin typeface="Aptos"/>
              </a:rPr>
              <a:t>0.5008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13432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Shared-task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2267712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62656" y="2267712"/>
            <a:ext cx="4349418" cy="365760"/>
          </a:xfrm>
          <a:prstGeom prst="roundRect">
            <a:avLst>
              <a:gd name="adj" fmla="val 10000"/>
            </a:avLst>
          </a:prstGeom>
          <a:solidFill>
            <a:srgbClr val="5D6B7E"/>
          </a:solidFill>
          <a:ln>
            <a:solidFill>
              <a:srgbClr val="5D6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2258568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D6B7E"/>
                </a:solidFill>
                <a:latin typeface="Aptos"/>
              </a:rPr>
              <a:t>0.4056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08376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Llama-3.3 70B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962656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62656" y="2962656"/>
            <a:ext cx="4141384" cy="365760"/>
          </a:xfrm>
          <a:prstGeom prst="roundRect">
            <a:avLst>
              <a:gd name="adj" fmla="val 10000"/>
            </a:avLst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953512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6FDB"/>
                </a:solidFill>
                <a:latin typeface="Aptos"/>
              </a:rPr>
              <a:t>0.3862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03320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GPT-OSS 120B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657600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62656" y="3657600"/>
            <a:ext cx="3996617" cy="365760"/>
          </a:xfrm>
          <a:prstGeom prst="roundRect">
            <a:avLst>
              <a:gd name="adj" fmla="val 10000"/>
            </a:avLst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3648456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A63C5"/>
                </a:solidFill>
                <a:latin typeface="Aptos"/>
              </a:rPr>
              <a:t>0.3727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98264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Kimi K2 0-shot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62656" y="4352544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62656" y="4352544"/>
            <a:ext cx="2725892" cy="365760"/>
          </a:xfrm>
          <a:prstGeom prst="roundRect">
            <a:avLst>
              <a:gd name="adj" fmla="val 10000"/>
            </a:avLst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4343400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D9B40"/>
                </a:solidFill>
                <a:latin typeface="Aptos"/>
              </a:rPr>
              <a:t>0.2542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93207"/>
            <a:ext cx="2331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2033"/>
                </a:solidFill>
                <a:latin typeface="Aptos"/>
              </a:rPr>
              <a:t>GPT-5 mini 0-shot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2656" y="5047488"/>
            <a:ext cx="5897880" cy="36576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62656" y="5047488"/>
            <a:ext cx="2417058" cy="365760"/>
          </a:xfrm>
          <a:prstGeom prst="roundRect">
            <a:avLst>
              <a:gd name="adj" fmla="val 10000"/>
            </a:avLst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5038344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85B66"/>
                </a:solidFill>
                <a:latin typeface="Aptos"/>
              </a:rPr>
              <a:t>0.2254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8944" y="1554480"/>
            <a:ext cx="1719072" cy="1298448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 w="12700"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1792224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A39A"/>
                </a:solidFill>
                <a:latin typeface="Aptos"/>
              </a:rPr>
              <a:t>+11.46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2286000"/>
            <a:ext cx="14996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7E"/>
                </a:solidFill>
                <a:latin typeface="Aptos"/>
              </a:rPr>
              <a:t>pp vs Llama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38944" y="3127248"/>
            <a:ext cx="1719072" cy="1298448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3364992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6FDB"/>
                </a:solidFill>
                <a:latin typeface="Aptos"/>
              </a:rPr>
              <a:t>+9.52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3858768"/>
            <a:ext cx="14996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7E"/>
                </a:solidFill>
                <a:latin typeface="Aptos"/>
              </a:rPr>
              <a:t>pp vs task avg.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4700016"/>
            <a:ext cx="1719072" cy="1298448"/>
          </a:xfrm>
          <a:prstGeom prst="roundRect">
            <a:avLst>
              <a:gd name="adj" fmla="val 10000"/>
            </a:avLst>
          </a:prstGeom>
          <a:solidFill>
            <a:srgbClr val="FFF2DE"/>
          </a:solidFill>
          <a:ln w="12700"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4937760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D9B40"/>
                </a:solidFill>
                <a:latin typeface="Aptos"/>
              </a:rPr>
              <a:t>8 /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8672" y="5404104"/>
            <a:ext cx="14996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D6B7E"/>
                </a:solidFill>
                <a:latin typeface="Aptos"/>
              </a:rPr>
              <a:t>beats official
best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Development-set comparison · official baselines from DimABSA paper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PER-DATASET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八项 dev 结果用于内部选择，不推导 test 排名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417320"/>
            <a:ext cx="6858000" cy="480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Eng-R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0.6949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0020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61848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2066543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21762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Eng-L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17627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0.3304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14884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16712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2" y="261518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272491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Jpn-H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72491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269748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71576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" y="316382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" y="327355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Rus-R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27355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0.5267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24612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26440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" y="3712463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688" y="3822191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Tat-R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822191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0.4821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4760" y="3794759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813047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6112" y="426110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2688" y="437083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Ukr-R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37083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0.5068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34340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36168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6112" y="480974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" y="4919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Zho-R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491947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0.5669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89204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4910327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6112" y="5358384"/>
            <a:ext cx="6400800" cy="0"/>
          </a:xfrm>
          <a:prstGeom prst="line">
            <a:avLst/>
          </a:prstGeom>
          <a:ln w="10160">
            <a:solidFill>
              <a:srgbClr val="E9E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546811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033"/>
                </a:solidFill>
                <a:latin typeface="Aptos"/>
              </a:rPr>
              <a:t>Zho-L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5468112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3B5E"/>
                </a:solidFill>
                <a:latin typeface="Aptos"/>
              </a:rPr>
              <a:t>0.4487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94760" y="5440680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545896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B67"/>
                </a:solidFill>
                <a:latin typeface="Noto Sans CJK SC"/>
              </a:rPr>
              <a:t>dev-selected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536192"/>
            <a:ext cx="3703320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18120" y="1536192"/>
            <a:ext cx="73152" cy="1883664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37576" y="1700784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A39A"/>
                </a:solidFill>
                <a:latin typeface="Noto Sans CJK SC"/>
              </a:rPr>
              <a:t>论文可以自信地说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6" y="2103120"/>
            <a:ext cx="3319272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72033"/>
                </a:solidFill>
                <a:latin typeface="Noto Sans CJK SC"/>
              </a:rPr>
              <a:t>• 超过全部官方开发集基线
• 平均 dev cF1 提升显著
• 配方按数据集验证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18120" y="3703320"/>
            <a:ext cx="3703320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18120" y="3703320"/>
            <a:ext cx="73152" cy="1883664"/>
          </a:xfrm>
          <a:prstGeom prst="rect">
            <a:avLst/>
          </a:prstGeom>
          <a:solidFill>
            <a:srgbClr val="D85B66"/>
          </a:solidFill>
          <a:ln>
            <a:solidFill>
              <a:srgbClr val="D8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7576" y="3867911"/>
            <a:ext cx="3319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85B66"/>
                </a:solidFill>
                <a:latin typeface="Noto Sans CJK SC"/>
              </a:rPr>
              <a:t>论文不应说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37576" y="4270248"/>
            <a:ext cx="3319272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72033"/>
                </a:solidFill>
                <a:latin typeface="Noto Sans CJK SC"/>
              </a:rPr>
              <a:t>• “所有数据集全面领先”
• “绝对统治力”
• 将 dev 结果写成 hidden-test 排名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5897880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D6B7E"/>
                </a:solidFill>
                <a:latin typeface="Noto Sans CJK SC"/>
              </a:rPr>
              <a:t>学术表达必须区分 dev 选择、official test 与外部系统。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Historical dev analysis only · current conclusions use the locked official-test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ABLATION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最稳健的最终贡献来自集成；其他收益依赖模型规模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3794760" cy="4507992"/>
          </a:xfrm>
          <a:prstGeom prst="roundRect">
            <a:avLst>
              <a:gd name="adj" fmla="val 10000"/>
            </a:avLst>
          </a:prstGeom>
          <a:solidFill>
            <a:srgbClr val="E6F6F3"/>
          </a:solidFill>
          <a:ln w="12700">
            <a:solidFill>
              <a:srgbClr val="BE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A39A"/>
                </a:solidFill>
                <a:latin typeface="Aptos"/>
              </a:rPr>
              <a:t>5-seed ensemble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3246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4A39A"/>
                </a:solidFill>
                <a:latin typeface="Aptos"/>
              </a:rPr>
              <a:t>+4.76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44952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D6B7E"/>
                </a:solidFill>
                <a:latin typeface="Noto Sans CJK SC"/>
              </a:rPr>
              <a:t>相对五种子单模均值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703320"/>
            <a:ext cx="3182112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14A39A"/>
                </a:solidFill>
                <a:latin typeface="Noto Sans CJK SC"/>
              </a:rPr>
              <a:t>●  </a:t>
            </a:r>
            <a:r>
              <a:rPr sz="1700">
                <a:solidFill>
                  <a:srgbClr val="172033"/>
                </a:solidFill>
                <a:latin typeface="Noto Sans CJK SC"/>
              </a:rPr>
              <a:t>8 个数据集全部提升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14A39A"/>
                </a:solidFill>
                <a:latin typeface="Noto Sans CJK SC"/>
              </a:rPr>
              <a:t>●  </a:t>
            </a:r>
            <a:r>
              <a:rPr sz="1700">
                <a:solidFill>
                  <a:srgbClr val="172033"/>
                </a:solidFill>
                <a:latin typeface="Noto Sans CJK SC"/>
              </a:rPr>
              <a:t>单项增益 +1.43 ～ +7.74 pp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14A39A"/>
                </a:solidFill>
                <a:latin typeface="Noto Sans CJK SC"/>
              </a:rPr>
              <a:t>●  </a:t>
            </a:r>
            <a:r>
              <a:rPr sz="1700">
                <a:solidFill>
                  <a:srgbClr val="172033"/>
                </a:solidFill>
                <a:latin typeface="Noto Sans CJK SC"/>
              </a:rPr>
              <a:t>边界投票 + V–A 均值降低方差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444752"/>
            <a:ext cx="3246120" cy="4507992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solidFill>
              <a:srgbClr val="C7D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755648"/>
            <a:ext cx="2651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6FDB"/>
                </a:solidFill>
                <a:latin typeface="Aptos"/>
              </a:rPr>
              <a:t>Rethink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95728"/>
            <a:ext cx="26883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6FDB"/>
                </a:solidFill>
                <a:latin typeface="Aptos"/>
              </a:rPr>
              <a:t>+11.29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07792"/>
            <a:ext cx="26883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D6B7E"/>
                </a:solidFill>
                <a:latin typeface="Aptos"/>
              </a:rPr>
              <a:t>pp · early 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3419856"/>
            <a:ext cx="2139696" cy="0"/>
          </a:xfrm>
          <a:prstGeom prst="line">
            <a:avLst/>
          </a:prstGeom>
          <a:ln w="12700">
            <a:solidFill>
              <a:srgbClr val="AFC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0" y="3721608"/>
            <a:ext cx="26883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F6FDB"/>
                </a:solidFill>
                <a:latin typeface="Aptos"/>
              </a:rPr>
              <a:t>+0.36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33672"/>
            <a:ext cx="26883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D6B7E"/>
                </a:solidFill>
                <a:latin typeface="Aptos"/>
              </a:rPr>
              <a:t>pp · large +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001768"/>
            <a:ext cx="2596896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3B5E"/>
                </a:solidFill>
                <a:latin typeface="Noto Sans CJK SC"/>
              </a:rPr>
              <a:t>作用随 encoder/ensemble 变强而衰减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444752"/>
            <a:ext cx="3383280" cy="4507992"/>
          </a:xfrm>
          <a:prstGeom prst="roundRect">
            <a:avLst>
              <a:gd name="adj" fmla="val 10000"/>
            </a:avLst>
          </a:prstGeom>
          <a:solidFill>
            <a:srgbClr val="FFF2DE"/>
          </a:solidFill>
          <a:ln w="12700">
            <a:solidFill>
              <a:srgbClr val="F1D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755648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D9B40"/>
                </a:solidFill>
                <a:latin typeface="Aptos"/>
              </a:rPr>
              <a:t>Native 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514600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Japanese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2514600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E9B67"/>
                </a:solidFill>
                <a:latin typeface="Aptos"/>
              </a:rPr>
              <a:t>+5.04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26440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Chinese-L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3264408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E9B67"/>
                </a:solidFill>
                <a:latin typeface="Aptos"/>
              </a:rPr>
              <a:t>+5.83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4014215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Russian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4014215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85B66"/>
                </a:solidFill>
                <a:latin typeface="Aptos"/>
              </a:rPr>
              <a:t>−1.15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5029200"/>
            <a:ext cx="2743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B5E"/>
                </a:solidFill>
                <a:latin typeface="Aptos"/>
              </a:rPr>
              <a:t>结论：language-specific ≠ automatically better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6153912"/>
            <a:ext cx="10222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73B5E"/>
                </a:solidFill>
                <a:latin typeface="Noto Sans CJK SC"/>
              </a:rPr>
              <a:t>论文主线应强调“验证驱动”，而不是把所有组件都包装成普适增益。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Ablations: paper §6.1–6.3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NEGATIVE RESULTS &amp;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失败实验说明了什么？剩余瓶颈在哪里？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389888"/>
            <a:ext cx="5074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85B66"/>
                </a:solidFill>
                <a:latin typeface="Noto Sans CJK SC"/>
              </a:rPr>
              <a:t>没有奏效的方案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10512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D85B66"/>
                </a:solidFill>
                <a:latin typeface="Noto Sans CJK SC"/>
              </a:rPr>
              <a:t>CRF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4767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0.6278 → 0.6249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47672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额外转移参数可能过拟合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43200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D85B66"/>
                </a:solidFill>
                <a:latin typeface="Noto Sans CJK SC"/>
              </a:rPr>
              <a:t>COMET 过筛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88036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0.3565 → 0.3418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高阈值造成有效样本不足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75887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13048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D85B66"/>
                </a:solidFill>
                <a:latin typeface="Noto Sans CJK SC"/>
              </a:rPr>
              <a:t>跨编码器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3813048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0.3962 → 0.3721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13048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候选不一致引入噪声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608576"/>
            <a:ext cx="519379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745736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D85B66"/>
                </a:solidFill>
                <a:latin typeface="Noto Sans CJK SC"/>
              </a:rPr>
              <a:t>加权投票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4745736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0.5008 → 0.4901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45736"/>
            <a:ext cx="1965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D6B7E"/>
                </a:solidFill>
                <a:latin typeface="Noto Sans CJK SC"/>
              </a:rPr>
              <a:t>置信度并非可靠质量代理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1389888"/>
            <a:ext cx="5120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6FDB"/>
                </a:solidFill>
                <a:latin typeface="Noto Sans CJK SC"/>
              </a:rPr>
              <a:t>仍然存在的四类误差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182880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1828800"/>
            <a:ext cx="73152" cy="1280160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99339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F6FDB"/>
                </a:solidFill>
                <a:latin typeface="Noto Sans CJK SC"/>
              </a:rPr>
              <a:t>边界错误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395728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Noto Sans CJK SC"/>
              </a:rPr>
              <a:t>日语与笔记本短语容易过扩张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82880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1828800"/>
            <a:ext cx="73152" cy="1280160"/>
          </a:xfrm>
          <a:prstGeom prst="rect">
            <a:avLst/>
          </a:prstGeom>
          <a:solidFill>
            <a:srgbClr val="7A63C5"/>
          </a:solidFill>
          <a:ln>
            <a:solidFill>
              <a:srgbClr val="7A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99339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7A63C5"/>
                </a:solidFill>
                <a:latin typeface="Noto Sans CJK SC"/>
              </a:rPr>
              <a:t>类别混淆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395728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Noto Sans CJK SC"/>
              </a:rPr>
              <a:t>实体-属性标签多，类别易混淆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33756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3337560"/>
            <a:ext cx="73152" cy="1280160"/>
          </a:xfrm>
          <a:prstGeom prst="rect">
            <a:avLst/>
          </a:prstGeom>
          <a:solidFill>
            <a:srgbClr val="ED9B40"/>
          </a:solidFill>
          <a:ln>
            <a:solidFill>
              <a:srgbClr val="ED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50215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D9B40"/>
                </a:solidFill>
                <a:latin typeface="Noto Sans CJK SC"/>
              </a:rPr>
              <a:t>低资源漏检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904487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Noto Sans CJK SC"/>
              </a:rPr>
              <a:t>俄/鞑/乌仍有较多漏检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3337560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3337560"/>
            <a:ext cx="73152" cy="1280160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3502152"/>
            <a:ext cx="20391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A39A"/>
                </a:solidFill>
                <a:latin typeface="Noto Sans CJK SC"/>
              </a:rPr>
              <a:t>V–A 收缩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3904487"/>
            <a:ext cx="2039112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72033"/>
                </a:solidFill>
                <a:latin typeface="Noto Sans CJK SC"/>
              </a:rPr>
              <a:t>极端情绪回归向中心收缩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5029200"/>
            <a:ext cx="5212080" cy="1024128"/>
          </a:xfrm>
          <a:prstGeom prst="roundRect">
            <a:avLst>
              <a:gd name="adj" fmla="val 10000"/>
            </a:avLst>
          </a:prstGeom>
          <a:solidFill>
            <a:srgbClr val="FCEAEC"/>
          </a:solidFill>
          <a:ln w="12700">
            <a:solidFill>
              <a:srgbClr val="F3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239512"/>
            <a:ext cx="480060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033"/>
                </a:solidFill>
                <a:latin typeface="Noto Sans CJK SC"/>
              </a:rPr>
              <a:t>局限：最终系统是 dataset-specific mixture；本 deck 仅报告 V20 dev 选择；增强依赖近似精确的 span 对齐。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Negative results, error analysis and limitations: paper §7–§8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BC2E6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oto Sans CJK SC"/>
              </a:rPr>
              <a:t>三句话带走 LEADER-DimASQP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47088"/>
            <a:ext cx="3456432" cy="2633472"/>
          </a:xfrm>
          <a:prstGeom prst="roundRect">
            <a:avLst>
              <a:gd name="adj" fmla="val 10000"/>
            </a:avLst>
          </a:prstGeom>
          <a:solidFill>
            <a:srgbClr val="244A70"/>
          </a:solidFill>
          <a:ln w="12700">
            <a:solidFill>
              <a:srgbClr val="3B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084831"/>
            <a:ext cx="548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6FD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96896"/>
            <a:ext cx="2971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Noto Sans CJK SC"/>
              </a:rPr>
              <a:t>先解决结构稳定性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236976"/>
            <a:ext cx="2971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DCE8F5"/>
                </a:solidFill>
                <a:latin typeface="Noto Sans CJK SC"/>
              </a:rPr>
              <a:t>Rethink + Hungarian matching 建立可靠的抽取与回归底座。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47088"/>
            <a:ext cx="3456432" cy="2633472"/>
          </a:xfrm>
          <a:prstGeom prst="roundRect">
            <a:avLst>
              <a:gd name="adj" fmla="val 10000"/>
            </a:avLst>
          </a:prstGeom>
          <a:solidFill>
            <a:srgbClr val="244A70"/>
          </a:solidFill>
          <a:ln w="12700">
            <a:solidFill>
              <a:srgbClr val="3B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084831"/>
            <a:ext cx="548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A39A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596896"/>
            <a:ext cx="2971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Noto Sans CJK SC"/>
              </a:rPr>
              <a:t>再按语言做选择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3236976"/>
            <a:ext cx="2971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DCE8F5"/>
                </a:solidFill>
                <a:latin typeface="Noto Sans CJK SC"/>
              </a:rPr>
              <a:t>分词、预训练、增强与阈值需要逐数据集验证，没有统一最优配方。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847088"/>
            <a:ext cx="3456432" cy="2633472"/>
          </a:xfrm>
          <a:prstGeom prst="roundRect">
            <a:avLst>
              <a:gd name="adj" fmla="val 10000"/>
            </a:avLst>
          </a:prstGeom>
          <a:solidFill>
            <a:srgbClr val="244A70"/>
          </a:solidFill>
          <a:ln w="12700">
            <a:solidFill>
              <a:srgbClr val="3B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2084831"/>
            <a:ext cx="548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9B4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596896"/>
            <a:ext cx="2971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Noto Sans CJK SC"/>
              </a:rPr>
              <a:t>最后用集成降方差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3236976"/>
            <a:ext cx="29718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DCE8F5"/>
                </a:solidFill>
                <a:latin typeface="Noto Sans CJK SC"/>
              </a:rPr>
              <a:t>五种子集成平均 +4.76 pp，是最终系统最稳健的增益来源。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70D7CD"/>
                </a:solidFill>
                <a:latin typeface="Aptos"/>
              </a:rPr>
              <a:t>0.5008 mean dev cF1  ·  +11.46 pp vs the official Llama development 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5623560"/>
            <a:ext cx="7589520" cy="0"/>
          </a:xfrm>
          <a:prstGeom prst="line">
            <a:avLst/>
          </a:prstGeom>
          <a:ln w="15240">
            <a:solidFill>
              <a:srgbClr val="3B6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5916168"/>
            <a:ext cx="10881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Noto Sans CJK SC"/>
              </a:rPr>
              <a:t>谢谢 ·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6FDB"/>
                </a:solidFill>
                <a:latin typeface="Aptos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33"/>
                </a:solidFill>
                <a:latin typeface="Noto Sans CJK SC"/>
              </a:rPr>
              <a:t>主要参考文献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524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256032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6B7E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08176"/>
            <a:ext cx="73152" cy="310896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71600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[1] Lee et al. (2026). DimABSA: Building multilingual and multidomain datasets for dimensional ABSA. arXiv:2601.23022.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66543"/>
            <a:ext cx="73152" cy="310896"/>
          </a:xfrm>
          <a:prstGeom prst="rect">
            <a:avLst/>
          </a:prstGeom>
          <a:solidFill>
            <a:srgbClr val="2F6FDB"/>
          </a:solidFill>
          <a:ln>
            <a:solidFill>
              <a:srgbClr val="2F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7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72033"/>
                </a:solidFill>
                <a:latin typeface="Aptos"/>
              </a:rPr>
              <a:t>[2] Yu et al. (2026). SemEval-2026 Task 3: Dimensional aspect-based sentiment analysis. arXiv:2604.07066.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24912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88336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[3] Carion et al. (2020). End-to-end object detection with transformers. ECCV.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46704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[4] He et al. (2023). DeBERTaV3. ICLR.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41648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05072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[5] Kuhn (1955). The Hungarian method for the assignment problem.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00016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[6] Sennrich et al. (2016). Improving NMT with monolingual data. ACL.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58384"/>
            <a:ext cx="73152" cy="310896"/>
          </a:xfrm>
          <a:prstGeom prst="rect">
            <a:avLst/>
          </a:prstGeom>
          <a:solidFill>
            <a:srgbClr val="14A39A"/>
          </a:solidFill>
          <a:ln>
            <a:solidFill>
              <a:srgbClr val="14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21808"/>
            <a:ext cx="10469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72033"/>
                </a:solidFill>
                <a:latin typeface="Aptos"/>
              </a:rPr>
              <a:t>[7] Rei et al. (2022). COMET-22 / COMETKiwi. WMT.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45352"/>
            <a:ext cx="10469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D6B7E"/>
                </a:solidFill>
                <a:latin typeface="Noto Sans CJK SC"/>
              </a:rPr>
              <a:t>完整方法、消融、误差分析与局限请见 paper_iconip_current.tex。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6539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7E"/>
                </a:solidFill>
                <a:latin typeface="Aptos"/>
              </a:rPr>
              <a:t>LEADER-DimASQP · paper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LEADER-DimASQP Paper Presentation (Revised)</dc:title>
  <dc:subject>Large-font, presentation-first paper talk</dc:subject>
  <dc:creator>Hongzhen Qin et al.</dc:creator>
  <cp:keywords/>
  <dc:description>Generated from docs/paper_iconip_current.tex and project experiment records.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