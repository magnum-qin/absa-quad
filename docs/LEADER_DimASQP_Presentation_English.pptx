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6583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BC2E6"/>
                </a:solidFill>
                <a:latin typeface="Aptos"/>
              </a:rPr>
              <a:t>SEMEVAL-2026 TASK 3 · TRACK A SUBTASK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53312"/>
            <a:ext cx="10789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ptos"/>
              </a:rPr>
              <a:t>LEADER-DimASQP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176272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DCE8F5"/>
                </a:solidFill>
                <a:latin typeface="Aptos"/>
              </a:rPr>
              <a:t>A Language-Specific System for Dimensional ASQP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98755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AFC5DC"/>
                </a:solidFill>
                <a:latin typeface="Aptos"/>
              </a:rPr>
              <a:t>Language-Specific Encoder and Data-Aware Ensemble Refinement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3319272"/>
            <a:ext cx="2130552" cy="0"/>
          </a:xfrm>
          <a:prstGeom prst="line">
            <a:avLst/>
          </a:prstGeom>
          <a:ln w="50800">
            <a:solidFill>
              <a:srgbClr val="14A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3858768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D7CD"/>
                </a:solidFill>
                <a:latin typeface="Aptos"/>
              </a:rPr>
              <a:t>CORE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51960"/>
            <a:ext cx="996696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No universal recipe works best for every language: stable ensembling and validated encoder selection determine final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0644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DCE8F5"/>
                </a:solidFill>
                <a:latin typeface="Aptos"/>
              </a:rPr>
              <a:t>Presenters: Hongzhen Qin · Yoshimi Suzuki · Fumiyo Fukumoto · Renjie Zhou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144768"/>
            <a:ext cx="6400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FC5DC"/>
                </a:solidFill>
                <a:latin typeface="Aptos"/>
              </a:rPr>
              <a:t>Hangzhou Dianzi University  ·  University of Yamanashi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TALK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033"/>
                </a:solidFill>
                <a:latin typeface="Aptos"/>
              </a:rPr>
              <a:t>A question-driven story of the paper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2084831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07568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6FDB"/>
                </a:solidFill>
                <a:latin typeface="Aptos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2615184"/>
            <a:ext cx="475488" cy="73152"/>
          </a:xfrm>
          <a:prstGeom prst="rect">
            <a:avLst/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926080"/>
            <a:ext cx="175564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Aptos"/>
              </a:rPr>
              <a:t>What is the task?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767328"/>
            <a:ext cx="1755648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D6B7E"/>
                </a:solidFill>
                <a:latin typeface="Aptos"/>
              </a:rPr>
              <a:t>Structure extraction + continuous affect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6" y="1874519"/>
            <a:ext cx="2084831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07568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63C5"/>
                </a:solidFill>
                <a:latin typeface="Aptos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35808" y="2615184"/>
            <a:ext cx="475488" cy="73152"/>
          </a:xfrm>
          <a:prstGeom prst="rect">
            <a:avLst/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2926080"/>
            <a:ext cx="175564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Aptos"/>
              </a:rPr>
              <a:t>Why is it hard?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767328"/>
            <a:ext cx="1755648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D6B7E"/>
                </a:solidFill>
                <a:latin typeface="Aptos"/>
              </a:rPr>
              <a:t>Exact matching, data imbalance, regression shrinkage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874519"/>
            <a:ext cx="2084831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1" y="207568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A39A"/>
                </a:solidFill>
                <a:latin typeface="Aptos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85231" y="2615184"/>
            <a:ext cx="475488" cy="73152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1" y="2926080"/>
            <a:ext cx="175564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Aptos"/>
              </a:rPr>
              <a:t>How does it work?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3767328"/>
            <a:ext cx="1755648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D6B7E"/>
                </a:solidFill>
                <a:latin typeface="Aptos"/>
              </a:rPr>
              <a:t>Rethink, set matching, per-language recipes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0064" y="1874519"/>
            <a:ext cx="2084831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34656" y="207568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D9B40"/>
                </a:solidFill>
                <a:latin typeface="Aptos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34656" y="2615184"/>
            <a:ext cx="475488" cy="73152"/>
          </a:xfrm>
          <a:prstGeom prst="rect">
            <a:avLst/>
          </a:prstGeom>
          <a:solidFill>
            <a:srgbClr val="ED9B40"/>
          </a:solidFill>
          <a:ln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34656" y="2926080"/>
            <a:ext cx="175564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033"/>
                </a:solidFill>
                <a:latin typeface="Aptos"/>
              </a:rPr>
              <a:t>What is the evidence?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3767328"/>
            <a:ext cx="1755648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D6B7E"/>
                </a:solidFill>
                <a:latin typeface="Aptos"/>
              </a:rPr>
              <a:t>Baselines, per-dataset results, and ablations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19488" y="1874519"/>
            <a:ext cx="2084831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07568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85B66"/>
                </a:solidFill>
                <a:latin typeface="Aptos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615184"/>
            <a:ext cx="475488" cy="73152"/>
          </a:xfrm>
          <a:prstGeom prst="rect">
            <a:avLst/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2926080"/>
            <a:ext cx="175564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Aptos"/>
              </a:rPr>
              <a:t>What remains?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767328"/>
            <a:ext cx="1755648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D6B7E"/>
                </a:solidFill>
                <a:latin typeface="Aptos"/>
              </a:rPr>
              <a:t>Negative results, errors, and limitations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742432"/>
            <a:ext cx="101498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B5E"/>
                </a:solidFill>
                <a:latin typeface="Aptos"/>
              </a:rPr>
              <a:t>Narrative: start from task constraints, motivate each design choice, and then test it with evidence.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LEADER-DimASQP · paper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TASK &amp;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2033"/>
                </a:solidFill>
                <a:latin typeface="Aptos"/>
              </a:rPr>
              <a:t>DimASQP: structure must match before affect distance counts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6FDB"/>
                </a:solidFill>
                <a:latin typeface="Aptos"/>
              </a:rPr>
              <a:t>Illustrative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73936"/>
            <a:ext cx="4709160" cy="914400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2700">
            <a:solidFill>
              <a:srgbClr val="C7D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425196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72033"/>
                </a:solidFill>
                <a:latin typeface="Aptos"/>
              </a:rPr>
              <a:t>“The food was excellent, but the service was cold.”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4572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D6B7E"/>
                </a:solidFill>
                <a:latin typeface="Aptos"/>
              </a:rPr>
              <a:t>Output set: each item is (a, c, o, (V, A))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438144"/>
            <a:ext cx="2267712" cy="1490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438144"/>
            <a:ext cx="73152" cy="1490472"/>
          </a:xfrm>
          <a:prstGeom prst="rect">
            <a:avLst/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602736"/>
            <a:ext cx="188366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6FDB"/>
                </a:solidFill>
                <a:latin typeface="Aptos"/>
              </a:rPr>
              <a:t>Quad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005072"/>
            <a:ext cx="1883664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72033"/>
                </a:solidFill>
                <a:latin typeface="Aptos"/>
              </a:rPr>
              <a:t>a: food
c: FOOD#QUALITY
o: excellent  ·  V–A: 8.2, 6.4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90672" y="3438144"/>
            <a:ext cx="2267712" cy="1490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90672" y="3438144"/>
            <a:ext cx="73152" cy="1490472"/>
          </a:xfrm>
          <a:prstGeom prst="rect">
            <a:avLst/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3602736"/>
            <a:ext cx="188366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63C5"/>
                </a:solidFill>
                <a:latin typeface="Aptos"/>
              </a:rPr>
              <a:t>Quad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4005072"/>
            <a:ext cx="1883664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72033"/>
                </a:solidFill>
                <a:latin typeface="Aptos"/>
              </a:rPr>
              <a:t>a: service
c: SERVICE#GENERAL
o: cold  ·  V–A: 2.8, 4.1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417320"/>
            <a:ext cx="5687568" cy="43525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709928"/>
            <a:ext cx="4937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3B5E"/>
                </a:solidFill>
                <a:latin typeface="Aptos"/>
              </a:rPr>
              <a:t>Two gates in cF1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331720"/>
            <a:ext cx="2468880" cy="310896"/>
          </a:xfrm>
          <a:prstGeom prst="roundRect">
            <a:avLst>
              <a:gd name="adj" fmla="val 10000"/>
            </a:avLst>
          </a:prstGeom>
          <a:solidFill>
            <a:srgbClr val="FCEAEC"/>
          </a:solidFill>
          <a:ln>
            <a:solidFill>
              <a:srgbClr val="FC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350008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85B66"/>
                </a:solidFill>
                <a:latin typeface="Aptos"/>
              </a:rPr>
              <a:t>Gate 1 · categorical exact 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2761488"/>
            <a:ext cx="4800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033"/>
                </a:solidFill>
                <a:latin typeface="Aptos"/>
              </a:rPr>
              <a:t>Aspect + Category + Opinion must match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046720" y="3364992"/>
            <a:ext cx="502920" cy="310896"/>
          </a:xfrm>
          <a:prstGeom prst="rightArrow">
            <a:avLst/>
          </a:prstGeom>
          <a:solidFill>
            <a:srgbClr val="D8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59952" y="2331720"/>
            <a:ext cx="2377440" cy="310896"/>
          </a:xfrm>
          <a:prstGeom prst="roundRect">
            <a:avLst>
              <a:gd name="adj" fmla="val 10000"/>
            </a:avLst>
          </a:prstGeom>
          <a:solidFill>
            <a:srgbClr val="E6F6F3"/>
          </a:solidFill>
          <a:ln>
            <a:solidFill>
              <a:srgbClr val="E6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05672" y="2350008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A39A"/>
                </a:solidFill>
                <a:latin typeface="Aptos"/>
              </a:rPr>
              <a:t>Gate 2 · V–A distance discount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877056"/>
            <a:ext cx="4160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033"/>
                </a:solidFill>
                <a:latin typeface="Aptos"/>
              </a:rPr>
              <a:t>After Gate 1, credit is discounted by V–A distance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544" y="4773168"/>
            <a:ext cx="406908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A39A"/>
                </a:solidFill>
                <a:latin typeface="Aptos"/>
              </a:rPr>
              <a:t>cTP = 1 − distance / Dmax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769864"/>
            <a:ext cx="10652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B5E"/>
                </a:solidFill>
                <a:latin typeface="Aptos"/>
              </a:rPr>
              <a:t>Therefore, a span or category error loses the match; V–A error reduces credit continuously.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Metric definition: paper §3 · example values are illustrative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DATA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2033"/>
                </a:solidFill>
                <a:latin typeface="Aptos"/>
              </a:rPr>
              <a:t>Eight language–domain datasets differ in size and bottlenecks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D6B7E"/>
                </a:solidFill>
                <a:latin typeface="Aptos"/>
              </a:rPr>
              <a:t>Training sentences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Aptos"/>
              </a:rPr>
              <a:t>Zho-R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764792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54480" y="1764792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55648"/>
            <a:ext cx="594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D6B7E"/>
                </a:solidFill>
                <a:latin typeface="Aptos"/>
              </a:rPr>
              <a:t>6,050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76856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Aptos"/>
              </a:rPr>
              <a:t>Eng-L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2258568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54480" y="2258568"/>
            <a:ext cx="2291701" cy="283464"/>
          </a:xfrm>
          <a:prstGeom prst="roundRect">
            <a:avLst>
              <a:gd name="adj" fmla="val 10000"/>
            </a:avLst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249424"/>
            <a:ext cx="594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D6B7E"/>
                </a:solidFill>
                <a:latin typeface="Aptos"/>
              </a:rPr>
              <a:t>4,076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770632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Aptos"/>
              </a:rPr>
              <a:t>Zho-L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2752344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54480" y="2752344"/>
            <a:ext cx="1962226" cy="283464"/>
          </a:xfrm>
          <a:prstGeom prst="roundRect">
            <a:avLst>
              <a:gd name="adj" fmla="val 10000"/>
            </a:avLst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743200"/>
            <a:ext cx="594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D6B7E"/>
                </a:solidFill>
                <a:latin typeface="Aptos"/>
              </a:rPr>
              <a:t>3,490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264408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Aptos"/>
              </a:rPr>
              <a:t>Eng-R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3246120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54480" y="3246120"/>
            <a:ext cx="1284162" cy="283464"/>
          </a:xfrm>
          <a:prstGeom prst="roundRect">
            <a:avLst>
              <a:gd name="adj" fmla="val 10000"/>
            </a:avLst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236976"/>
            <a:ext cx="594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D6B7E"/>
                </a:solidFill>
                <a:latin typeface="Aptos"/>
              </a:rPr>
              <a:t>2,284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758183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Aptos"/>
              </a:rPr>
              <a:t>Jpn-H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4480" y="3739896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554480" y="3739896"/>
            <a:ext cx="899588" cy="283464"/>
          </a:xfrm>
          <a:prstGeom prst="roundRect">
            <a:avLst>
              <a:gd name="adj" fmla="val 10000"/>
            </a:avLst>
          </a:prstGeom>
          <a:solidFill>
            <a:srgbClr val="ED9B40"/>
          </a:solidFill>
          <a:ln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3730752"/>
            <a:ext cx="594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D6B7E"/>
                </a:solidFill>
                <a:latin typeface="Aptos"/>
              </a:rPr>
              <a:t>1,600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251959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Aptos"/>
              </a:rPr>
              <a:t>Rus-R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54480" y="4233672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554480" y="4233672"/>
            <a:ext cx="697180" cy="283464"/>
          </a:xfrm>
          <a:prstGeom prst="roundRect">
            <a:avLst>
              <a:gd name="adj" fmla="val 10000"/>
            </a:avLst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4224528"/>
            <a:ext cx="594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D6B7E"/>
                </a:solidFill>
                <a:latin typeface="Aptos"/>
              </a:rPr>
              <a:t>1,240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745736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Aptos"/>
              </a:rPr>
              <a:t>Tat-R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54480" y="4727448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554480" y="4727448"/>
            <a:ext cx="697180" cy="283464"/>
          </a:xfrm>
          <a:prstGeom prst="roundRect">
            <a:avLst>
              <a:gd name="adj" fmla="val 10000"/>
            </a:avLst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4718304"/>
            <a:ext cx="594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D6B7E"/>
                </a:solidFill>
                <a:latin typeface="Aptos"/>
              </a:rPr>
              <a:t>1,240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239512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Aptos"/>
              </a:rPr>
              <a:t>Ukr-R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54480" y="5221224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554480" y="5221224"/>
            <a:ext cx="697180" cy="283464"/>
          </a:xfrm>
          <a:prstGeom prst="roundRect">
            <a:avLst>
              <a:gd name="adj" fmla="val 10000"/>
            </a:avLst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0" y="5212080"/>
            <a:ext cx="594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D6B7E"/>
                </a:solidFill>
                <a:latin typeface="Aptos"/>
              </a:rPr>
              <a:t>1,240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583387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85B66"/>
                </a:solidFill>
                <a:latin typeface="Aptos"/>
              </a:rPr>
              <a:t>Largest / smallest ≈ 4.9×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0" y="1444752"/>
            <a:ext cx="56235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60720" y="1444752"/>
            <a:ext cx="73152" cy="1280160"/>
          </a:xfrm>
          <a:prstGeom prst="rect">
            <a:avLst/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80176" y="1609344"/>
            <a:ext cx="5239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F6FDB"/>
                </a:solidFill>
                <a:latin typeface="Aptos"/>
              </a:rPr>
              <a:t>Challenge 1 · exact structural matching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0176" y="2011680"/>
            <a:ext cx="5239512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2033"/>
                </a:solidFill>
                <a:latin typeface="Aptos"/>
              </a:rPr>
              <a:t>A 1–2 token shift in an Aspect or Opinion span can invalidate the categorical match.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2907792"/>
            <a:ext cx="56235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60720" y="2907792"/>
            <a:ext cx="73152" cy="1280160"/>
          </a:xfrm>
          <a:prstGeom prst="rect">
            <a:avLst/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0176" y="3072384"/>
            <a:ext cx="5239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7A63C5"/>
                </a:solidFill>
                <a:latin typeface="Aptos"/>
              </a:rPr>
              <a:t>Challenge 2 · low-resource variation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0176" y="3474720"/>
            <a:ext cx="5239512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2033"/>
                </a:solidFill>
                <a:latin typeface="Aptos"/>
              </a:rPr>
              <a:t>Training size ranges from 1,240 to 6,050; tokenization, morphology, and label distributions differ.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60720" y="4370832"/>
            <a:ext cx="56235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60720" y="4370832"/>
            <a:ext cx="73152" cy="1280160"/>
          </a:xfrm>
          <a:prstGeom prst="rect">
            <a:avLst/>
          </a:prstGeom>
          <a:solidFill>
            <a:srgbClr val="ED9B40"/>
          </a:solidFill>
          <a:ln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80176" y="4535424"/>
            <a:ext cx="5239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ED9B40"/>
                </a:solidFill>
                <a:latin typeface="Aptos"/>
              </a:rPr>
              <a:t>Challenge 3 · V–A centralization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0176" y="4937760"/>
            <a:ext cx="5239512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2033"/>
                </a:solidFill>
                <a:latin typeface="Aptos"/>
              </a:rPr>
              <a:t>Point regression tends to shrink toward neutral values, weakening separation at the extremes.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Dataset sizes: paper Table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2033"/>
                </a:solidFill>
                <a:latin typeface="Aptos"/>
              </a:rPr>
              <a:t>LEADER-DimASQP = stable base + per-dataset selection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05</a:t>
            </a:r>
          </a:p>
        </p:txBody>
      </p:sp>
      <p:pic>
        <p:nvPicPr>
          <p:cNvPr id="6" name="Picture 5" descr="leader_pipeline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353312"/>
            <a:ext cx="7452360" cy="42437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444752"/>
            <a:ext cx="3310128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75320" y="1444752"/>
            <a:ext cx="73152" cy="1572768"/>
          </a:xfrm>
          <a:prstGeom prst="rect">
            <a:avLst/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94776" y="1609344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F6FDB"/>
                </a:solidFill>
                <a:latin typeface="Aptos"/>
              </a:rPr>
              <a:t>A. Architecture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94776" y="2011680"/>
            <a:ext cx="2926080" cy="877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72033"/>
                </a:solidFill>
                <a:latin typeface="Aptos"/>
              </a:rPr>
              <a:t>Draft predictions → feed structural/V–A cues into token states → refine; train quad sets with Hungarian matching.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191256"/>
            <a:ext cx="3310128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3191256"/>
            <a:ext cx="73152" cy="1353312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4776" y="3355848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4A39A"/>
                </a:solidFill>
                <a:latin typeface="Aptos"/>
              </a:rPr>
              <a:t>B. Data and transfer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94776" y="3758184"/>
            <a:ext cx="29260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72033"/>
                </a:solidFill>
                <a:latin typeface="Aptos"/>
              </a:rPr>
              <a:t>Keep BT, paraphrasing, COMET filtering, and warm starts only where dev results support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4727448"/>
            <a:ext cx="3310128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4727448"/>
            <a:ext cx="73152" cy="1353312"/>
          </a:xfrm>
          <a:prstGeom prst="rect">
            <a:avLst/>
          </a:prstGeom>
          <a:solidFill>
            <a:srgbClr val="ED9B40"/>
          </a:solidFill>
          <a:ln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4776" y="4892040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D9B40"/>
                </a:solidFill>
                <a:latin typeface="Aptos"/>
              </a:rPr>
              <a:t>C. Selection &amp;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5294376"/>
            <a:ext cx="29260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72033"/>
                </a:solidFill>
                <a:latin typeface="Aptos"/>
              </a:rPr>
              <a:t>Select encoders and thresholds by dev cF1; use five-seed voting and top-k decoding for stability.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Architecture figure: paper Figure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033"/>
                </a:solidFill>
                <a:latin typeface="Aptos"/>
              </a:rPr>
              <a:t>Two structural designs: Rethink feedback and set-level matching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440680" cy="4434840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2700">
            <a:solidFill>
              <a:srgbClr val="C7D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91640"/>
            <a:ext cx="47548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6FDB"/>
                </a:solidFill>
                <a:latin typeface="Aptos"/>
              </a:rPr>
              <a:t>1 · Lightweight Rethink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95728"/>
            <a:ext cx="1078992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F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98755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033"/>
                </a:solidFill>
                <a:latin typeface="Aptos"/>
              </a:rPr>
              <a:t>Token states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29967" y="2615184"/>
            <a:ext cx="219456" cy="182880"/>
          </a:xfrm>
          <a:prstGeom prst="rightArrow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40280" y="2395728"/>
            <a:ext cx="1078992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F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2542032"/>
            <a:ext cx="98755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033"/>
                </a:solidFill>
                <a:latin typeface="Aptos"/>
              </a:rPr>
              <a:t>Draft heads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55848" y="2615184"/>
            <a:ext cx="219456" cy="182880"/>
          </a:xfrm>
          <a:prstGeom prst="rightArrow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2395728"/>
            <a:ext cx="1078992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F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2542032"/>
            <a:ext cx="98755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033"/>
                </a:solidFill>
                <a:latin typeface="Aptos"/>
              </a:rPr>
              <a:t>Cues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681728" y="2615184"/>
            <a:ext cx="219456" cy="182880"/>
          </a:xfrm>
          <a:prstGeom prst="rightArrow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00600" y="2395728"/>
            <a:ext cx="1078992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F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542032"/>
            <a:ext cx="98755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033"/>
                </a:solidFill>
                <a:latin typeface="Aptos"/>
              </a:rPr>
              <a:t>Refined heads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529584"/>
            <a:ext cx="4736592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50">
                <a:solidFill>
                  <a:srgbClr val="2F6FDB"/>
                </a:solidFill>
                <a:latin typeface="Aptos"/>
              </a:rPr>
              <a:t>●  </a:t>
            </a:r>
            <a:r>
              <a:rPr sz="1750">
                <a:solidFill>
                  <a:srgbClr val="172033"/>
                </a:solidFill>
                <a:latin typeface="Aptos"/>
              </a:rPr>
              <a:t>Embed draft BIO, category, pair, and V–A predictions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50">
                <a:solidFill>
                  <a:srgbClr val="2F6FDB"/>
                </a:solidFill>
                <a:latin typeface="Aptos"/>
              </a:rPr>
              <a:t>●  </a:t>
            </a:r>
            <a:r>
              <a:rPr sz="1750">
                <a:solidFill>
                  <a:srgbClr val="172033"/>
                </a:solidFill>
                <a:latin typeface="Aptos"/>
              </a:rPr>
              <a:t>Fuse them with token states, then refine with a second-stage head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1417320"/>
            <a:ext cx="5285232" cy="4434840"/>
          </a:xfrm>
          <a:prstGeom prst="roundRect">
            <a:avLst>
              <a:gd name="adj" fmla="val 10000"/>
            </a:avLst>
          </a:prstGeom>
          <a:solidFill>
            <a:srgbClr val="FFF2DE"/>
          </a:solidFill>
          <a:ln w="12700">
            <a:solidFill>
              <a:srgbClr val="F1D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691640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D9B40"/>
                </a:solidFill>
                <a:latin typeface="Aptos"/>
              </a:rPr>
              <a:t>2 · Hungarian set matching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322576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C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8544" y="2514600"/>
            <a:ext cx="124358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Pred 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2322576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C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0384" y="2450592"/>
            <a:ext cx="1243584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033"/>
                </a:solidFill>
                <a:latin typeface="Aptos"/>
              </a:rPr>
              <a:t>Gold
set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193024" y="2542032"/>
            <a:ext cx="1353312" cy="274320"/>
          </a:xfrm>
          <a:prstGeom prst="rightArrow">
            <a:avLst/>
          </a:prstGeom>
          <a:solidFill>
            <a:srgbClr val="ED9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3383280"/>
            <a:ext cx="4343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033"/>
                </a:solidFill>
                <a:latin typeface="Aptos"/>
              </a:rPr>
              <a:t>Cost = class + span + Huber(V–A)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3977639"/>
            <a:ext cx="45720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50">
                <a:solidFill>
                  <a:srgbClr val="ED9B40"/>
                </a:solidFill>
                <a:latin typeface="Aptos"/>
              </a:rPr>
              <a:t>●  </a:t>
            </a:r>
            <a:r>
              <a:rPr sz="1750">
                <a:solidFill>
                  <a:srgbClr val="172033"/>
                </a:solidFill>
                <a:latin typeface="Aptos"/>
              </a:rPr>
              <a:t>Find the optimal one-to-one assignment at set level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50">
                <a:solidFill>
                  <a:srgbClr val="ED9B40"/>
                </a:solidFill>
                <a:latin typeface="Aptos"/>
              </a:rPr>
              <a:t>●  </a:t>
            </a:r>
            <a:r>
              <a:rPr sz="1750">
                <a:solidFill>
                  <a:srgbClr val="172033"/>
                </a:solidFill>
                <a:latin typeface="Aptos"/>
              </a:rPr>
              <a:t>Reduce instability from candidate order and duplicate pairings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6080760"/>
            <a:ext cx="10222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73B5E"/>
                </a:solidFill>
                <a:latin typeface="Aptos"/>
              </a:rPr>
              <a:t>Training stabilizers: FGM ε=0.1  ·  EMA 0.999  ·  top-3 checkpoints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Method details: paper §4.1–4.3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PER-DATASET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033"/>
                </a:solidFill>
                <a:latin typeface="Aptos"/>
              </a:rPr>
              <a:t>The final system is eight validated configurations—not one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44752"/>
            <a:ext cx="53218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44752"/>
            <a:ext cx="91440" cy="1005840"/>
          </a:xfrm>
          <a:prstGeom prst="rect">
            <a:avLst/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9105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Aptos"/>
              </a:rPr>
              <a:t>Eng-R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1572768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6FDB"/>
                </a:solidFill>
                <a:latin typeface="Aptos"/>
              </a:rPr>
              <a:t>DeBERTa-v3-large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3664" y="1956816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Aptos"/>
              </a:rPr>
              <a:t>Strong extraction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0.6949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44752"/>
            <a:ext cx="53218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44752"/>
            <a:ext cx="91440" cy="1005840"/>
          </a:xfrm>
          <a:prstGeom prst="rect">
            <a:avLst/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59105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Aptos"/>
              </a:rPr>
              <a:t>Eng-L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3216" y="1572768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63C5"/>
                </a:solidFill>
                <a:latin typeface="Aptos"/>
              </a:rPr>
              <a:t>BT dual-layer ensemble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3216" y="1956816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Aptos"/>
              </a:rPr>
              <a:t>Retain validated best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4432" y="1737360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0.3304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633472"/>
            <a:ext cx="53218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633472"/>
            <a:ext cx="91440" cy="1005840"/>
          </a:xfrm>
          <a:prstGeom prst="rect">
            <a:avLst/>
          </a:prstGeom>
          <a:solidFill>
            <a:srgbClr val="ED9B40"/>
          </a:solidFill>
          <a:ln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77977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Aptos"/>
              </a:rPr>
              <a:t>Jpn-H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83664" y="2761488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D9B40"/>
                </a:solidFill>
                <a:latin typeface="Aptos"/>
              </a:rPr>
              <a:t>Japanese DeBERTa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83664" y="3145536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Aptos"/>
              </a:rPr>
              <a:t>MeCab trimming; no para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926079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0.4500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633472"/>
            <a:ext cx="53218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633472"/>
            <a:ext cx="91440" cy="1005840"/>
          </a:xfrm>
          <a:prstGeom prst="rect">
            <a:avLst/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277977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Aptos"/>
              </a:rPr>
              <a:t>Rus-R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2761488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85B66"/>
                </a:solidFill>
                <a:latin typeface="Aptos"/>
              </a:rPr>
              <a:t>XLM-R-large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3216" y="3145536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Aptos"/>
              </a:rPr>
              <a:t>Better than ruRoberta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4432" y="2926079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0.5267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822191"/>
            <a:ext cx="53218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822191"/>
            <a:ext cx="91440" cy="1005840"/>
          </a:xfrm>
          <a:prstGeom prst="rect">
            <a:avLst/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96849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Aptos"/>
              </a:rPr>
              <a:t>Tat-R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83664" y="3950207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85B66"/>
                </a:solidFill>
                <a:latin typeface="Aptos"/>
              </a:rPr>
              <a:t>XLM-R-large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83664" y="4334256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Aptos"/>
              </a:rPr>
              <a:t>No paraphrase retained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114800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0.4821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822191"/>
            <a:ext cx="53218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822191"/>
            <a:ext cx="91440" cy="1005840"/>
          </a:xfrm>
          <a:prstGeom prst="rect">
            <a:avLst/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37376" y="396849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Aptos"/>
              </a:rPr>
              <a:t>Ukr-R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3216" y="3950207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63C5"/>
                </a:solidFill>
                <a:latin typeface="Aptos"/>
              </a:rPr>
              <a:t>mDeBERTa-base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3216" y="4334256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Aptos"/>
              </a:rPr>
              <a:t>BT + paraphrase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14432" y="4114800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0.5068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010912"/>
            <a:ext cx="53218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515721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Aptos"/>
              </a:rPr>
              <a:t>Zho-R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83664" y="5138928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A39A"/>
                </a:solidFill>
                <a:latin typeface="Aptos"/>
              </a:rPr>
              <a:t>validated source model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83664" y="5522976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Aptos"/>
              </a:rPr>
              <a:t>Five-seed ensemble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5303520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0.5669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5010912"/>
            <a:ext cx="53218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5010912"/>
            <a:ext cx="91440" cy="1005840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37376" y="515721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Aptos"/>
              </a:rPr>
              <a:t>Zho-L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43216" y="5138928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A39A"/>
                </a:solidFill>
                <a:latin typeface="Aptos"/>
              </a:rPr>
              <a:t>Chinese RoBERTa-large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43216" y="5522976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Aptos"/>
              </a:rPr>
              <a:t>top-k = 0.10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14432" y="5303520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0.4487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1560" y="6291072"/>
            <a:ext cx="10104120" cy="73152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" y="5897880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B5E"/>
                </a:solidFill>
                <a:latin typeface="Aptos"/>
              </a:rPr>
              <a:t>Principle: language-specific ≠ automatically better; validate every choice by dev cF1.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Best validated per-dataset configuration · hidden-test labels not used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DATA-AWARE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2033"/>
                </a:solidFill>
                <a:latin typeface="Aptos"/>
              </a:rPr>
              <a:t>Augmentation quality interacts with model capacity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166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6FDB"/>
                </a:solidFill>
                <a:latin typeface="Aptos"/>
              </a:rPr>
              <a:t>Japanese paraphrase + COMET (mDeBERTa stage)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5001768"/>
            <a:ext cx="4983480" cy="0"/>
          </a:xfrm>
          <a:prstGeom prst="line">
            <a:avLst/>
          </a:prstGeom>
          <a:ln w="15240">
            <a:solidFill>
              <a:srgbClr val="5D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1248" y="1938528"/>
            <a:ext cx="0" cy="3063240"/>
          </a:xfrm>
          <a:prstGeom prst="line">
            <a:avLst/>
          </a:prstGeom>
          <a:ln w="15240">
            <a:solidFill>
              <a:srgbClr val="5D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426464" y="4106962"/>
            <a:ext cx="146304" cy="146304"/>
          </a:xfrm>
          <a:prstGeom prst="roundRect">
            <a:avLst>
              <a:gd name="adj" fmla="val 10000"/>
            </a:avLst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768634"/>
            <a:ext cx="7680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Aptos"/>
              </a:rPr>
              <a:t>0.3317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5111496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D6B7E"/>
                </a:solidFill>
                <a:latin typeface="Aptos"/>
              </a:rPr>
              <a:t>0.92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6624" y="2761488"/>
            <a:ext cx="146304" cy="146304"/>
          </a:xfrm>
          <a:prstGeom prst="roundRect">
            <a:avLst>
              <a:gd name="adj" fmla="val 10000"/>
            </a:avLst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2423160"/>
            <a:ext cx="7680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Aptos"/>
              </a:rPr>
              <a:t>0.3523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4016" y="5111496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D6B7E"/>
                </a:solidFill>
                <a:latin typeface="Aptos"/>
              </a:rPr>
              <a:t>0.95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86783" y="2487168"/>
            <a:ext cx="146304" cy="146304"/>
          </a:xfrm>
          <a:prstGeom prst="roundRect">
            <a:avLst>
              <a:gd name="adj" fmla="val 10000"/>
            </a:avLst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148840"/>
            <a:ext cx="7680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Aptos"/>
              </a:rPr>
              <a:t>0.3565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5" y="5111496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D6B7E"/>
                </a:solidFill>
                <a:latin typeface="Aptos"/>
              </a:rPr>
              <a:t>0.96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66944" y="3447288"/>
            <a:ext cx="146304" cy="146304"/>
          </a:xfrm>
          <a:prstGeom prst="roundRect">
            <a:avLst>
              <a:gd name="adj" fmla="val 10000"/>
            </a:avLst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3108960"/>
            <a:ext cx="7680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Aptos"/>
              </a:rPr>
              <a:t>0.3418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4336" y="5111496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D6B7E"/>
                </a:solidFill>
                <a:latin typeface="Aptos"/>
              </a:rPr>
              <a:t>0.965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499616" y="2834640"/>
            <a:ext cx="1280160" cy="1345474"/>
          </a:xfrm>
          <a:prstGeom prst="line">
            <a:avLst/>
          </a:prstGeom>
          <a:ln w="27940">
            <a:solidFill>
              <a:srgbClr val="14A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779776" y="2560320"/>
            <a:ext cx="1280159" cy="274320"/>
          </a:xfrm>
          <a:prstGeom prst="line">
            <a:avLst/>
          </a:prstGeom>
          <a:ln w="27940">
            <a:solidFill>
              <a:srgbClr val="14A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59935" y="2560320"/>
            <a:ext cx="1280161" cy="960120"/>
          </a:xfrm>
          <a:prstGeom prst="line">
            <a:avLst/>
          </a:prstGeom>
          <a:ln w="27940">
            <a:solidFill>
              <a:srgbClr val="14A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67712" y="54406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D6B7E"/>
                </a:solidFill>
                <a:latin typeface="Aptos"/>
              </a:rPr>
              <a:t>COMET threshold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39312" y="1737360"/>
            <a:ext cx="987552" cy="310896"/>
          </a:xfrm>
          <a:prstGeom prst="roundRect">
            <a:avLst>
              <a:gd name="adj" fmla="val 10000"/>
            </a:avLst>
          </a:prstGeom>
          <a:solidFill>
            <a:srgbClr val="E6F6F3"/>
          </a:solidFill>
          <a:ln>
            <a:solidFill>
              <a:srgbClr val="E6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85032" y="1755648"/>
            <a:ext cx="8961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A39A"/>
                </a:solidFill>
                <a:latin typeface="Aptos"/>
              </a:rPr>
              <a:t>sweet spot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1481328"/>
            <a:ext cx="5074920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1481328"/>
            <a:ext cx="73152" cy="1353312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5976" y="1645920"/>
            <a:ext cx="46908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4A39A"/>
                </a:solidFill>
                <a:latin typeface="Aptos"/>
              </a:rPr>
              <a:t>Finding 1 · inverted-U effect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5976" y="2048256"/>
            <a:ext cx="469087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2033"/>
                </a:solidFill>
                <a:latin typeface="Aptos"/>
              </a:rPr>
              <a:t>At this stage, 0.96 is optimal; raising the threshold to 0.965 removes too much data and causes underfitting.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3054096"/>
            <a:ext cx="5074920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3054096"/>
            <a:ext cx="73152" cy="1353312"/>
          </a:xfrm>
          <a:prstGeom prst="rect">
            <a:avLst/>
          </a:prstGeom>
          <a:solidFill>
            <a:srgbClr val="ED9B40"/>
          </a:solidFill>
          <a:ln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65976" y="3218688"/>
            <a:ext cx="46908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D9B40"/>
                </a:solidFill>
                <a:latin typeface="Aptos"/>
              </a:rPr>
              <a:t>Finding 2 · model-specific recipes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5976" y="3621024"/>
            <a:ext cx="469087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2033"/>
                </a:solidFill>
                <a:latin typeface="Aptos"/>
              </a:rPr>
              <a:t>With Japanese DeBERTa and five-seed voting, no paraphrase is better: 0.4500 vs 0.4466.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4626864"/>
            <a:ext cx="5074920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46520" y="4626864"/>
            <a:ext cx="73152" cy="1353312"/>
          </a:xfrm>
          <a:prstGeom prst="rect">
            <a:avLst/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65976" y="4791455"/>
            <a:ext cx="46908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A63C5"/>
                </a:solidFill>
                <a:latin typeface="Aptos"/>
              </a:rPr>
              <a:t>Finding 3 · validate transfer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5976" y="5193792"/>
            <a:ext cx="469087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72033"/>
                </a:solidFill>
                <a:latin typeface="Aptos"/>
              </a:rPr>
              <a:t>Cross-lingual warm starts help early low-resource settings; the final Russian/Tatar systems use XLM-R-large, while Ukrainian keeps BT + paraphrase.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COMET ablation: paper §6.4 · final Japanese recipe uses no paraphrase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MAIN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2033"/>
                </a:solidFill>
                <a:latin typeface="Aptos"/>
              </a:rPr>
              <a:t>Mean dev cF1 = 0.5008, well above the official baselines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23317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033"/>
                </a:solidFill>
                <a:latin typeface="Aptos"/>
              </a:rPr>
              <a:t>LEADER-DimASQP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62656" y="1572768"/>
            <a:ext cx="5897880" cy="36576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62656" y="1572768"/>
            <a:ext cx="5370287" cy="365760"/>
          </a:xfrm>
          <a:prstGeom prst="roundRect">
            <a:avLst>
              <a:gd name="adj" fmla="val 10000"/>
            </a:avLst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7968" y="1563624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A39A"/>
                </a:solidFill>
                <a:latin typeface="Aptos"/>
              </a:rPr>
              <a:t>0.5008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13432"/>
            <a:ext cx="23317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72033"/>
                </a:solidFill>
                <a:latin typeface="Aptos"/>
              </a:rPr>
              <a:t>Shared-task average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2267712"/>
            <a:ext cx="5897880" cy="36576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62656" y="2267712"/>
            <a:ext cx="4349418" cy="365760"/>
          </a:xfrm>
          <a:prstGeom prst="roundRect">
            <a:avLst>
              <a:gd name="adj" fmla="val 10000"/>
            </a:avLst>
          </a:prstGeom>
          <a:solidFill>
            <a:srgbClr val="5D6B7E"/>
          </a:solidFill>
          <a:ln>
            <a:solidFill>
              <a:srgbClr val="5D6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7968" y="2258568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5D6B7E"/>
                </a:solidFill>
                <a:latin typeface="Aptos"/>
              </a:rPr>
              <a:t>0.4056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08376"/>
            <a:ext cx="23317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72033"/>
                </a:solidFill>
                <a:latin typeface="Aptos"/>
              </a:rPr>
              <a:t>Llama-3.3 70B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62656" y="2962656"/>
            <a:ext cx="5897880" cy="36576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62656" y="2962656"/>
            <a:ext cx="4141384" cy="365760"/>
          </a:xfrm>
          <a:prstGeom prst="roundRect">
            <a:avLst>
              <a:gd name="adj" fmla="val 10000"/>
            </a:avLst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8" y="2953512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F6FDB"/>
                </a:solidFill>
                <a:latin typeface="Aptos"/>
              </a:rPr>
              <a:t>0.3862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03320"/>
            <a:ext cx="23317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72033"/>
                </a:solidFill>
                <a:latin typeface="Aptos"/>
              </a:rPr>
              <a:t>GPT-OSS 120B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62656" y="3657600"/>
            <a:ext cx="5897880" cy="36576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62656" y="3657600"/>
            <a:ext cx="3996617" cy="365760"/>
          </a:xfrm>
          <a:prstGeom prst="roundRect">
            <a:avLst>
              <a:gd name="adj" fmla="val 10000"/>
            </a:avLst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8" y="3648456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7A63C5"/>
                </a:solidFill>
                <a:latin typeface="Aptos"/>
              </a:rPr>
              <a:t>0.3727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398264"/>
            <a:ext cx="23317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72033"/>
                </a:solidFill>
                <a:latin typeface="Aptos"/>
              </a:rPr>
              <a:t>Kimi K2 0-shot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62656" y="4352544"/>
            <a:ext cx="5897880" cy="36576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62656" y="4352544"/>
            <a:ext cx="2725892" cy="365760"/>
          </a:xfrm>
          <a:prstGeom prst="roundRect">
            <a:avLst>
              <a:gd name="adj" fmla="val 10000"/>
            </a:avLst>
          </a:prstGeom>
          <a:solidFill>
            <a:srgbClr val="ED9B40"/>
          </a:solidFill>
          <a:ln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8" y="4343400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D9B40"/>
                </a:solidFill>
                <a:latin typeface="Aptos"/>
              </a:rPr>
              <a:t>0.2542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093207"/>
            <a:ext cx="23317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72033"/>
                </a:solidFill>
                <a:latin typeface="Aptos"/>
              </a:rPr>
              <a:t>GPT-5 mini 0-shot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62656" y="5047488"/>
            <a:ext cx="5897880" cy="36576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962656" y="5047488"/>
            <a:ext cx="2417058" cy="365760"/>
          </a:xfrm>
          <a:prstGeom prst="roundRect">
            <a:avLst>
              <a:gd name="adj" fmla="val 10000"/>
            </a:avLst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7968" y="5038344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D85B66"/>
                </a:solidFill>
                <a:latin typeface="Aptos"/>
              </a:rPr>
              <a:t>0.2254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38944" y="1554480"/>
            <a:ext cx="1719072" cy="1298448"/>
          </a:xfrm>
          <a:prstGeom prst="roundRect">
            <a:avLst>
              <a:gd name="adj" fmla="val 10000"/>
            </a:avLst>
          </a:prstGeom>
          <a:solidFill>
            <a:srgbClr val="E6F6F3"/>
          </a:solidFill>
          <a:ln w="12700"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8672" y="1792224"/>
            <a:ext cx="14996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4A39A"/>
                </a:solidFill>
                <a:latin typeface="Aptos"/>
              </a:rPr>
              <a:t>+11.46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48672" y="2286000"/>
            <a:ext cx="14996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D6B7E"/>
                </a:solidFill>
                <a:latin typeface="Aptos"/>
              </a:rPr>
              <a:t>pp vs Llama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38944" y="3127248"/>
            <a:ext cx="1719072" cy="1298448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2700"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48672" y="3364992"/>
            <a:ext cx="14996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6FDB"/>
                </a:solidFill>
                <a:latin typeface="Aptos"/>
              </a:rPr>
              <a:t>+9.52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2" y="3858768"/>
            <a:ext cx="14996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D6B7E"/>
                </a:solidFill>
                <a:latin typeface="Aptos"/>
              </a:rPr>
              <a:t>pp vs task avg.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4700016"/>
            <a:ext cx="1719072" cy="1298448"/>
          </a:xfrm>
          <a:prstGeom prst="roundRect">
            <a:avLst>
              <a:gd name="adj" fmla="val 10000"/>
            </a:avLst>
          </a:prstGeom>
          <a:solidFill>
            <a:srgbClr val="FFF2DE"/>
          </a:solidFill>
          <a:ln w="12700"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48672" y="4937760"/>
            <a:ext cx="14996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D9B40"/>
                </a:solidFill>
                <a:latin typeface="Aptos"/>
              </a:rPr>
              <a:t>8 /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48672" y="5404104"/>
            <a:ext cx="14996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D6B7E"/>
                </a:solidFill>
                <a:latin typeface="Aptos"/>
              </a:rPr>
              <a:t>beats official
best baseline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Development-set comparison · official baselines from DimABSA paper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PER-DATASET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033"/>
                </a:solidFill>
                <a:latin typeface="Aptos"/>
              </a:rPr>
              <a:t>Gains are uneven: three reported tops, but four remaining gaps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417320"/>
            <a:ext cx="6858000" cy="4800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Eng-R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0.6949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600200"/>
            <a:ext cx="2514600" cy="310896"/>
          </a:xfrm>
          <a:prstGeom prst="roundRect">
            <a:avLst>
              <a:gd name="adj" fmla="val 10000"/>
            </a:avLst>
          </a:prstGeom>
          <a:solidFill>
            <a:srgbClr val="E8F5ED"/>
          </a:solidFill>
          <a:ln>
            <a:solidFill>
              <a:srgbClr val="E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618488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B67"/>
                </a:solidFill>
                <a:latin typeface="Aptos"/>
              </a:rPr>
              <a:t>strong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6112" y="2066543"/>
            <a:ext cx="6400800" cy="0"/>
          </a:xfrm>
          <a:prstGeom prst="line">
            <a:avLst/>
          </a:prstGeom>
          <a:ln w="10160">
            <a:solidFill>
              <a:srgbClr val="E9E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32688" y="217627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Eng-L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176272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0.3304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148840"/>
            <a:ext cx="2514600" cy="310896"/>
          </a:xfrm>
          <a:prstGeom prst="roundRect">
            <a:avLst>
              <a:gd name="adj" fmla="val 10000"/>
            </a:avLst>
          </a:prstGeom>
          <a:solidFill>
            <a:srgbClr val="FCEAEC"/>
          </a:solidFill>
          <a:ln>
            <a:solidFill>
              <a:srgbClr val="FC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167128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85B66"/>
                </a:solidFill>
                <a:latin typeface="Aptos"/>
              </a:rPr>
              <a:t>below reported best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6112" y="2615184"/>
            <a:ext cx="6400800" cy="0"/>
          </a:xfrm>
          <a:prstGeom prst="line">
            <a:avLst/>
          </a:prstGeom>
          <a:ln w="10160">
            <a:solidFill>
              <a:srgbClr val="E9E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272491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Jpn-H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724912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0.4500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2697480"/>
            <a:ext cx="2514600" cy="310896"/>
          </a:xfrm>
          <a:prstGeom prst="roundRect">
            <a:avLst>
              <a:gd name="adj" fmla="val 10000"/>
            </a:avLst>
          </a:prstGeom>
          <a:solidFill>
            <a:srgbClr val="E8F5ED"/>
          </a:solidFill>
          <a:ln>
            <a:solidFill>
              <a:srgbClr val="E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2715768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B67"/>
                </a:solidFill>
                <a:latin typeface="Aptos"/>
              </a:rPr>
              <a:t>reported top ↑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6112" y="3163824"/>
            <a:ext cx="6400800" cy="0"/>
          </a:xfrm>
          <a:prstGeom prst="line">
            <a:avLst/>
          </a:prstGeom>
          <a:ln w="10160">
            <a:solidFill>
              <a:srgbClr val="E9E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32688" y="327355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Rus-R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273552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0.5267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3246120"/>
            <a:ext cx="2514600" cy="310896"/>
          </a:xfrm>
          <a:prstGeom prst="roundRect">
            <a:avLst>
              <a:gd name="adj" fmla="val 10000"/>
            </a:avLst>
          </a:prstGeom>
          <a:solidFill>
            <a:srgbClr val="FCEAEC"/>
          </a:solidFill>
          <a:ln>
            <a:solidFill>
              <a:srgbClr val="FC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3264408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85B66"/>
                </a:solidFill>
                <a:latin typeface="Aptos"/>
              </a:rPr>
              <a:t>below reported best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6112" y="3712463"/>
            <a:ext cx="6400800" cy="0"/>
          </a:xfrm>
          <a:prstGeom prst="line">
            <a:avLst/>
          </a:prstGeom>
          <a:ln w="10160">
            <a:solidFill>
              <a:srgbClr val="E9E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32688" y="3822191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Tat-R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3822191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0.4821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94760" y="3794759"/>
            <a:ext cx="2514600" cy="310896"/>
          </a:xfrm>
          <a:prstGeom prst="roundRect">
            <a:avLst>
              <a:gd name="adj" fmla="val 10000"/>
            </a:avLst>
          </a:prstGeom>
          <a:solidFill>
            <a:srgbClr val="E8F5ED"/>
          </a:solidFill>
          <a:ln>
            <a:solidFill>
              <a:srgbClr val="E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3813047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B67"/>
                </a:solidFill>
                <a:latin typeface="Aptos"/>
              </a:rPr>
              <a:t>reported top ↑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96112" y="4261104"/>
            <a:ext cx="6400800" cy="0"/>
          </a:xfrm>
          <a:prstGeom prst="line">
            <a:avLst/>
          </a:prstGeom>
          <a:ln w="10160">
            <a:solidFill>
              <a:srgbClr val="E9E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32688" y="437083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Ukr-R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4370832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0.5068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4760" y="4343400"/>
            <a:ext cx="2514600" cy="310896"/>
          </a:xfrm>
          <a:prstGeom prst="roundRect">
            <a:avLst>
              <a:gd name="adj" fmla="val 10000"/>
            </a:avLst>
          </a:prstGeom>
          <a:solidFill>
            <a:srgbClr val="FCEAEC"/>
          </a:solidFill>
          <a:ln>
            <a:solidFill>
              <a:srgbClr val="FC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4361688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85B66"/>
                </a:solidFill>
                <a:latin typeface="Aptos"/>
              </a:rPr>
              <a:t>below reported best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6112" y="4809744"/>
            <a:ext cx="6400800" cy="0"/>
          </a:xfrm>
          <a:prstGeom prst="line">
            <a:avLst/>
          </a:prstGeom>
          <a:ln w="10160">
            <a:solidFill>
              <a:srgbClr val="E9E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2688" y="491947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Zho-R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4919472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0.5669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94760" y="4892040"/>
            <a:ext cx="2514600" cy="310896"/>
          </a:xfrm>
          <a:prstGeom prst="roundRect">
            <a:avLst>
              <a:gd name="adj" fmla="val 10000"/>
            </a:avLst>
          </a:prstGeom>
          <a:solidFill>
            <a:srgbClr val="E8F5ED"/>
          </a:solidFill>
          <a:ln>
            <a:solidFill>
              <a:srgbClr val="E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0" y="4910327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B67"/>
                </a:solidFill>
                <a:latin typeface="Aptos"/>
              </a:rPr>
              <a:t>reported top ↑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96112" y="5358384"/>
            <a:ext cx="6400800" cy="0"/>
          </a:xfrm>
          <a:prstGeom prst="line">
            <a:avLst/>
          </a:prstGeom>
          <a:ln w="10160">
            <a:solidFill>
              <a:srgbClr val="E9E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32688" y="546811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Zho-L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5468112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0.4487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794760" y="5440680"/>
            <a:ext cx="2514600" cy="310896"/>
          </a:xfrm>
          <a:prstGeom prst="roundRect">
            <a:avLst>
              <a:gd name="adj" fmla="val 10000"/>
            </a:avLst>
          </a:prstGeom>
          <a:solidFill>
            <a:srgbClr val="FCEAEC"/>
          </a:solidFill>
          <a:ln>
            <a:solidFill>
              <a:srgbClr val="FC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0" y="5458968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85B66"/>
                </a:solidFill>
                <a:latin typeface="Aptos"/>
              </a:rPr>
              <a:t>below reported best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8120" y="1536192"/>
            <a:ext cx="3703320" cy="18836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18120" y="1536192"/>
            <a:ext cx="73152" cy="1883664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37576" y="1700784"/>
            <a:ext cx="3319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4A39A"/>
                </a:solidFill>
                <a:latin typeface="Aptos"/>
              </a:rPr>
              <a:t>What the paper can claim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37576" y="2103120"/>
            <a:ext cx="3319272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72033"/>
                </a:solidFill>
                <a:latin typeface="Aptos"/>
              </a:rPr>
              <a:t>• Beats all official dev baselines
• +11.46 pp vs Llama mean
• Reported tops: Jpn / Tat / Zho-R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18120" y="3703320"/>
            <a:ext cx="3703320" cy="18836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18120" y="3703320"/>
            <a:ext cx="73152" cy="1883664"/>
          </a:xfrm>
          <a:prstGeom prst="rect">
            <a:avLst/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37576" y="3867911"/>
            <a:ext cx="3319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D85B66"/>
                </a:solidFill>
                <a:latin typeface="Aptos"/>
              </a:rPr>
              <a:t>Unsupported claims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37576" y="4270248"/>
            <a:ext cx="3319272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72033"/>
                </a:solidFill>
                <a:latin typeface="Aptos"/>
              </a:rPr>
              <a:t>• ‘Best on every dataset’
• ‘Absolute dominance’
• Hidden-test rank from dev scores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45552" y="5897880"/>
            <a:ext cx="3657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D6B7E"/>
                </a:solidFill>
                <a:latin typeface="Aptos"/>
              </a:rPr>
              <a:t>Keep official baselines, reported systems, and hidden-test results distinct.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External scores are reference comparisons, not hidden-test claims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ABLATION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033"/>
                </a:solidFill>
                <a:latin typeface="Aptos"/>
              </a:rPr>
              <a:t>Ensembling is the most robust final gain; other effects depend on scale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44752"/>
            <a:ext cx="3794760" cy="4507992"/>
          </a:xfrm>
          <a:prstGeom prst="roundRect">
            <a:avLst>
              <a:gd name="adj" fmla="val 10000"/>
            </a:avLst>
          </a:prstGeom>
          <a:solidFill>
            <a:srgbClr val="E6F6F3"/>
          </a:solidFill>
          <a:ln w="12700">
            <a:solidFill>
              <a:srgbClr val="BE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55648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4A39A"/>
                </a:solidFill>
                <a:latin typeface="Aptos"/>
              </a:rPr>
              <a:t>5-seed ensemble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32461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14A39A"/>
                </a:solidFill>
                <a:latin typeface="Aptos"/>
              </a:rPr>
              <a:t>+4.76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44952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D6B7E"/>
                </a:solidFill>
                <a:latin typeface="Aptos"/>
              </a:rPr>
              <a:t>versus the five-seed single-model mean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703320"/>
            <a:ext cx="3182112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14A39A"/>
                </a:solidFill>
                <a:latin typeface="Aptos"/>
              </a:rPr>
              <a:t>●  </a:t>
            </a:r>
            <a:r>
              <a:rPr sz="1500">
                <a:solidFill>
                  <a:srgbClr val="172033"/>
                </a:solidFill>
                <a:latin typeface="Aptos"/>
              </a:rPr>
              <a:t>Improves all eight datasets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14A39A"/>
                </a:solidFill>
                <a:latin typeface="Aptos"/>
              </a:rPr>
              <a:t>●  </a:t>
            </a:r>
            <a:r>
              <a:rPr sz="1500">
                <a:solidFill>
                  <a:srgbClr val="172033"/>
                </a:solidFill>
                <a:latin typeface="Aptos"/>
              </a:rPr>
              <a:t>Per-dataset gain: +1.43 to +7.74 pp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14A39A"/>
                </a:solidFill>
                <a:latin typeface="Aptos"/>
              </a:rPr>
              <a:t>●  </a:t>
            </a:r>
            <a:r>
              <a:rPr sz="1500">
                <a:solidFill>
                  <a:srgbClr val="172033"/>
                </a:solidFill>
                <a:latin typeface="Aptos"/>
              </a:rPr>
              <a:t>Boundary voting + V–A averaging reduce variance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1728" y="1444752"/>
            <a:ext cx="3246120" cy="4507992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2700">
            <a:solidFill>
              <a:srgbClr val="C7D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1755648"/>
            <a:ext cx="2651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F6FDB"/>
                </a:solidFill>
                <a:latin typeface="Aptos"/>
              </a:rPr>
              <a:t>Rethink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395728"/>
            <a:ext cx="268833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F6FDB"/>
                </a:solidFill>
                <a:latin typeface="Aptos"/>
              </a:rPr>
              <a:t>+11.29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907792"/>
            <a:ext cx="26883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D6B7E"/>
                </a:solidFill>
                <a:latin typeface="Aptos"/>
              </a:rPr>
              <a:t>pp · early base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30368" y="3419856"/>
            <a:ext cx="2139696" cy="0"/>
          </a:xfrm>
          <a:prstGeom prst="line">
            <a:avLst/>
          </a:prstGeom>
          <a:ln w="12700">
            <a:solidFill>
              <a:srgbClr val="AFC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37760" y="3721608"/>
            <a:ext cx="268833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F6FDB"/>
                </a:solidFill>
                <a:latin typeface="Aptos"/>
              </a:rPr>
              <a:t>+0.36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233672"/>
            <a:ext cx="26883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D6B7E"/>
                </a:solidFill>
                <a:latin typeface="Aptos"/>
              </a:rPr>
              <a:t>pp · large + 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5001768"/>
            <a:ext cx="2596896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3B5E"/>
                </a:solidFill>
                <a:latin typeface="Aptos"/>
              </a:rPr>
              <a:t>The gain shrinks with stronger encoders and ensembles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6448" y="1444752"/>
            <a:ext cx="3383280" cy="4507992"/>
          </a:xfrm>
          <a:prstGeom prst="roundRect">
            <a:avLst>
              <a:gd name="adj" fmla="val 10000"/>
            </a:avLst>
          </a:prstGeom>
          <a:solidFill>
            <a:srgbClr val="FFF2DE"/>
          </a:solidFill>
          <a:ln w="12700">
            <a:solidFill>
              <a:srgbClr val="F1D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1755648"/>
            <a:ext cx="2834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D9B40"/>
                </a:solidFill>
                <a:latin typeface="Aptos"/>
              </a:rPr>
              <a:t>Native encoder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514600"/>
            <a:ext cx="1417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Japanese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6688" y="2514600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E9B67"/>
                </a:solidFill>
                <a:latin typeface="Aptos"/>
              </a:rPr>
              <a:t>+5.04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3264408"/>
            <a:ext cx="1417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Chinese-L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6688" y="3264408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E9B67"/>
                </a:solidFill>
                <a:latin typeface="Aptos"/>
              </a:rPr>
              <a:t>+5.83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4014215"/>
            <a:ext cx="1417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Russian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6688" y="4014215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D85B66"/>
                </a:solidFill>
                <a:latin typeface="Aptos"/>
              </a:rPr>
              <a:t>−1.15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5029200"/>
            <a:ext cx="27432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B5E"/>
                </a:solidFill>
                <a:latin typeface="Aptos"/>
              </a:rPr>
              <a:t>Conclusion: language-specific ≠ automatically better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6153912"/>
            <a:ext cx="102229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B5E"/>
                </a:solidFill>
                <a:latin typeface="Aptos"/>
              </a:rPr>
              <a:t>The paper should emphasize validation-driven selection—not present every component as a universal gain.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Ablations: paper §6.1–6.3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NEGATIVE RESULTS &amp;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033"/>
                </a:solidFill>
                <a:latin typeface="Aptos"/>
              </a:rPr>
              <a:t>What do failed experiments teach us, and what bottlenecks remain?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389888"/>
            <a:ext cx="5074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85B66"/>
                </a:solidFill>
                <a:latin typeface="Aptos"/>
              </a:rPr>
              <a:t>What did not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810512"/>
            <a:ext cx="519379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1097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D85B66"/>
                </a:solidFill>
                <a:latin typeface="Aptos"/>
              </a:rPr>
              <a:t>CRF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1947672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0.6278 → 0.6249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47672"/>
            <a:ext cx="19659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D6B7E"/>
                </a:solidFill>
                <a:latin typeface="Aptos"/>
              </a:rPr>
              <a:t>Extra transition parameters may overfit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743200"/>
            <a:ext cx="519379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80360"/>
            <a:ext cx="1097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5B66"/>
                </a:solidFill>
                <a:latin typeface="Aptos"/>
              </a:rPr>
              <a:t>COMET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8256" y="2880360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0.3565 → 0.3418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80360"/>
            <a:ext cx="19659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D6B7E"/>
                </a:solidFill>
                <a:latin typeface="Aptos"/>
              </a:rPr>
              <a:t>A high threshold removes useful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675887"/>
            <a:ext cx="519379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813048"/>
            <a:ext cx="1097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5B66"/>
                </a:solidFill>
                <a:latin typeface="Aptos"/>
              </a:rPr>
              <a:t>X-encoder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3813048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0.3962 → 0.3721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813048"/>
            <a:ext cx="19659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D6B7E"/>
                </a:solidFill>
                <a:latin typeface="Aptos"/>
              </a:rPr>
              <a:t>Inconsistent candidates introduce noise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608576"/>
            <a:ext cx="519379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745736"/>
            <a:ext cx="1097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5B66"/>
                </a:solidFill>
                <a:latin typeface="Aptos"/>
              </a:rPr>
              <a:t>Weighted vote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8256" y="4745736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0.5008 → 0.4901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745736"/>
            <a:ext cx="19659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D6B7E"/>
                </a:solidFill>
                <a:latin typeface="Aptos"/>
              </a:rPr>
              <a:t>Confidence is not a reliable quality proxy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1389888"/>
            <a:ext cx="5120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6FDB"/>
                </a:solidFill>
                <a:latin typeface="Aptos"/>
              </a:rPr>
              <a:t>Four remaining error types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1828800"/>
            <a:ext cx="2423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6208" y="1828800"/>
            <a:ext cx="73152" cy="1280160"/>
          </a:xfrm>
          <a:prstGeom prst="rect">
            <a:avLst/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1993392"/>
            <a:ext cx="2039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F6FDB"/>
                </a:solidFill>
                <a:latin typeface="Aptos"/>
              </a:rPr>
              <a:t>Span boundaries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2395728"/>
            <a:ext cx="2039112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72033"/>
                </a:solidFill>
                <a:latin typeface="Aptos"/>
              </a:rPr>
              <a:t>Japanese and laptop spans often over-expand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1828800"/>
            <a:ext cx="2423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69680" y="1828800"/>
            <a:ext cx="73152" cy="1280160"/>
          </a:xfrm>
          <a:prstGeom prst="rect">
            <a:avLst/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1993392"/>
            <a:ext cx="2039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7A63C5"/>
                </a:solidFill>
                <a:latin typeface="Aptos"/>
              </a:rPr>
              <a:t>Category confusion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2395728"/>
            <a:ext cx="2039112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72033"/>
                </a:solidFill>
                <a:latin typeface="Aptos"/>
              </a:rPr>
              <a:t>Large entity–attribute inventories cause confusion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3337560"/>
            <a:ext cx="2423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3337560"/>
            <a:ext cx="73152" cy="1280160"/>
          </a:xfrm>
          <a:prstGeom prst="rect">
            <a:avLst/>
          </a:prstGeom>
          <a:solidFill>
            <a:srgbClr val="ED9B40"/>
          </a:solidFill>
          <a:ln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3502152"/>
            <a:ext cx="2039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D9B40"/>
                </a:solidFill>
                <a:latin typeface="Aptos"/>
              </a:rPr>
              <a:t>Low-resource false negatives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3904487"/>
            <a:ext cx="2039112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72033"/>
                </a:solidFill>
                <a:latin typeface="Aptos"/>
              </a:rPr>
              <a:t>Russian, Tatar, and Ukrainian still miss quads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9680" y="3337560"/>
            <a:ext cx="2423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69680" y="3337560"/>
            <a:ext cx="73152" cy="1280160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89136" y="3502152"/>
            <a:ext cx="2039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A39A"/>
                </a:solidFill>
                <a:latin typeface="Aptos"/>
              </a:rPr>
              <a:t>V–A shrinkage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89136" y="3904487"/>
            <a:ext cx="2039112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72033"/>
                </a:solidFill>
                <a:latin typeface="Aptos"/>
              </a:rPr>
              <a:t>Extreme affect values regress toward the center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6208" y="5029200"/>
            <a:ext cx="5212080" cy="1024128"/>
          </a:xfrm>
          <a:prstGeom prst="roundRect">
            <a:avLst>
              <a:gd name="adj" fmla="val 10000"/>
            </a:avLst>
          </a:prstGeom>
          <a:solidFill>
            <a:srgbClr val="FCEAEC"/>
          </a:solidFill>
          <a:ln w="12700">
            <a:solidFill>
              <a:srgbClr val="F3C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5239512"/>
            <a:ext cx="480060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Aptos"/>
              </a:rPr>
              <a:t>Limitations: the final system is a dataset-specific mixture; comparisons remain dev-based; augmentation relies on near-exact span alignment.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Negative results, error analysis and limitations: paper §7–§8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BC2E6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LEADER-DimASQP in three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47088"/>
            <a:ext cx="3456432" cy="2633472"/>
          </a:xfrm>
          <a:prstGeom prst="roundRect">
            <a:avLst>
              <a:gd name="adj" fmla="val 10000"/>
            </a:avLst>
          </a:prstGeom>
          <a:solidFill>
            <a:srgbClr val="244A70"/>
          </a:solidFill>
          <a:ln w="12700">
            <a:solidFill>
              <a:srgbClr val="3B6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2084831"/>
            <a:ext cx="548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6FDB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596896"/>
            <a:ext cx="29718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Stabilize structure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236976"/>
            <a:ext cx="297180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DCE8F5"/>
                </a:solidFill>
                <a:latin typeface="Aptos"/>
              </a:rPr>
              <a:t>Rethink + Hungarian matching provide a reliable extraction and regression 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47088"/>
            <a:ext cx="3456432" cy="2633472"/>
          </a:xfrm>
          <a:prstGeom prst="roundRect">
            <a:avLst>
              <a:gd name="adj" fmla="val 10000"/>
            </a:avLst>
          </a:prstGeom>
          <a:solidFill>
            <a:srgbClr val="244A70"/>
          </a:solidFill>
          <a:ln w="12700">
            <a:solidFill>
              <a:srgbClr val="3B6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084831"/>
            <a:ext cx="548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A39A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596896"/>
            <a:ext cx="29718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Then select by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3236976"/>
            <a:ext cx="297180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DCE8F5"/>
                </a:solidFill>
                <a:latin typeface="Aptos"/>
              </a:rPr>
              <a:t>Tokenization, pretraining, augmentation, and thresholds require per-dataset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847088"/>
            <a:ext cx="3456432" cy="2633472"/>
          </a:xfrm>
          <a:prstGeom prst="roundRect">
            <a:avLst>
              <a:gd name="adj" fmla="val 10000"/>
            </a:avLst>
          </a:prstGeom>
          <a:solidFill>
            <a:srgbClr val="244A70"/>
          </a:solidFill>
          <a:ln w="12700">
            <a:solidFill>
              <a:srgbClr val="3B6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1624" y="2084831"/>
            <a:ext cx="548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D9B40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4" y="2596896"/>
            <a:ext cx="29718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Finally, reduce variance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624" y="3236976"/>
            <a:ext cx="297180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DCE8F5"/>
                </a:solidFill>
                <a:latin typeface="Aptos"/>
              </a:rPr>
              <a:t>Five-seed ensembling adds +4.76 pp on average—the most robust final gain.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983480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70D7CD"/>
                </a:solidFill>
                <a:latin typeface="Aptos"/>
              </a:rPr>
              <a:t>0.5008 mean dev cF1  ·  +11.46 pp vs Llama-3.3 70B  ·  reported top on Jpn / Tat / Zho-R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04288" y="5623560"/>
            <a:ext cx="7589520" cy="0"/>
          </a:xfrm>
          <a:prstGeom prst="line">
            <a:avLst/>
          </a:prstGeom>
          <a:ln w="15240">
            <a:solidFill>
              <a:srgbClr val="3B62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5916168"/>
            <a:ext cx="10881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Thank you · Questions?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033"/>
                </a:solidFill>
                <a:latin typeface="Aptos"/>
              </a:rPr>
              <a:t>Key references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08176"/>
            <a:ext cx="73152" cy="310896"/>
          </a:xfrm>
          <a:prstGeom prst="rect">
            <a:avLst/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371600"/>
            <a:ext cx="10469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[1] Lee et al. (2026). DimABSA: Building multilingual and multidomain datasets for dimensional ABSA. arXiv:2601.23022.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66543"/>
            <a:ext cx="73152" cy="310896"/>
          </a:xfrm>
          <a:prstGeom prst="rect">
            <a:avLst/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29967"/>
            <a:ext cx="10469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[2] Yu et al. (2026). SemEval-2026 Task 3: Dimensional aspect-based sentiment analysis. arXiv:2604.07066.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24912"/>
            <a:ext cx="73152" cy="310896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88336"/>
            <a:ext cx="10469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72033"/>
                </a:solidFill>
                <a:latin typeface="Aptos"/>
              </a:rPr>
              <a:t>[3] Carion et al. (2020). End-to-end object detection with transformers. ECCV.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73152" cy="310896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46704"/>
            <a:ext cx="10469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72033"/>
                </a:solidFill>
                <a:latin typeface="Aptos"/>
              </a:rPr>
              <a:t>[4] He et al. (2023). DeBERTaV3. ICLR.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41648"/>
            <a:ext cx="73152" cy="310896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05072"/>
            <a:ext cx="10469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72033"/>
                </a:solidFill>
                <a:latin typeface="Aptos"/>
              </a:rPr>
              <a:t>[5] Kuhn (1955). The Hungarian method for the assignment problem.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00016"/>
            <a:ext cx="73152" cy="310896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663440"/>
            <a:ext cx="10469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72033"/>
                </a:solidFill>
                <a:latin typeface="Aptos"/>
              </a:rPr>
              <a:t>[6] Sennrich et al. (2016). Improving NMT with monolingual data. ACL.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358384"/>
            <a:ext cx="73152" cy="310896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321808"/>
            <a:ext cx="10469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72033"/>
                </a:solidFill>
                <a:latin typeface="Aptos"/>
              </a:rPr>
              <a:t>[7] Rei et al. (2022). COMET-22 / COMETKiwi. WMT.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45352"/>
            <a:ext cx="10469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D6B7E"/>
                </a:solidFill>
                <a:latin typeface="Aptos"/>
              </a:rPr>
              <a:t>See paper_iconip_current.tex for the full method, ablations, error analysis, and limitations.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LEADER-DimASQP · paper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LEADER-DimASQP Paper Presentation (English)</dc:title>
  <dc:subject>English paper presentation with large-font projection layout</dc:subject>
  <dc:creator>Hongzhen Qin et al.</dc:creator>
  <cp:keywords/>
  <dc:description>English version generated from the revised presentation master.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