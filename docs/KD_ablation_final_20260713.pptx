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ABSA-QUAD  ·  FINAL KD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20240"/>
            <a:ext cx="11155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4400" b="1" i="0">
                <a:solidFill>
                  <a:srgbClr val="0F172A"/>
                </a:solidFill>
                <a:latin typeface="Segoe UI"/>
              </a:rPr>
              <a:t>What Actually Controls KD Gain?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88920"/>
            <a:ext cx="11155680" cy="5943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  <a:latin typeface="Segoe UI"/>
              </a:rPr>
              <a:t>Teacher × Pool × Quality–Coverage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11880"/>
            <a:ext cx="15544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Segoe UI"/>
              </a:rPr>
              <a:t>Final ablation synthesis · frozen submission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KD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All 8 Datasets, Simplified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1328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136245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517904"/>
            <a:ext cx="117957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TEACHER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17904"/>
            <a:ext cx="305409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SILVER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17904"/>
            <a:ext cx="99669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517904"/>
            <a:ext cx="127101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BEST KD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17904"/>
            <a:ext cx="117957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517904"/>
            <a:ext cx="10881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ADOPTED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1865376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65376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eng_laptop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86537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865376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Real · n=8,578 (Amazon laptop)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65376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0.3254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1865376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0.4141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186537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+8.9pp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8168" y="1865376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340864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D6F2E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340864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rus_restaurant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234086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340864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Generated 4k · cap 3,000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340864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0.5267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340864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0.6162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34086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+9.0pp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88168" y="2340864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2816352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816352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ukr_restaurant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281635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2816352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Translated · n=6,551 (RU→UK)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816352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0.5068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8" y="2816352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0.5560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81635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+4.9pp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68" y="2816352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3291840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291840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zho_restaurant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291840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329184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Real n=5,000 (dianping); Gen n=4,930 (superseded)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3291840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0.4745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968" y="3291840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0.5579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291840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+8.3pp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8168" y="3291840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" y="3767328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3767328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tat_restaurant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3767328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qwen (local)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1568" y="3767328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Generated · n=3,986 (native Tatar)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3767328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0.4821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3767328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0.5327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3767328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+5.1pp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8" y="3767328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4242816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242816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zho_laptop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5688" y="424281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qwen/DeepSeek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4242816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 n=4,923; Real n=1,673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4242816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0.4487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968" y="4242816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0.4454 / 0.4264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62288" y="424281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−0.3~−2.2pp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8168" y="4242816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" y="4718304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4718304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jpn_hotel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5688" y="471830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DeepSeek/qwen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1568" y="4718304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Generated · n=4,756 (no real corpus)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4718304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0.4466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968" y="4718304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0.4281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62288" y="471830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−1.9pp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88168" y="4718304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" y="5193792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193792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eng_restaurant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75688" y="519379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DeepSeek/qwen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01568" y="5193792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 n=4,974; Real n=5,000 (Yelp)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01968" y="5193792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0.6554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968" y="5193792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0.6013 / 0.4190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2288" y="519379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−5.4~−23.6pp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88168" y="5193792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5833871"/>
            <a:ext cx="1115568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Segoe UI"/>
              </a:rPr>
              <a:t>Five datasets adopt KD. Source labels describe the selected arm, not a universal ranking: zho_restaurant prefers real reviews, while rus_restaurant prefers a generated batch.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ABLATION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Size-Matched Pool Source Comparison (rus_restaurant)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8800"/>
            <a:ext cx="1120140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65376"/>
            <a:ext cx="405993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CONTROL /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9" y="1865376"/>
            <a:ext cx="218541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REAL4K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599" y="1865376"/>
            <a:ext cx="218541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TRANSLATED4K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19" y="1865376"/>
            <a:ext cx="218541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GENERATED4K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212848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Pool size (unlabeled 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7" y="221284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7" y="221284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3,466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607" y="221284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779776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779776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DeepSeek-labeled 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7" y="2779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7" y="2779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3,466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7" y="2779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346704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Silver used (cap=3000)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7" y="3346704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7" y="3346704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3346704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3,000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913632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+ gold (fixed)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7" y="3913632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1,240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7" y="3913632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1,240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7" y="3913632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1,240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80560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480560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Final training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7" y="4480560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7" y="4480560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4,240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4480560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4,240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5047488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47488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5-seed ensemble cF1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7" y="504748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0.5586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7" y="504748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0.5761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7" y="504748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0.6162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QUANTITY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Same gen8k Silver: Reducing to 3,000 Does Not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8800"/>
            <a:ext cx="11247119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65376"/>
            <a:ext cx="22311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1" i="0" spc="30">
                <a:solidFill>
                  <a:srgbClr val="64748B"/>
                </a:solidFill>
                <a:latin typeface="Segoe UI"/>
              </a:rPr>
              <a:t>PAIRED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65376"/>
            <a:ext cx="42885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1" i="0" spc="30">
                <a:solidFill>
                  <a:srgbClr val="64748B"/>
                </a:solidFill>
                <a:latin typeface="Segoe UI"/>
              </a:rPr>
              <a:t>FULL GEN8K (7,988)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19" y="1865376"/>
            <a:ext cx="42885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1" i="0" spc="30">
                <a:solidFill>
                  <a:srgbClr val="64748B"/>
                </a:solidFill>
                <a:latin typeface="Segoe UI"/>
              </a:rPr>
              <a:t>CAP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21284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1284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Seed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0.5286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21284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0.5123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99008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9008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Seed 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99008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0.5648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299008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0.5584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76732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6732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Paired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76732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0.5467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376732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0.5353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54456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4456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Δ vs 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454456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454456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−1.14pp (gate failed)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FINAL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Five Conclusions Supported by the Full Ablation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11018520" cy="777240"/>
          </a:xfrm>
          <a:prstGeom prst="roundRect">
            <a:avLst>
              <a:gd name="adj" fmla="val 5000"/>
            </a:avLst>
          </a:prstGeom>
          <a:solidFill>
            <a:srgbClr val="D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48640" cy="530352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08760"/>
            <a:ext cx="548640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1472184"/>
            <a:ext cx="3886200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650" b="1" i="0">
                <a:solidFill>
                  <a:srgbClr val="1D4ED8"/>
                </a:solidFill>
                <a:latin typeface="Segoe UI"/>
              </a:rPr>
              <a:t>Complementarity decides whether KD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6128" y="1481328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20" b="0" i="0">
                <a:solidFill>
                  <a:srgbClr val="334155"/>
                </a:solidFill>
                <a:latin typeface="Segoe UI"/>
              </a:rPr>
              <a:t>Silver must add coverage or priors missing from gold/base.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50008"/>
            <a:ext cx="11018520" cy="7772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468880"/>
            <a:ext cx="548640" cy="530352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548640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432304"/>
            <a:ext cx="3886200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650" b="1" i="0">
                <a:solidFill>
                  <a:srgbClr val="B45A09"/>
                </a:solidFill>
                <a:latin typeface="Segoe UI"/>
              </a:rPr>
              <a:t>Teacher quality is domain-dependent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441448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20" b="0" i="0">
                <a:solidFill>
                  <a:srgbClr val="334155"/>
                </a:solidFill>
                <a:latin typeface="Segoe UI"/>
              </a:rPr>
              <a:t>Qwen is competitive in many domains but collapses on eng_restaurant.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10128"/>
            <a:ext cx="11018520" cy="777240"/>
          </a:xfrm>
          <a:prstGeom prst="roundRect">
            <a:avLst>
              <a:gd name="adj" fmla="val 5000"/>
            </a:avLst>
          </a:prstGeom>
          <a:solidFill>
            <a:srgbClr val="D6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3429000"/>
            <a:ext cx="548640" cy="530352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9000"/>
            <a:ext cx="548640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3392424"/>
            <a:ext cx="3886200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650" b="1" i="0">
                <a:solidFill>
                  <a:srgbClr val="047857"/>
                </a:solidFill>
                <a:latin typeface="Segoe UI"/>
              </a:rPr>
              <a:t>Pool source has no universal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01568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20" b="0" i="0">
                <a:solidFill>
                  <a:srgbClr val="334155"/>
                </a:solidFill>
                <a:latin typeface="Segoe UI"/>
              </a:rPr>
              <a:t>zho: real wins; rus: generated wins under size matching.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70248"/>
            <a:ext cx="11018520" cy="777240"/>
          </a:xfrm>
          <a:prstGeom prst="roundRect">
            <a:avLst>
              <a:gd name="adj" fmla="val 5000"/>
            </a:avLst>
          </a:prstGeom>
          <a:solidFill>
            <a:srgbClr val="FD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4389120"/>
            <a:ext cx="548640" cy="530352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389120"/>
            <a:ext cx="548640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4352544"/>
            <a:ext cx="3886200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650" b="1" i="0">
                <a:solidFill>
                  <a:srgbClr val="DC2626"/>
                </a:solidFill>
                <a:latin typeface="Segoe UI"/>
              </a:rPr>
              <a:t>rus gen4k is a batch-quality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4361688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20" b="0" i="0">
                <a:solidFill>
                  <a:srgbClr val="334155"/>
                </a:solidFill>
                <a:latin typeface="Segoe UI"/>
              </a:rPr>
              <a:t>Same-pool reduction failed; the 4k advantage is not a generic cap effect.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30368"/>
            <a:ext cx="11018520" cy="7772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5349240"/>
            <a:ext cx="548640" cy="530352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49240"/>
            <a:ext cx="548640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5312664"/>
            <a:ext cx="3886200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650" b="1" i="0">
                <a:solidFill>
                  <a:srgbClr val="1E293B"/>
                </a:solidFill>
                <a:latin typeface="Segoe UI"/>
              </a:rPr>
              <a:t>Best silver balances quality and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5321808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20" b="0" i="0">
                <a:solidFill>
                  <a:srgbClr val="334155"/>
                </a:solidFill>
                <a:latin typeface="Segoe UI"/>
              </a:rPr>
              <a:t>More is not automatically better; no universal cap is supported.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